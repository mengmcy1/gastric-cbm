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9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本次汇报围绕SHARP展开，重点不是复述全文，而是说明我对方法、源码和复现进度的理解。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汇总18组真实照片的批量运行结果。网络前向约1.26秒、首次渲染约91秒、CUDA扩展初始化约77.6秒来自此前其他环境，仅作为历史记录，不纳入本次18组批量统计。两次73秒和150秒的预测长尾需要在相同环境中重复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2026/7/22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1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9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1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2026/7/22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84F5D-031D-407D-AD40-B465C5F6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64030"/>
            <a:ext cx="9144000" cy="19596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3100"/>
              <a:t>单张2D图像转浅3D表达</a:t>
            </a:r>
            <a:br/>
            <a:r>
              <a:rPr sz="3100"/>
              <a:t>总体Framework</a:t>
            </a: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A4C882D1-AD97-4CAC-B43F-16F20B4984C1}"/>
              </a:ext>
            </a:extLst>
          </p:cNvPr>
          <p:cNvSpPr>
            <a:spLocks noGrp="1"/>
          </p:cNvSpPr>
          <p:nvPr/>
        </p:nvSpPr>
        <p:spPr>
          <a:xfrm>
            <a:off x="33356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D5AB70-5DCD-4015-851E-F7DB1E8DC31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159760" y="4580255"/>
            <a:ext cx="2531110" cy="438785"/>
          </a:xfrm>
        </p:spPr>
        <p:txBody>
          <a:bodyPr>
            <a:normAutofit fontScale="87115" lnSpcReduction="10000"/>
          </a:bodyPr>
          <a:lstStyle/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汇报人：孟辰洋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BFCFBDB-FEAD-4C32-883A-E5ECB37B1E99}"/>
              </a:ext>
            </a:extLst>
          </p:cNvPr>
          <p:cNvSpPr>
            <a:spLocks noGrp="1"/>
          </p:cNvSpPr>
          <p:nvPr/>
        </p:nvSpPr>
        <p:spPr>
          <a:xfrm>
            <a:off x="63074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文本占位符 6">
            <a:extLst>
              <a:ext uri="{FF2B5EF4-FFF2-40B4-BE49-F238E27FC236}">
                <a16:creationId xmlns:a16="http://schemas.microsoft.com/office/drawing/2014/main" id="{499FF255-4201-41C9-B696-0668C8BEE232}"/>
              </a:ext>
            </a:extLst>
          </p:cNvPr>
          <p:cNvSpPr>
            <a:spLocks noGrp="1"/>
          </p:cNvSpPr>
          <p:nvPr/>
        </p:nvSpPr>
        <p:spPr>
          <a:xfrm>
            <a:off x="6131560" y="4580255"/>
            <a:ext cx="2531110" cy="43878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228600" indent="-228600" algn="ctr">
              <a:lnSpc>
                <a:spcPct val="90000"/>
              </a:lnSpc>
              <a:spcBef>
                <a:spcPts val="1000"/>
              </a:spcBef>
              <a:buChar char="•"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时间：2026.7.22</a:t>
            </a:r>
          </a:p>
        </p:txBody>
      </p:sp>
      <p:sp>
        <p:nvSpPr>
          <p:cNvPr id="21" name="text-1">
            <a:extLst>
              <a:ext uri="{FF2B5EF4-FFF2-40B4-BE49-F238E27FC236}">
                <a16:creationId xmlns:a16="http://schemas.microsoft.com/office/drawing/2014/main" id="{83F630CD-17DD-494A-ACB0-897493689607}"/>
              </a:ext>
            </a:extLst>
          </p:cNvPr>
          <p:cNvSpPr>
            <a:spLocks noGrp="1"/>
          </p:cNvSpPr>
          <p:nvPr/>
        </p:nvSpPr>
        <p:spPr>
          <a:xfrm>
            <a:off x="2095500" y="367665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锚点引导的材质感知自适应软分层框架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ED5BD2-AAA8-4A9C-CEF1-AFA41B5D2BC0}"/>
              </a:ext>
            </a:extLst>
          </p:cNvPr>
          <p:cNvSpPr>
            <a:spLocks noGrp="1"/>
          </p:cNvSpPr>
          <p:nvPr/>
        </p:nvSpPr>
        <p:spPr>
          <a:xfrm>
            <a:off x="9880600" y="952500"/>
            <a:ext cx="1422400" cy="266700"/>
          </a:xfrm>
          <a:prstGeom prst="rect">
            <a:avLst/>
          </a:prstGeom>
          <a:solidFill>
            <a:srgbClr val="C62828"/>
          </a:solidFill>
          <a:ln w="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83F044-281B-EB9E-B7B1-DA738F5DDA05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课题目标与核心挑战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E0358F-92EC-14DF-3D58-B2BB38465181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几何、显露内容和复杂材质必须在移动端约束下同时处理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702FA4-37EE-6F87-677B-94C57663BCE6}"/>
              </a:ext>
            </a:extLst>
          </p:cNvPr>
          <p:cNvSpPr>
            <a:spLocks noGrp="1"/>
          </p:cNvSpPr>
          <p:nvPr/>
        </p:nvSpPr>
        <p:spPr>
          <a:xfrm>
            <a:off x="6858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96145-1BEB-A3E0-4A91-C42B8B732C10}"/>
              </a:ext>
            </a:extLst>
          </p:cNvPr>
          <p:cNvSpPr>
            <a:spLocks noGrp="1"/>
          </p:cNvSpPr>
          <p:nvPr/>
        </p:nvSpPr>
        <p:spPr>
          <a:xfrm>
            <a:off x="7493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≥30°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BE320A-A212-2BFE-A08A-9E28EFFB2F1A}"/>
              </a:ext>
            </a:extLst>
          </p:cNvPr>
          <p:cNvSpPr>
            <a:spLocks noGrp="1"/>
          </p:cNvSpPr>
          <p:nvPr/>
        </p:nvSpPr>
        <p:spPr>
          <a:xfrm>
            <a:off x="7493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相对视角变化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F74E98-318F-DF9A-45A3-878A146242A3}"/>
              </a:ext>
            </a:extLst>
          </p:cNvPr>
          <p:cNvSpPr>
            <a:spLocks noGrp="1"/>
          </p:cNvSpPr>
          <p:nvPr/>
        </p:nvSpPr>
        <p:spPr>
          <a:xfrm>
            <a:off x="34036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A95FFC-4A8C-0EA0-49CE-BAED7A13F9E2}"/>
              </a:ext>
            </a:extLst>
          </p:cNvPr>
          <p:cNvSpPr>
            <a:spLocks noGrp="1"/>
          </p:cNvSpPr>
          <p:nvPr/>
        </p:nvSpPr>
        <p:spPr>
          <a:xfrm>
            <a:off x="34671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DISTS &lt; 0.06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8E8580-CE03-F143-011C-094B4186E022}"/>
              </a:ext>
            </a:extLst>
          </p:cNvPr>
          <p:cNvSpPr>
            <a:spLocks noGrp="1"/>
          </p:cNvSpPr>
          <p:nvPr/>
        </p:nvSpPr>
        <p:spPr>
          <a:xfrm>
            <a:off x="34671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感知质量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484A1-CE13-81B7-4041-D64539469451}"/>
              </a:ext>
            </a:extLst>
          </p:cNvPr>
          <p:cNvSpPr>
            <a:spLocks noGrp="1"/>
          </p:cNvSpPr>
          <p:nvPr/>
        </p:nvSpPr>
        <p:spPr>
          <a:xfrm>
            <a:off x="61214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07E8D5-B8BA-D24C-186C-719AD7F67F63}"/>
              </a:ext>
            </a:extLst>
          </p:cNvPr>
          <p:cNvSpPr>
            <a:spLocks noGrp="1"/>
          </p:cNvSpPr>
          <p:nvPr/>
        </p:nvSpPr>
        <p:spPr>
          <a:xfrm>
            <a:off x="61849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2K &lt; 5 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A5517C-28B2-2713-C100-EC6E2E899A9D}"/>
              </a:ext>
            </a:extLst>
          </p:cNvPr>
          <p:cNvSpPr>
            <a:spLocks noGrp="1"/>
          </p:cNvSpPr>
          <p:nvPr/>
        </p:nvSpPr>
        <p:spPr>
          <a:xfrm>
            <a:off x="61849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生成时间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43D17-550A-82F4-A6B4-20295464D811}"/>
              </a:ext>
            </a:extLst>
          </p:cNvPr>
          <p:cNvSpPr>
            <a:spLocks noGrp="1"/>
          </p:cNvSpPr>
          <p:nvPr/>
        </p:nvSpPr>
        <p:spPr>
          <a:xfrm>
            <a:off x="88392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1FE0C4-3D7C-6278-7646-4214EE2A8B50}"/>
              </a:ext>
            </a:extLst>
          </p:cNvPr>
          <p:cNvSpPr>
            <a:spLocks noGrp="1"/>
          </p:cNvSpPr>
          <p:nvPr/>
        </p:nvSpPr>
        <p:spPr>
          <a:xfrm>
            <a:off x="89027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内存 &lt; 3 GB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F9E3C-A5E8-BEB2-DDB2-9D8AEC8C5DB8}"/>
              </a:ext>
            </a:extLst>
          </p:cNvPr>
          <p:cNvSpPr>
            <a:spLocks noGrp="1"/>
          </p:cNvSpPr>
          <p:nvPr/>
        </p:nvSpPr>
        <p:spPr>
          <a:xfrm>
            <a:off x="89027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运行内存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71BB4-042D-8D9C-F6AD-C817C01BF38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819AB1-4898-A9FA-DCCC-F420DA7C6FD2}"/>
              </a:ext>
            </a:extLst>
          </p:cNvPr>
          <p:cNvSpPr>
            <a:spLocks noGrp="1"/>
          </p:cNvSpPr>
          <p:nvPr/>
        </p:nvSpPr>
        <p:spPr>
          <a:xfrm>
            <a:off x="2336800" y="2565400"/>
            <a:ext cx="1371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细粒度几何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046429-F290-5915-0FB0-444AC6DB563F}"/>
              </a:ext>
            </a:extLst>
          </p:cNvPr>
          <p:cNvSpPr>
            <a:spLocks noGrp="1"/>
          </p:cNvSpPr>
          <p:nvPr/>
        </p:nvSpPr>
        <p:spPr>
          <a:xfrm>
            <a:off x="233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丝线、栏杆与花茎存在前后景混合，单层深度容易错接。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82F1DA-4799-8268-4525-E233474D81EB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60ED70-00FB-B2BD-5588-4A6FBBB955CF}"/>
              </a:ext>
            </a:extLst>
          </p:cNvPr>
          <p:cNvSpPr>
            <a:spLocks noGrp="1"/>
          </p:cNvSpPr>
          <p:nvPr/>
        </p:nvSpPr>
        <p:spPr>
          <a:xfrm>
            <a:off x="6146800" y="2565400"/>
            <a:ext cx="1371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显露内容补全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B09AB2-4008-5CAB-68C4-EB3E60117330}"/>
              </a:ext>
            </a:extLst>
          </p:cNvPr>
          <p:cNvSpPr>
            <a:spLocks noGrp="1"/>
          </p:cNvSpPr>
          <p:nvPr/>
        </p:nvSpPr>
        <p:spPr>
          <a:xfrm>
            <a:off x="614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新视角会看到原图中不存在的区域，不能只做深度重投影。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195FB9-E4E7-E8C4-9104-3B369DE4FA31}"/>
              </a:ext>
            </a:extLst>
          </p:cNvPr>
          <p:cNvSpPr>
            <a:spLocks noGrp="1"/>
          </p:cNvSpPr>
          <p:nvPr/>
        </p:nvSpPr>
        <p:spPr>
          <a:xfrm>
            <a:off x="830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55CD8C-DFE1-BC4A-73BD-2B1E272F8190}"/>
              </a:ext>
            </a:extLst>
          </p:cNvPr>
          <p:cNvSpPr>
            <a:spLocks noGrp="1"/>
          </p:cNvSpPr>
          <p:nvPr/>
        </p:nvSpPr>
        <p:spPr>
          <a:xfrm>
            <a:off x="9956800" y="2565400"/>
            <a:ext cx="1371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复杂材质表达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83439F-3730-F176-F2AE-19DA823B43D6}"/>
              </a:ext>
            </a:extLst>
          </p:cNvPr>
          <p:cNvSpPr>
            <a:spLocks noGrp="1"/>
          </p:cNvSpPr>
          <p:nvPr/>
        </p:nvSpPr>
        <p:spPr>
          <a:xfrm>
            <a:off x="995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透明、反射和光线介质不存在唯一稳定的表面深度。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2C49944-FD48-ABF4-6853-0F53710675DC}"/>
              </a:ext>
            </a:extLst>
          </p:cNvPr>
          <p:cNvSpPr>
            <a:spLocks noGrp="1"/>
          </p:cNvSpPr>
          <p:nvPr/>
        </p:nvSpPr>
        <p:spPr>
          <a:xfrm>
            <a:off x="685800" y="58166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2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方案边界：隐藏区域只能追求视觉合理与跨视角一致，不能声称真实恢复。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2BC26A-CA44-2B6F-1058-2CE5E6AFF803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3CFFD6-F506-C1B8-6289-E0BDAE72C27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66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67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6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81CF5F-36B4-1183-4DC1-5F410C7CF54C}"/>
              </a:ext>
            </a:extLst>
          </p:cNvPr>
          <p:cNvSpPr>
            <a:spLocks noGrp="1"/>
          </p:cNvSpPr>
          <p:nvPr/>
        </p:nvSpPr>
        <p:spPr>
          <a:xfrm>
            <a:off x="9880600" y="965200"/>
            <a:ext cx="1422400" cy="266700"/>
          </a:xfrm>
          <a:prstGeom prst="rect">
            <a:avLst/>
          </a:prstGeom>
          <a:solidFill>
            <a:srgbClr val="C72A2A"/>
          </a:solidFill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待验证目标</a:t>
            </a:r>
          </a:p>
        </p:txBody>
      </p:sp>
    </p:spTree>
    <p:extLst>
      <p:ext uri="{BB962C8B-B14F-4D97-AF65-F5344CB8AC3E}">
        <p14:creationId xmlns:p14="http://schemas.microsoft.com/office/powerpoint/2010/main" val="80305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C9FE12-B5FE-D32A-D29F-E243186B7168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相关工作与能力来源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37108F-9542-E21F-4AD5-51C82B3C6FFC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从方法能力出发组织Framework，而不是拼接五套完整系统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56F51-3288-AB04-C5FC-658C59537071}"/>
              </a:ext>
            </a:extLst>
          </p:cNvPr>
          <p:cNvSpPr>
            <a:spLocks noGrp="1"/>
          </p:cNvSpPr>
          <p:nvPr/>
        </p:nvSpPr>
        <p:spPr>
          <a:xfrm>
            <a:off x="685800" y="1168400"/>
            <a:ext cx="15240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BD93DC-D4D0-1A4F-068D-B10B9E97C466}"/>
              </a:ext>
            </a:extLst>
          </p:cNvPr>
          <p:cNvSpPr>
            <a:spLocks noGrp="1"/>
          </p:cNvSpPr>
          <p:nvPr/>
        </p:nvSpPr>
        <p:spPr>
          <a:xfrm>
            <a:off x="749300" y="11938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2A6182-EA43-481F-0636-E7D56B0F69C5}"/>
              </a:ext>
            </a:extLst>
          </p:cNvPr>
          <p:cNvSpPr>
            <a:spLocks noGrp="1"/>
          </p:cNvSpPr>
          <p:nvPr/>
        </p:nvSpPr>
        <p:spPr>
          <a:xfrm>
            <a:off x="2209800" y="1168400"/>
            <a:ext cx="47498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E99468-4A63-3948-820E-2EA1AFDC86EE}"/>
              </a:ext>
            </a:extLst>
          </p:cNvPr>
          <p:cNvSpPr>
            <a:spLocks noGrp="1"/>
          </p:cNvSpPr>
          <p:nvPr/>
        </p:nvSpPr>
        <p:spPr>
          <a:xfrm>
            <a:off x="2273300" y="11938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提供的能力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32FECB-CB16-8F36-4A70-539CFD79EDFC}"/>
              </a:ext>
            </a:extLst>
          </p:cNvPr>
          <p:cNvSpPr>
            <a:spLocks noGrp="1"/>
          </p:cNvSpPr>
          <p:nvPr/>
        </p:nvSpPr>
        <p:spPr>
          <a:xfrm>
            <a:off x="6959600" y="1168400"/>
            <a:ext cx="45466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9AED9E-DC84-9FC9-6B0E-7DAB5305AA66}"/>
              </a:ext>
            </a:extLst>
          </p:cNvPr>
          <p:cNvSpPr>
            <a:spLocks noGrp="1"/>
          </p:cNvSpPr>
          <p:nvPr/>
        </p:nvSpPr>
        <p:spPr>
          <a:xfrm>
            <a:off x="7023100" y="11938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在本Framework中的位置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182B0D-5DA1-A1CC-4FD2-7E42740F5DC8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AD0D8-22B2-AEFC-9EBE-0C9377CF3615}"/>
              </a:ext>
            </a:extLst>
          </p:cNvPr>
          <p:cNvSpPr>
            <a:spLocks noGrp="1"/>
          </p:cNvSpPr>
          <p:nvPr/>
        </p:nvSpPr>
        <p:spPr>
          <a:xfrm>
            <a:off x="749300" y="15748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NeRF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2867AB-A124-0CEA-F5F5-AC9329693141}"/>
              </a:ext>
            </a:extLst>
          </p:cNvPr>
          <p:cNvSpPr>
            <a:spLocks noGrp="1"/>
          </p:cNvSpPr>
          <p:nvPr/>
        </p:nvSpPr>
        <p:spPr>
          <a:xfrm>
            <a:off x="2209800" y="15494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8C5B74-6230-61EC-8D90-42C06C9B9526}"/>
              </a:ext>
            </a:extLst>
          </p:cNvPr>
          <p:cNvSpPr>
            <a:spLocks noGrp="1"/>
          </p:cNvSpPr>
          <p:nvPr/>
        </p:nvSpPr>
        <p:spPr>
          <a:xfrm>
            <a:off x="2273300" y="1574800"/>
            <a:ext cx="46228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体渲染、Alpha合成、几何与视角相关外观分离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CC3838-E3BB-DB9A-4270-F4BAA6E681AE}"/>
              </a:ext>
            </a:extLst>
          </p:cNvPr>
          <p:cNvSpPr>
            <a:spLocks noGrp="1"/>
          </p:cNvSpPr>
          <p:nvPr/>
        </p:nvSpPr>
        <p:spPr>
          <a:xfrm>
            <a:off x="6959600" y="15494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C2B9E9-90D9-21C9-5FB3-CC6846B54095}"/>
              </a:ext>
            </a:extLst>
          </p:cNvPr>
          <p:cNvSpPr>
            <a:spLocks noGrp="1"/>
          </p:cNvSpPr>
          <p:nvPr/>
        </p:nvSpPr>
        <p:spPr>
          <a:xfrm>
            <a:off x="7023100" y="15748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软分层合成与材质建模的理论基础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591DB-0011-E81F-2DF7-37766B91ECD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5240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A55CAF-CD51-2800-13BE-57D182AA40CE}"/>
              </a:ext>
            </a:extLst>
          </p:cNvPr>
          <p:cNvSpPr>
            <a:spLocks noGrp="1"/>
          </p:cNvSpPr>
          <p:nvPr/>
        </p:nvSpPr>
        <p:spPr>
          <a:xfrm>
            <a:off x="749300" y="23114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3DGS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A769CF-274E-C468-3981-100748DD500A}"/>
              </a:ext>
            </a:extLst>
          </p:cNvPr>
          <p:cNvSpPr>
            <a:spLocks noGrp="1"/>
          </p:cNvSpPr>
          <p:nvPr/>
        </p:nvSpPr>
        <p:spPr>
          <a:xfrm>
            <a:off x="2209800" y="2286000"/>
            <a:ext cx="47498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725BF9-AF64-BD55-F559-2FFC62012477}"/>
              </a:ext>
            </a:extLst>
          </p:cNvPr>
          <p:cNvSpPr>
            <a:spLocks noGrp="1"/>
          </p:cNvSpPr>
          <p:nvPr/>
        </p:nvSpPr>
        <p:spPr>
          <a:xfrm>
            <a:off x="2273300" y="23114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显式表示、快速光栅化、剪枝与实时渲染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F45598-15C7-670F-6927-BA4E760DE903}"/>
              </a:ext>
            </a:extLst>
          </p:cNvPr>
          <p:cNvSpPr>
            <a:spLocks noGrp="1"/>
          </p:cNvSpPr>
          <p:nvPr/>
        </p:nvSpPr>
        <p:spPr>
          <a:xfrm>
            <a:off x="6959600" y="2286000"/>
            <a:ext cx="45466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C4105C-AB67-A184-2367-C3E0A47979A6}"/>
              </a:ext>
            </a:extLst>
          </p:cNvPr>
          <p:cNvSpPr>
            <a:spLocks noGrp="1"/>
          </p:cNvSpPr>
          <p:nvPr/>
        </p:nvSpPr>
        <p:spPr>
          <a:xfrm>
            <a:off x="7023100" y="23114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教师、质量上界和表示对照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CD23ED-6AB8-D254-5EBD-9885CFA54915}"/>
              </a:ext>
            </a:extLst>
          </p:cNvPr>
          <p:cNvSpPr>
            <a:spLocks noGrp="1"/>
          </p:cNvSpPr>
          <p:nvPr/>
        </p:nvSpPr>
        <p:spPr>
          <a:xfrm>
            <a:off x="685800" y="30226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8BD66A-BB2F-CE0B-0ADD-EB6A9AA23831}"/>
              </a:ext>
            </a:extLst>
          </p:cNvPr>
          <p:cNvSpPr>
            <a:spLocks noGrp="1"/>
          </p:cNvSpPr>
          <p:nvPr/>
        </p:nvSpPr>
        <p:spPr>
          <a:xfrm>
            <a:off x="749300" y="3048000"/>
            <a:ext cx="1397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 Photography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D20C64-D670-D08F-81EF-8C5E2B9B2FD5}"/>
              </a:ext>
            </a:extLst>
          </p:cNvPr>
          <p:cNvSpPr>
            <a:spLocks noGrp="1"/>
          </p:cNvSpPr>
          <p:nvPr/>
        </p:nvSpPr>
        <p:spPr>
          <a:xfrm>
            <a:off x="2209800" y="30226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B0E430-4B62-6FCD-2E4E-5944CA34B5C5}"/>
              </a:ext>
            </a:extLst>
          </p:cNvPr>
          <p:cNvSpPr>
            <a:spLocks noGrp="1"/>
          </p:cNvSpPr>
          <p:nvPr/>
        </p:nvSpPr>
        <p:spPr>
          <a:xfrm>
            <a:off x="2273300" y="30480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深度边界处理与RGB-D显露区域补全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C6CD4D-860D-2524-414F-ABD193E5CF04}"/>
              </a:ext>
            </a:extLst>
          </p:cNvPr>
          <p:cNvSpPr>
            <a:spLocks noGrp="1"/>
          </p:cNvSpPr>
          <p:nvPr/>
        </p:nvSpPr>
        <p:spPr>
          <a:xfrm>
            <a:off x="6959600" y="30226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AA7819-652B-4245-A8E2-B7BC6B43A0EC}"/>
              </a:ext>
            </a:extLst>
          </p:cNvPr>
          <p:cNvSpPr>
            <a:spLocks noGrp="1"/>
          </p:cNvSpPr>
          <p:nvPr/>
        </p:nvSpPr>
        <p:spPr>
          <a:xfrm>
            <a:off x="7023100" y="30480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结构优先的联合补全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D7B207-3A3C-FFC5-0C76-6C881C895911}"/>
              </a:ext>
            </a:extLst>
          </p:cNvPr>
          <p:cNvSpPr>
            <a:spLocks noGrp="1"/>
          </p:cNvSpPr>
          <p:nvPr/>
        </p:nvSpPr>
        <p:spPr>
          <a:xfrm>
            <a:off x="685800" y="3759200"/>
            <a:ext cx="15240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AE448-D1AF-DDBE-9EDB-58E8E630F45D}"/>
              </a:ext>
            </a:extLst>
          </p:cNvPr>
          <p:cNvSpPr>
            <a:spLocks noGrp="1"/>
          </p:cNvSpPr>
          <p:nvPr/>
        </p:nvSpPr>
        <p:spPr>
          <a:xfrm>
            <a:off x="749300" y="37846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SLIDE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616163-5D54-0300-96CC-5A1EA32305D3}"/>
              </a:ext>
            </a:extLst>
          </p:cNvPr>
          <p:cNvSpPr>
            <a:spLocks noGrp="1"/>
          </p:cNvSpPr>
          <p:nvPr/>
        </p:nvSpPr>
        <p:spPr>
          <a:xfrm>
            <a:off x="2209800" y="3759200"/>
            <a:ext cx="47498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EB626B-781A-90A5-793D-39C7444EAB50}"/>
              </a:ext>
            </a:extLst>
          </p:cNvPr>
          <p:cNvSpPr>
            <a:spLocks noGrp="1"/>
          </p:cNvSpPr>
          <p:nvPr/>
        </p:nvSpPr>
        <p:spPr>
          <a:xfrm>
            <a:off x="2273300" y="37846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 Layering、Matting与细结构保护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95CBDD-AF44-231D-77B0-287CE0D3A1B4}"/>
              </a:ext>
            </a:extLst>
          </p:cNvPr>
          <p:cNvSpPr>
            <a:spLocks noGrp="1"/>
          </p:cNvSpPr>
          <p:nvPr/>
        </p:nvSpPr>
        <p:spPr>
          <a:xfrm>
            <a:off x="6959600" y="3759200"/>
            <a:ext cx="45466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D005BC-B599-9611-0AE4-011596CB725E}"/>
              </a:ext>
            </a:extLst>
          </p:cNvPr>
          <p:cNvSpPr>
            <a:spLocks noGrp="1"/>
          </p:cNvSpPr>
          <p:nvPr/>
        </p:nvSpPr>
        <p:spPr>
          <a:xfrm>
            <a:off x="7023100" y="37846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硬边界和Soft Alpha结合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E04E11-06F7-ABD3-AA66-BFABAABBD77B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F052D1-8720-8C2F-630F-6B16264DBFE0}"/>
              </a:ext>
            </a:extLst>
          </p:cNvPr>
          <p:cNvSpPr>
            <a:spLocks noGrp="1"/>
          </p:cNvSpPr>
          <p:nvPr/>
        </p:nvSpPr>
        <p:spPr>
          <a:xfrm>
            <a:off x="749300" y="45212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SHARP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E40291-2AAF-D177-6B7C-04A88BFF0E70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1F07FC-F9CE-4820-1287-F7768FC5E007}"/>
              </a:ext>
            </a:extLst>
          </p:cNvPr>
          <p:cNvSpPr>
            <a:spLocks noGrp="1"/>
          </p:cNvSpPr>
          <p:nvPr/>
        </p:nvSpPr>
        <p:spPr>
          <a:xfrm>
            <a:off x="2273300" y="45212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单图前馈几何、双层深度与Base+Delta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7A0D56-DBBC-7A93-0038-4771140E7139}"/>
              </a:ext>
            </a:extLst>
          </p:cNvPr>
          <p:cNvSpPr>
            <a:spLocks noGrp="1"/>
          </p:cNvSpPr>
          <p:nvPr/>
        </p:nvSpPr>
        <p:spPr>
          <a:xfrm>
            <a:off x="6959600" y="44958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C98415F-4E09-949C-AE27-92F7A462A8ED}"/>
              </a:ext>
            </a:extLst>
          </p:cNvPr>
          <p:cNvSpPr>
            <a:spLocks noGrp="1"/>
          </p:cNvSpPr>
          <p:nvPr/>
        </p:nvSpPr>
        <p:spPr>
          <a:xfrm>
            <a:off x="7023100" y="45212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几何骨干、教师信号和复现基线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05C9D20-5410-1AEF-D442-62BC8922330C}"/>
              </a:ext>
            </a:extLst>
          </p:cNvPr>
          <p:cNvSpPr>
            <a:spLocks noGrp="1"/>
          </p:cNvSpPr>
          <p:nvPr/>
        </p:nvSpPr>
        <p:spPr>
          <a:xfrm>
            <a:off x="685800" y="5473700"/>
            <a:ext cx="10820400" cy="6223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110A62-88D6-99F7-7E60-4E93F519CD58}"/>
              </a:ext>
            </a:extLst>
          </p:cNvPr>
          <p:cNvSpPr>
            <a:spLocks noGrp="1"/>
          </p:cNvSpPr>
          <p:nvPr/>
        </p:nvSpPr>
        <p:spPr>
          <a:xfrm>
            <a:off x="914400" y="5626100"/>
            <a:ext cx="10363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路线判断：Soft-LDI作为移动端主表示；SHARP/3DGS提供教师与质量上界。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C38F68-59D0-E3C9-28DA-886A68C5D701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759B643-28D0-AF38-35E8-5553046CBBD6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557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EDC0F1-8081-0A95-C872-3FF3B39C136C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SHARP能力基线与缺口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CE47B-F14D-3F28-7113-F02E9BC655B9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已完成的复现结果与新Framework需要解决的能力缺口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B27E1F-0706-083F-BA4F-A2CA787256BF}"/>
              </a:ext>
            </a:extLst>
          </p:cNvPr>
          <p:cNvSpPr>
            <a:spLocks noGrp="1"/>
          </p:cNvSpPr>
          <p:nvPr/>
        </p:nvSpPr>
        <p:spPr>
          <a:xfrm>
            <a:off x="685800" y="1117568"/>
            <a:ext cx="1092200" cy="2921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07107D-74F8-AF40-4039-66F84DA834BE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101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8BB9E-3357-42A8-17CC-3A2CF24C411B}"/>
              </a:ext>
            </a:extLst>
          </p:cNvPr>
          <p:cNvSpPr>
            <a:spLocks noGrp="1"/>
          </p:cNvSpPr>
          <p:nvPr/>
        </p:nvSpPr>
        <p:spPr>
          <a:xfrm>
            <a:off x="8293100" y="1180499"/>
            <a:ext cx="1092200" cy="292100"/>
          </a:xfrm>
          <a:prstGeom prst="rect">
            <a:avLst/>
          </a:prstGeom>
          <a:solidFill>
            <a:srgbClr val="C62828"/>
          </a:solidFill>
          <a:ln w="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C7C68F-E021-9D53-C1F7-CB980D8F09A9}"/>
              </a:ext>
            </a:extLst>
          </p:cNvPr>
          <p:cNvSpPr>
            <a:spLocks noGrp="1"/>
          </p:cNvSpPr>
          <p:nvPr/>
        </p:nvSpPr>
        <p:spPr>
          <a:xfrm>
            <a:off x="8331200" y="1205931"/>
            <a:ext cx="101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待解决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843837-1B1C-E19F-C212-C0188FFF22A3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763B3-ED89-5629-47F1-748D6CB44EC3}"/>
              </a:ext>
            </a:extLst>
          </p:cNvPr>
          <p:cNvSpPr>
            <a:spLocks noGrp="1"/>
          </p:cNvSpPr>
          <p:nvPr/>
        </p:nvSpPr>
        <p:spPr>
          <a:xfrm>
            <a:off x="7493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18/18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4B7CD8-745E-E70A-C098-8B39BC40C9A0}"/>
              </a:ext>
            </a:extLst>
          </p:cNvPr>
          <p:cNvSpPr>
            <a:spLocks noGrp="1"/>
          </p:cNvSpPr>
          <p:nvPr/>
        </p:nvSpPr>
        <p:spPr>
          <a:xfrm>
            <a:off x="723900" y="1763767"/>
            <a:ext cx="1905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真实照片完成预测与渲染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F94DC5-566F-7392-4F42-1A2E55FC04CB}"/>
              </a:ext>
            </a:extLst>
          </p:cNvPr>
          <p:cNvSpPr>
            <a:spLocks noGrp="1"/>
          </p:cNvSpPr>
          <p:nvPr/>
        </p:nvSpPr>
        <p:spPr>
          <a:xfrm>
            <a:off x="29464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DBBF71-1610-6863-6C4F-E95F5839C20A}"/>
              </a:ext>
            </a:extLst>
          </p:cNvPr>
          <p:cNvSpPr>
            <a:spLocks noGrp="1"/>
          </p:cNvSpPr>
          <p:nvPr/>
        </p:nvSpPr>
        <p:spPr>
          <a:xfrm>
            <a:off x="30099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1,179,648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E1BFF6-52B1-01BA-37CF-C32C06EE719B}"/>
              </a:ext>
            </a:extLst>
          </p:cNvPr>
          <p:cNvSpPr>
            <a:spLocks noGrp="1"/>
          </p:cNvSpPr>
          <p:nvPr/>
        </p:nvSpPr>
        <p:spPr>
          <a:xfrm>
            <a:off x="3009900" y="19431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每图高斯数量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93C791-8E6C-CA21-198F-21B566DBE95F}"/>
              </a:ext>
            </a:extLst>
          </p:cNvPr>
          <p:cNvSpPr>
            <a:spLocks noGrp="1"/>
          </p:cNvSpPr>
          <p:nvPr/>
        </p:nvSpPr>
        <p:spPr>
          <a:xfrm>
            <a:off x="52070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F8867F-D26F-8996-F758-74CC7D7515D9}"/>
              </a:ext>
            </a:extLst>
          </p:cNvPr>
          <p:cNvSpPr>
            <a:spLocks noGrp="1"/>
          </p:cNvSpPr>
          <p:nvPr/>
        </p:nvSpPr>
        <p:spPr>
          <a:xfrm>
            <a:off x="52705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约66 MB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D8761-DA85-4C67-B07F-A1EA80079B18}"/>
              </a:ext>
            </a:extLst>
          </p:cNvPr>
          <p:cNvSpPr>
            <a:spLocks noGrp="1"/>
          </p:cNvSpPr>
          <p:nvPr/>
        </p:nvSpPr>
        <p:spPr>
          <a:xfrm>
            <a:off x="5270500" y="19431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单场景PLY</a:t>
            </a:r>
          </a:p>
        </p:txBody>
      </p:sp>
      <p:pic>
        <p:nvPicPr>
          <p:cNvPr id="52" name="图片 17"/>
          <p:cNvPicPr>
            <a:picLocks noChangeAspect="1"/>
          </p:cNvPicPr>
          <p:nvPr/>
        </p:nvPicPr>
        <p:blipFill>
          <a:blip r:embed="rId3"/>
          <a:srcRect t="12677" b="12677"/>
          <a:stretch>
            <a:fillRect/>
          </a:stretch>
        </p:blipFill>
        <p:spPr>
          <a:xfrm>
            <a:off x="6858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53" name="图片 19"/>
          <p:cNvPicPr>
            <a:picLocks noChangeAspect="1"/>
          </p:cNvPicPr>
          <p:nvPr/>
        </p:nvPicPr>
        <p:blipFill>
          <a:blip r:embed="rId4"/>
          <a:srcRect t="5938" b="5938"/>
          <a:stretch>
            <a:fillRect/>
          </a:stretch>
        </p:blipFill>
        <p:spPr>
          <a:xfrm>
            <a:off x="45085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54" name="图片 21"/>
          <p:cNvPicPr>
            <a:picLocks noChangeAspect="1"/>
          </p:cNvPicPr>
          <p:nvPr/>
        </p:nvPicPr>
        <p:blipFill>
          <a:blip r:embed="rId5"/>
          <a:srcRect t="5938" b="5938"/>
          <a:stretch>
            <a:fillRect/>
          </a:stretch>
        </p:blipFill>
        <p:spPr>
          <a:xfrm>
            <a:off x="83312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09AA1B0-89C5-DA0E-D3BE-E7E44F0DA8E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12643D-38EA-5A7D-A670-F7CE122B1C93}"/>
              </a:ext>
            </a:extLst>
          </p:cNvPr>
          <p:cNvSpPr>
            <a:spLocks noGrp="1"/>
          </p:cNvSpPr>
          <p:nvPr/>
        </p:nvSpPr>
        <p:spPr>
          <a:xfrm>
            <a:off x="45085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附近新视角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90EC98D-5A5A-2C66-49B7-94DA150F6E25}"/>
              </a:ext>
            </a:extLst>
          </p:cNvPr>
          <p:cNvSpPr>
            <a:spLocks noGrp="1"/>
          </p:cNvSpPr>
          <p:nvPr/>
        </p:nvSpPr>
        <p:spPr>
          <a:xfrm>
            <a:off x="83312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遮挡交界局部拖影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F4DCBB-C89F-1A71-8F57-9507E7B9A815}"/>
              </a:ext>
            </a:extLst>
          </p:cNvPr>
          <p:cNvSpPr>
            <a:spLocks noGrp="1"/>
          </p:cNvSpPr>
          <p:nvPr/>
        </p:nvSpPr>
        <p:spPr>
          <a:xfrm>
            <a:off x="4508500" y="2565400"/>
            <a:ext cx="317500" cy="1778000"/>
          </a:xfrm>
          <a:prstGeom prst="rect">
            <a:avLst/>
          </a:prstGeom>
          <a:solidFill>
            <a:srgbClr val="C62828">
              <a:alpha val="28000"/>
            </a:srgbClr>
          </a:solidFill>
          <a:ln w="1270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8AEDC1-C73F-AD3E-7C38-CD0FDDCB44BF}"/>
              </a:ext>
            </a:extLst>
          </p:cNvPr>
          <p:cNvSpPr>
            <a:spLocks noGrp="1"/>
          </p:cNvSpPr>
          <p:nvPr/>
        </p:nvSpPr>
        <p:spPr>
          <a:xfrm>
            <a:off x="9474200" y="3149600"/>
            <a:ext cx="914400" cy="965200"/>
          </a:xfrm>
          <a:prstGeom prst="rect">
            <a:avLst/>
          </a:prstGeom>
          <a:solidFill>
            <a:srgbClr val="C62828">
              <a:alpha val="0"/>
            </a:srgbClr>
          </a:solidFill>
          <a:ln w="1651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2A3745-346E-9A30-EE77-B545F24A8D5E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已有能力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14A512-1A72-8AD7-1EED-47D0778A5A4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9530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单图一次前向生成显式3D表示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附近视角中心区域总体稳定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交互阶段无需再次运行生成网络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624A116-8E65-43D1-986A-73E0936DC4E2}"/>
              </a:ext>
            </a:extLst>
          </p:cNvPr>
          <p:cNvSpPr>
            <a:spLocks noGrp="1"/>
          </p:cNvSpPr>
          <p:nvPr/>
        </p:nvSpPr>
        <p:spPr>
          <a:xfrm>
            <a:off x="6350000" y="4610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能力缺口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C9DB99-2448-18CE-E612-995BFEB1BA03}"/>
              </a:ext>
            </a:extLst>
          </p:cNvPr>
          <p:cNvSpPr>
            <a:spLocks noGrp="1"/>
          </p:cNvSpPr>
          <p:nvPr/>
        </p:nvSpPr>
        <p:spPr>
          <a:xfrm>
            <a:off x="6350000" y="4953000"/>
            <a:ext cx="51562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尚未证明满足30°目标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边缘软化、显露拖影与细结构粗化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模型规模和当前CUDA链路不适合直接部署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8AF132-ED1A-CAAD-EE68-3D16745A530E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C844645-0D0F-3930-41B3-2EE51ADC604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4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BE2406-5421-61F8-D24B-D923FDD2C4F0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总体Framework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823D9E-40FF-9B0C-8ED5-86045C2742D9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以SHARP前馈几何为基础，面向30°目标补充分层、显露和材质建模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EF5BD0-7BFB-C10F-F473-CEFDB3851249}"/>
              </a:ext>
            </a:extLst>
          </p:cNvPr>
          <p:cNvSpPr>
            <a:spLocks noGrp="1"/>
          </p:cNvSpPr>
          <p:nvPr/>
        </p:nvSpPr>
        <p:spPr>
          <a:xfrm>
            <a:off x="723900" y="1079500"/>
            <a:ext cx="1346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Framework设计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777894-4C56-4634-D19F-43D5696C9435}"/>
              </a:ext>
            </a:extLst>
          </p:cNvPr>
          <p:cNvSpPr>
            <a:spLocks noGrp="1"/>
          </p:cNvSpPr>
          <p:nvPr/>
        </p:nvSpPr>
        <p:spPr>
          <a:xfrm>
            <a:off x="10083800" y="1054100"/>
            <a:ext cx="1422400" cy="292100"/>
          </a:xfrm>
          <a:prstGeom prst="rect">
            <a:avLst/>
          </a:prstGeom>
          <a:solidFill>
            <a:srgbClr val="C62828"/>
          </a:solidFill>
          <a:ln w="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31F4DA-AD13-1B91-8808-610F96DF42C2}"/>
              </a:ext>
            </a:extLst>
          </p:cNvPr>
          <p:cNvSpPr>
            <a:spLocks noGrp="1"/>
          </p:cNvSpPr>
          <p:nvPr/>
        </p:nvSpPr>
        <p:spPr>
          <a:xfrm>
            <a:off x="10121900" y="1079500"/>
            <a:ext cx="1346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指标待验证</a:t>
            </a:r>
            <a:endParaRPr sz="11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D31366-1198-B526-8689-B28EA559E6FA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93C417-E9BE-5876-DE9A-BADE1322D4B1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framework-redraw-caption">
            <a:extLst>
              <a:ext uri="{FF2B5EF4-FFF2-40B4-BE49-F238E27FC236}">
                <a16:creationId xmlns:a16="http://schemas.microsoft.com/office/drawing/2014/main" id="{5FE061B0-A9F4-4073-B7F7-BEADA32A6CFE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defRPr sz="1125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SHARP前馈几何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显露补全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自适应Soft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-LDI</a:t>
            </a:r>
          </a:p>
        </p:txBody>
      </p:sp>
      <p:sp>
        <p:nvSpPr>
          <p:cNvPr id="16" name="training-only-lane">
            <a:extLst>
              <a:ext uri="{FF2B5EF4-FFF2-40B4-BE49-F238E27FC236}">
                <a16:creationId xmlns:a16="http://schemas.microsoft.com/office/drawing/2014/main" id="{71C548B6-8E37-4E45-9D97-B6336CBE6A2E}"/>
              </a:ext>
            </a:extLst>
          </p:cNvPr>
          <p:cNvSpPr>
            <a:spLocks noGrp="1"/>
          </p:cNvSpPr>
          <p:nvPr/>
        </p:nvSpPr>
        <p:spPr>
          <a:xfrm>
            <a:off x="2857500" y="1352550"/>
            <a:ext cx="6572250" cy="1047750"/>
          </a:xfrm>
          <a:prstGeom prst="roundRect">
            <a:avLst>
              <a:gd name="adj" fmla="val 6364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dash"/>
          </a:ln>
        </p:spPr>
      </p:sp>
      <p:sp>
        <p:nvSpPr>
          <p:cNvPr id="17" name="training-only-label">
            <a:extLst>
              <a:ext uri="{FF2B5EF4-FFF2-40B4-BE49-F238E27FC236}">
                <a16:creationId xmlns:a16="http://schemas.microsoft.com/office/drawing/2014/main" id="{F53F0A78-9847-4A87-B6E7-8D856AE1718C}"/>
              </a:ext>
            </a:extLst>
          </p:cNvPr>
          <p:cNvSpPr>
            <a:spLocks noGrp="1"/>
          </p:cNvSpPr>
          <p:nvPr/>
        </p:nvSpPr>
        <p:spPr>
          <a:xfrm>
            <a:off x="5467350" y="1257300"/>
            <a:ext cx="1352550" cy="266700"/>
          </a:xfrm>
          <a:prstGeom prst="roundRect">
            <a:avLst>
              <a:gd name="adj" fmla="val 21429"/>
            </a:avLst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 fontScale="74317" lnSpcReduction="10000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仅训练使用</a:t>
            </a:r>
          </a:p>
        </p:txBody>
      </p:sp>
      <p:sp>
        <p:nvSpPr>
          <p:cNvPr id="18" name="teacher">
            <a:extLst>
              <a:ext uri="{FF2B5EF4-FFF2-40B4-BE49-F238E27FC236}">
                <a16:creationId xmlns:a16="http://schemas.microsoft.com/office/drawing/2014/main" id="{0D529082-BA47-4C69-842A-864F192207B7}"/>
              </a:ext>
            </a:extLst>
          </p:cNvPr>
          <p:cNvSpPr>
            <a:spLocks noGrp="1"/>
          </p:cNvSpPr>
          <p:nvPr/>
        </p:nvSpPr>
        <p:spPr>
          <a:xfrm>
            <a:off x="3143250" y="1657350"/>
            <a:ext cx="1571625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SHARP / 3DGS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9" name="multiview-data">
            <a:extLst>
              <a:ext uri="{FF2B5EF4-FFF2-40B4-BE49-F238E27FC236}">
                <a16:creationId xmlns:a16="http://schemas.microsoft.com/office/drawing/2014/main" id="{44C66E94-7E50-4719-B759-E4934FBFF977}"/>
              </a:ext>
            </a:extLst>
          </p:cNvPr>
          <p:cNvSpPr>
            <a:spLocks noGrp="1"/>
          </p:cNvSpPr>
          <p:nvPr/>
        </p:nvSpPr>
        <p:spPr>
          <a:xfrm>
            <a:off x="5381625" y="1657350"/>
            <a:ext cx="1762125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合成多视图数据</a:t>
            </a:r>
          </a:p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 · Depth · Camera</a:t>
            </a:r>
          </a:p>
        </p:txBody>
      </p:sp>
      <p:sp>
        <p:nvSpPr>
          <p:cNvPr id="20" name="depth-adjustment">
            <a:extLst>
              <a:ext uri="{FF2B5EF4-FFF2-40B4-BE49-F238E27FC236}">
                <a16:creationId xmlns:a16="http://schemas.microsoft.com/office/drawing/2014/main" id="{CAB4A6C6-AF8B-4B9C-BBD3-B2E86C39B941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1333500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 fontScale="85232"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Depth Adjustment</a:t>
            </a:r>
          </a:p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仅Stage 1</a:t>
            </a:r>
          </a:p>
        </p:txBody>
      </p:sp>
      <p:sp>
        <p:nvSpPr>
          <p:cNvPr id="21" name="input-rgb">
            <a:extLst>
              <a:ext uri="{FF2B5EF4-FFF2-40B4-BE49-F238E27FC236}">
                <a16:creationId xmlns:a16="http://schemas.microsoft.com/office/drawing/2014/main" id="{3C034001-6298-474A-87AD-DB54BB9F25B6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1239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单张2K</a:t>
            </a:r>
          </a:p>
          <a:p>
            <a:pPr algn="ctr">
              <a:def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RGB图像</a:t>
            </a:r>
          </a:p>
        </p:txBody>
      </p:sp>
      <p:sp>
        <p:nvSpPr>
          <p:cNvPr id="22" name="scene-perception">
            <a:extLst>
              <a:ext uri="{FF2B5EF4-FFF2-40B4-BE49-F238E27FC236}">
                <a16:creationId xmlns:a16="http://schemas.microsoft.com/office/drawing/2014/main" id="{C673FBEE-629F-4BD4-9EE6-220214FEC73D}"/>
              </a:ext>
            </a:extLst>
          </p:cNvPr>
          <p:cNvSpPr>
            <a:spLocks noGrp="1"/>
          </p:cNvSpPr>
          <p:nvPr/>
        </p:nvSpPr>
        <p:spPr>
          <a:xfrm>
            <a:off x="2095500" y="2924175"/>
            <a:ext cx="158115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1  场景感知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 · 分割 · 材质</a:t>
            </a:r>
          </a:p>
        </p:txBody>
      </p:sp>
      <p:sp>
        <p:nvSpPr>
          <p:cNvPr id="23" name="adaptive-layering">
            <a:extLst>
              <a:ext uri="{FF2B5EF4-FFF2-40B4-BE49-F238E27FC236}">
                <a16:creationId xmlns:a16="http://schemas.microsoft.com/office/drawing/2014/main" id="{38EBD8F1-3654-4384-A606-AACA03E10A48}"/>
              </a:ext>
            </a:extLst>
          </p:cNvPr>
          <p:cNvSpPr>
            <a:spLocks noGrp="1"/>
          </p:cNvSpPr>
          <p:nvPr/>
        </p:nvSpPr>
        <p:spPr>
          <a:xfrm>
            <a:off x="3981450" y="2924175"/>
            <a:ext cx="158115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2  自适应软分层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Base + Delta</a:t>
            </a:r>
          </a:p>
        </p:txBody>
      </p:sp>
      <p:sp>
        <p:nvSpPr>
          <p:cNvPr id="24" name="reveal-completion">
            <a:extLst>
              <a:ext uri="{FF2B5EF4-FFF2-40B4-BE49-F238E27FC236}">
                <a16:creationId xmlns:a16="http://schemas.microsoft.com/office/drawing/2014/main" id="{8571FF9B-BB30-4E1C-8C52-CE845EA42252}"/>
              </a:ext>
            </a:extLst>
          </p:cNvPr>
          <p:cNvSpPr>
            <a:spLocks noGrp="1"/>
          </p:cNvSpPr>
          <p:nvPr/>
        </p:nvSpPr>
        <p:spPr>
          <a:xfrm>
            <a:off x="58674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  显露补全与锚点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RGB-D-Alpha · ±30°</a:t>
            </a:r>
          </a:p>
        </p:txBody>
      </p:sp>
      <p:sp>
        <p:nvSpPr>
          <p:cNvPr id="25" name="material-soft-ldi">
            <a:extLst>
              <a:ext uri="{FF2B5EF4-FFF2-40B4-BE49-F238E27FC236}">
                <a16:creationId xmlns:a16="http://schemas.microsoft.com/office/drawing/2014/main" id="{C7E9766E-AA9E-4EDF-B293-32D434C306F6}"/>
              </a:ext>
            </a:extLst>
          </p:cNvPr>
          <p:cNvSpPr>
            <a:spLocks noGrp="1"/>
          </p:cNvSpPr>
          <p:nvPr/>
        </p:nvSpPr>
        <p:spPr>
          <a:xfrm>
            <a:off x="78486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4  材质感知Soft-LDI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自适应层数与外观</a:t>
            </a:r>
          </a:p>
        </p:txBody>
      </p:sp>
      <p:sp>
        <p:nvSpPr>
          <p:cNvPr id="26" name="mobile-rendering">
            <a:extLst>
              <a:ext uri="{FF2B5EF4-FFF2-40B4-BE49-F238E27FC236}">
                <a16:creationId xmlns:a16="http://schemas.microsoft.com/office/drawing/2014/main" id="{473932FF-D14E-4191-AF00-7C1E580FE0A5}"/>
              </a:ext>
            </a:extLst>
          </p:cNvPr>
          <p:cNvSpPr>
            <a:spLocks noGrp="1"/>
          </p:cNvSpPr>
          <p:nvPr/>
        </p:nvSpPr>
        <p:spPr>
          <a:xfrm>
            <a:off x="98298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5  压缩与移动端渲染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剪枝 · 量化 · 融合</a:t>
            </a:r>
          </a:p>
        </p:txBody>
      </p:sp>
      <p:cxnSp>
        <p:nvCxnSpPr>
          <p:cNvPr id="66" name="直接箭头连接符 65"/>
          <p:cNvCxnSpPr>
            <a:stCxn id="21" idx="3"/>
            <a:endCxn id="22" idx="1"/>
          </p:cNvCxnSpPr>
          <p:nvPr/>
        </p:nvCxnSpPr>
        <p:spPr>
          <a:xfrm>
            <a:off x="17907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7" name="直接箭头连接符 66"/>
          <p:cNvCxnSpPr>
            <a:stCxn id="22" idx="3"/>
            <a:endCxn id="23" idx="1"/>
          </p:cNvCxnSpPr>
          <p:nvPr/>
        </p:nvCxnSpPr>
        <p:spPr>
          <a:xfrm>
            <a:off x="367665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8" name="直接箭头连接符 67"/>
          <p:cNvCxnSpPr>
            <a:stCxn id="23" idx="3"/>
            <a:endCxn id="24" idx="1"/>
          </p:cNvCxnSpPr>
          <p:nvPr/>
        </p:nvCxnSpPr>
        <p:spPr>
          <a:xfrm>
            <a:off x="55626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9" name="直接箭头连接符 68"/>
          <p:cNvCxnSpPr>
            <a:stCxn id="24" idx="3"/>
            <a:endCxn id="25" idx="1"/>
          </p:cNvCxnSpPr>
          <p:nvPr/>
        </p:nvCxnSpPr>
        <p:spPr>
          <a:xfrm>
            <a:off x="75438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70" name="直接箭头连接符 69"/>
          <p:cNvCxnSpPr>
            <a:stCxn id="25" idx="3"/>
            <a:endCxn id="26" idx="1"/>
          </p:cNvCxnSpPr>
          <p:nvPr/>
        </p:nvCxnSpPr>
        <p:spPr>
          <a:xfrm>
            <a:off x="95250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71" name="直接箭头连接符 70"/>
          <p:cNvCxnSpPr>
            <a:stCxn id="18" idx="3"/>
            <a:endCxn id="19" idx="1"/>
          </p:cNvCxnSpPr>
          <p:nvPr/>
        </p:nvCxnSpPr>
        <p:spPr>
          <a:xfrm>
            <a:off x="4714875" y="1928813"/>
            <a:ext cx="666750" cy="0"/>
          </a:xfrm>
          <a:prstGeom prst="straightConnector1">
            <a:avLst/>
          </a:prstGeom>
          <a:ln w="16193">
            <a:solidFill>
              <a:srgbClr val="0D569A"/>
            </a:solidFill>
            <a:prstDash val="solid"/>
            <a:tailEnd type="arrow" w="sm" len="sm"/>
          </a:ln>
        </p:spPr>
      </p:cxnSp>
      <p:cxnSp>
        <p:nvCxnSpPr>
          <p:cNvPr id="72" name="直接箭头连接符 71"/>
          <p:cNvCxnSpPr>
            <a:stCxn id="19" idx="3"/>
            <a:endCxn id="20" idx="1"/>
          </p:cNvCxnSpPr>
          <p:nvPr/>
        </p:nvCxnSpPr>
        <p:spPr>
          <a:xfrm>
            <a:off x="7143750" y="1928813"/>
            <a:ext cx="666750" cy="0"/>
          </a:xfrm>
          <a:prstGeom prst="straightConnector1">
            <a:avLst/>
          </a:prstGeom>
          <a:ln w="16193">
            <a:solidFill>
              <a:srgbClr val="0D569A"/>
            </a:solidFill>
            <a:prstDash val="solid"/>
            <a:tailEnd type="arrow" w="sm" len="sm"/>
          </a:ln>
        </p:spPr>
      </p:cxnSp>
      <p:cxnSp>
        <p:nvCxnSpPr>
          <p:cNvPr id="73" name="连接符: 肘形 72"/>
          <p:cNvCxnSpPr>
            <a:stCxn id="18" idx="2"/>
            <a:endCxn id="22" idx="0"/>
          </p:cNvCxnSpPr>
          <p:nvPr/>
        </p:nvCxnSpPr>
        <p:spPr>
          <a:xfrm flipH="1">
            <a:off x="2886075" y="2200275"/>
            <a:ext cx="1042988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cxnSp>
        <p:nvCxnSpPr>
          <p:cNvPr id="74" name="连接符: 肘形 73"/>
          <p:cNvCxnSpPr>
            <a:stCxn id="19" idx="2"/>
            <a:endCxn id="23" idx="0"/>
          </p:cNvCxnSpPr>
          <p:nvPr/>
        </p:nvCxnSpPr>
        <p:spPr>
          <a:xfrm flipH="1">
            <a:off x="4772025" y="2200275"/>
            <a:ext cx="1490663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cxnSp>
        <p:nvCxnSpPr>
          <p:cNvPr id="75" name="连接符: 肘形 74"/>
          <p:cNvCxnSpPr>
            <a:stCxn id="20" idx="2"/>
            <a:endCxn id="24" idx="0"/>
          </p:cNvCxnSpPr>
          <p:nvPr/>
        </p:nvCxnSpPr>
        <p:spPr>
          <a:xfrm flipH="1">
            <a:off x="6705600" y="2200275"/>
            <a:ext cx="1771650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sp>
        <p:nvSpPr>
          <p:cNvPr id="37" name="detail-callout">
            <a:extLst>
              <a:ext uri="{FF2B5EF4-FFF2-40B4-BE49-F238E27FC236}">
                <a16:creationId xmlns:a16="http://schemas.microsoft.com/office/drawing/2014/main" id="{A7FBEB9B-7456-4960-B732-D64F1B6C2D46}"/>
              </a:ext>
            </a:extLst>
          </p:cNvPr>
          <p:cNvSpPr>
            <a:spLocks noGrp="1"/>
          </p:cNvSpPr>
          <p:nvPr/>
        </p:nvSpPr>
        <p:spPr>
          <a:xfrm>
            <a:off x="2885017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细结构 → Soft Alpha</a:t>
            </a:r>
          </a:p>
        </p:txBody>
      </p:sp>
      <p:sp>
        <p:nvSpPr>
          <p:cNvPr id="38" name="reveal-callout">
            <a:extLst>
              <a:ext uri="{FF2B5EF4-FFF2-40B4-BE49-F238E27FC236}">
                <a16:creationId xmlns:a16="http://schemas.microsoft.com/office/drawing/2014/main" id="{D2C073D7-D528-422D-B44E-C9F7162C2582}"/>
              </a:ext>
            </a:extLst>
          </p:cNvPr>
          <p:cNvSpPr>
            <a:spLocks noGrp="1"/>
          </p:cNvSpPr>
          <p:nvPr/>
        </p:nvSpPr>
        <p:spPr>
          <a:xfrm>
            <a:off x="5523442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遮挡显露 → 双侧锚点</a:t>
            </a:r>
          </a:p>
        </p:txBody>
      </p:sp>
      <p:sp>
        <p:nvSpPr>
          <p:cNvPr id="39" name="material-callout">
            <a:extLst>
              <a:ext uri="{FF2B5EF4-FFF2-40B4-BE49-F238E27FC236}">
                <a16:creationId xmlns:a16="http://schemas.microsoft.com/office/drawing/2014/main" id="{D0C6FEFB-6231-4F85-AB51-66004CA33CA7}"/>
              </a:ext>
            </a:extLst>
          </p:cNvPr>
          <p:cNvSpPr>
            <a:spLocks noGrp="1"/>
          </p:cNvSpPr>
          <p:nvPr/>
        </p:nvSpPr>
        <p:spPr>
          <a:xfrm>
            <a:off x="8161867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复杂材质 → 分层外观</a:t>
            </a:r>
          </a:p>
        </p:txBody>
      </p:sp>
      <p:cxnSp>
        <p:nvCxnSpPr>
          <p:cNvPr id="79" name="连接符: 肘形 78"/>
          <p:cNvCxnSpPr>
            <a:cxnSpLocks/>
            <a:stCxn id="37" idx="0"/>
            <a:endCxn id="23" idx="2"/>
          </p:cNvCxnSpPr>
          <p:nvPr/>
        </p:nvCxnSpPr>
        <p:spPr>
          <a:xfrm rot="5400000" flipH="1" flipV="1">
            <a:off x="4117446" y="3949172"/>
            <a:ext cx="612775" cy="696383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cxnSp>
        <p:nvCxnSpPr>
          <p:cNvPr id="80" name="连接符: 肘形 79"/>
          <p:cNvCxnSpPr>
            <a:cxnSpLocks/>
            <a:endCxn id="24" idx="2"/>
          </p:cNvCxnSpPr>
          <p:nvPr/>
        </p:nvCxnSpPr>
        <p:spPr>
          <a:xfrm rot="16200000" flipV="1">
            <a:off x="6399214" y="4297362"/>
            <a:ext cx="612775" cy="1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cxnSp>
        <p:nvCxnSpPr>
          <p:cNvPr id="81" name="连接符: 肘形 80"/>
          <p:cNvCxnSpPr>
            <a:cxnSpLocks/>
            <a:stCxn id="39" idx="0"/>
            <a:endCxn id="25" idx="2"/>
          </p:cNvCxnSpPr>
          <p:nvPr/>
        </p:nvCxnSpPr>
        <p:spPr>
          <a:xfrm rot="16200000" flipV="1">
            <a:off x="8713259" y="3964517"/>
            <a:ext cx="612775" cy="665692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sp>
        <p:nvSpPr>
          <p:cNvPr id="43" name="validation-targets">
            <a:extLst>
              <a:ext uri="{FF2B5EF4-FFF2-40B4-BE49-F238E27FC236}">
                <a16:creationId xmlns:a16="http://schemas.microsoft.com/office/drawing/2014/main" id="{A3964C7F-2EB0-4D8B-8CBC-C2E5F22341BA}"/>
              </a:ext>
            </a:extLst>
          </p:cNvPr>
          <p:cNvSpPr>
            <a:spLocks noGrp="1"/>
          </p:cNvSpPr>
          <p:nvPr/>
        </p:nvSpPr>
        <p:spPr>
          <a:xfrm>
            <a:off x="2381250" y="5410200"/>
            <a:ext cx="7429500" cy="523875"/>
          </a:xfrm>
          <a:prstGeom prst="roundRect">
            <a:avLst>
              <a:gd name="adj" fmla="val 10909"/>
            </a:avLst>
          </a:prstGeom>
          <a:solidFill>
            <a:srgbClr val="EEF5FB"/>
          </a:solidFill>
          <a:ln w="11430">
            <a:solidFill>
              <a:srgbClr val="B9D5EB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待验证：≥30° · DISTS&lt;0.06 · 2K&lt;5s · 内存&lt;3GB</a:t>
            </a:r>
          </a:p>
        </p:txBody>
      </p:sp>
    </p:spTree>
    <p:extLst>
      <p:ext uri="{BB962C8B-B14F-4D97-AF65-F5344CB8AC3E}">
        <p14:creationId xmlns:p14="http://schemas.microsoft.com/office/powerpoint/2010/main" val="1226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4B0C3D-4F4D-2295-2C61-4BB11E8AACC5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多任务感知与自适应软分层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FDF684-1FC8-4274-0A6A-9311300DFCB6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Base由几何规则构造，Delta只负责修正；表示复杂度按区域分配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FD7194-7E44-A42F-40E1-E91B6C216F11}"/>
              </a:ext>
            </a:extLst>
          </p:cNvPr>
          <p:cNvSpPr>
            <a:spLocks noGrp="1"/>
          </p:cNvSpPr>
          <p:nvPr/>
        </p:nvSpPr>
        <p:spPr>
          <a:xfrm>
            <a:off x="685800" y="1223010"/>
            <a:ext cx="1676400" cy="694688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BF5BA6-7D21-D739-0838-EDFF09C799BA}"/>
              </a:ext>
            </a:extLst>
          </p:cNvPr>
          <p:cNvSpPr>
            <a:spLocks noGrp="1"/>
          </p:cNvSpPr>
          <p:nvPr/>
        </p:nvSpPr>
        <p:spPr>
          <a:xfrm>
            <a:off x="812800" y="1426670"/>
            <a:ext cx="1422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单张RGB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F1DB117-C0FF-4E7D-991A-1AE8B79EAE44}"/>
              </a:ext>
            </a:extLst>
          </p:cNvPr>
          <p:cNvSpPr>
            <a:spLocks noGrp="1"/>
          </p:cNvSpPr>
          <p:nvPr/>
        </p:nvSpPr>
        <p:spPr>
          <a:xfrm>
            <a:off x="2374900" y="1574800"/>
            <a:ext cx="469900" cy="0"/>
          </a:xfrm>
          <a:prstGeom prst="line">
            <a:avLst/>
          </a:prstGeom>
          <a:ln w="2540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592E1F-3A19-B3F2-B3C7-D7BBBD38C5AA}"/>
              </a:ext>
            </a:extLst>
          </p:cNvPr>
          <p:cNvSpPr>
            <a:spLocks noGrp="1"/>
          </p:cNvSpPr>
          <p:nvPr/>
        </p:nvSpPr>
        <p:spPr>
          <a:xfrm>
            <a:off x="2870200" y="1155700"/>
            <a:ext cx="1905000" cy="850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FCF069-E5EF-7CEB-48B8-D04922B853CA}"/>
              </a:ext>
            </a:extLst>
          </p:cNvPr>
          <p:cNvSpPr>
            <a:spLocks noGrp="1"/>
          </p:cNvSpPr>
          <p:nvPr/>
        </p:nvSpPr>
        <p:spPr>
          <a:xfrm>
            <a:off x="2984500" y="1436176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共享编码器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8700FC8E-53F7-475F-BA46-A70156C70863}"/>
              </a:ext>
            </a:extLst>
          </p:cNvPr>
          <p:cNvSpPr>
            <a:spLocks noGrp="1"/>
          </p:cNvSpPr>
          <p:nvPr/>
        </p:nvSpPr>
        <p:spPr>
          <a:xfrm>
            <a:off x="4787900" y="1574800"/>
            <a:ext cx="469900" cy="0"/>
          </a:xfrm>
          <a:prstGeom prst="line">
            <a:avLst/>
          </a:prstGeom>
          <a:ln w="2540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A1347E-5CA7-E855-74FF-60D4B0E4E3CC}"/>
              </a:ext>
            </a:extLst>
          </p:cNvPr>
          <p:cNvSpPr>
            <a:spLocks noGrp="1"/>
          </p:cNvSpPr>
          <p:nvPr/>
        </p:nvSpPr>
        <p:spPr>
          <a:xfrm>
            <a:off x="52832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E869F3-72C9-E2ED-19ED-1676830FB415}"/>
              </a:ext>
            </a:extLst>
          </p:cNvPr>
          <p:cNvSpPr>
            <a:spLocks noGrp="1"/>
          </p:cNvSpPr>
          <p:nvPr/>
        </p:nvSpPr>
        <p:spPr>
          <a:xfrm>
            <a:off x="53340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基础深度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50C1AC-682B-DE5E-F160-A2FDDB8BAB20}"/>
              </a:ext>
            </a:extLst>
          </p:cNvPr>
          <p:cNvSpPr>
            <a:spLocks noGrp="1"/>
          </p:cNvSpPr>
          <p:nvPr/>
        </p:nvSpPr>
        <p:spPr>
          <a:xfrm>
            <a:off x="6502400" y="1271656"/>
            <a:ext cx="1066800" cy="646043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C7D441-4FA4-8096-44B7-B64FF4CC0809}"/>
              </a:ext>
            </a:extLst>
          </p:cNvPr>
          <p:cNvSpPr>
            <a:spLocks noGrp="1"/>
          </p:cNvSpPr>
          <p:nvPr/>
        </p:nvSpPr>
        <p:spPr>
          <a:xfrm>
            <a:off x="65532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3FCCE-040E-26AD-F895-B2C594D135D4}"/>
              </a:ext>
            </a:extLst>
          </p:cNvPr>
          <p:cNvSpPr>
            <a:spLocks noGrp="1"/>
          </p:cNvSpPr>
          <p:nvPr/>
        </p:nvSpPr>
        <p:spPr>
          <a:xfrm>
            <a:off x="77216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29E59D-8CDD-107F-301C-4C88296D65E3}"/>
              </a:ext>
            </a:extLst>
          </p:cNvPr>
          <p:cNvSpPr>
            <a:spLocks noGrp="1"/>
          </p:cNvSpPr>
          <p:nvPr/>
        </p:nvSpPr>
        <p:spPr>
          <a:xfrm>
            <a:off x="7772400" y="1447800"/>
            <a:ext cx="965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细结构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E10005-3D30-5120-4282-BB1E9708EB61}"/>
              </a:ext>
            </a:extLst>
          </p:cNvPr>
          <p:cNvSpPr>
            <a:spLocks noGrp="1"/>
          </p:cNvSpPr>
          <p:nvPr/>
        </p:nvSpPr>
        <p:spPr>
          <a:xfrm>
            <a:off x="89408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7CC497-E41F-91A9-0CFE-08C18520D074}"/>
              </a:ext>
            </a:extLst>
          </p:cNvPr>
          <p:cNvSpPr>
            <a:spLocks noGrp="1"/>
          </p:cNvSpPr>
          <p:nvPr/>
        </p:nvSpPr>
        <p:spPr>
          <a:xfrm>
            <a:off x="89916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材质类别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0C06EF-5537-2D39-A136-66BCC9734E03}"/>
              </a:ext>
            </a:extLst>
          </p:cNvPr>
          <p:cNvSpPr>
            <a:spLocks noGrp="1"/>
          </p:cNvSpPr>
          <p:nvPr/>
        </p:nvSpPr>
        <p:spPr>
          <a:xfrm>
            <a:off x="101600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976D09-10B1-863B-8707-1A711962D69A}"/>
              </a:ext>
            </a:extLst>
          </p:cNvPr>
          <p:cNvSpPr>
            <a:spLocks noGrp="1"/>
          </p:cNvSpPr>
          <p:nvPr/>
        </p:nvSpPr>
        <p:spPr>
          <a:xfrm>
            <a:off x="10210800" y="1440409"/>
            <a:ext cx="965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17BAB7-DA13-BD03-3909-EEA7C7866377}"/>
              </a:ext>
            </a:extLst>
          </p:cNvPr>
          <p:cNvSpPr>
            <a:spLocks noGrp="1"/>
          </p:cNvSpPr>
          <p:nvPr/>
        </p:nvSpPr>
        <p:spPr>
          <a:xfrm>
            <a:off x="685800" y="23368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Base + Delta自适应表示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063410-7E48-83E7-9967-EFD40A92A05D}"/>
              </a:ext>
            </a:extLst>
          </p:cNvPr>
          <p:cNvSpPr>
            <a:spLocks noGrp="1"/>
          </p:cNvSpPr>
          <p:nvPr/>
        </p:nvSpPr>
        <p:spPr>
          <a:xfrm>
            <a:off x="6858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ECF52E-54EE-2E29-216C-CA8FDFA1A495}"/>
              </a:ext>
            </a:extLst>
          </p:cNvPr>
          <p:cNvSpPr>
            <a:spLocks noGrp="1"/>
          </p:cNvSpPr>
          <p:nvPr/>
        </p:nvSpPr>
        <p:spPr>
          <a:xfrm>
            <a:off x="6858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6B4EE1-AC4F-7D05-7B8B-FDEFF4F985E0}"/>
              </a:ext>
            </a:extLst>
          </p:cNvPr>
          <p:cNvSpPr>
            <a:spLocks noGrp="1"/>
          </p:cNvSpPr>
          <p:nvPr/>
        </p:nvSpPr>
        <p:spPr>
          <a:xfrm>
            <a:off x="7874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平坦背景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C9DF3A-94B2-CD6D-A5AA-1E4B3E28574F}"/>
              </a:ext>
            </a:extLst>
          </p:cNvPr>
          <p:cNvSpPr>
            <a:spLocks noGrp="1"/>
          </p:cNvSpPr>
          <p:nvPr/>
        </p:nvSpPr>
        <p:spPr>
          <a:xfrm>
            <a:off x="7874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1层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6C761C-224F-E40A-12AA-F7296613EE5F}"/>
              </a:ext>
            </a:extLst>
          </p:cNvPr>
          <p:cNvSpPr>
            <a:spLocks noGrp="1"/>
          </p:cNvSpPr>
          <p:nvPr/>
        </p:nvSpPr>
        <p:spPr>
          <a:xfrm>
            <a:off x="876300" y="4013200"/>
            <a:ext cx="203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减少冗余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969FB5-6404-994E-F25E-5CDF4BA5FFB8}"/>
              </a:ext>
            </a:extLst>
          </p:cNvPr>
          <p:cNvSpPr>
            <a:spLocks noGrp="1"/>
          </p:cNvSpPr>
          <p:nvPr/>
        </p:nvSpPr>
        <p:spPr>
          <a:xfrm>
            <a:off x="34290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86180E-2298-628E-37C0-16E0F838E1B8}"/>
              </a:ext>
            </a:extLst>
          </p:cNvPr>
          <p:cNvSpPr>
            <a:spLocks noGrp="1"/>
          </p:cNvSpPr>
          <p:nvPr/>
        </p:nvSpPr>
        <p:spPr>
          <a:xfrm>
            <a:off x="34290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59E82CE-B109-00D5-42CA-685E77D1C397}"/>
              </a:ext>
            </a:extLst>
          </p:cNvPr>
          <p:cNvSpPr>
            <a:spLocks noGrp="1"/>
          </p:cNvSpPr>
          <p:nvPr/>
        </p:nvSpPr>
        <p:spPr>
          <a:xfrm>
            <a:off x="35306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普通遮挡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771C1F-F876-F8FF-7A58-1BC570624ABC}"/>
              </a:ext>
            </a:extLst>
          </p:cNvPr>
          <p:cNvSpPr>
            <a:spLocks noGrp="1"/>
          </p:cNvSpPr>
          <p:nvPr/>
        </p:nvSpPr>
        <p:spPr>
          <a:xfrm>
            <a:off x="35560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2–3层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0D2CB37-6E8E-3A67-325E-6B547B5FDB5B}"/>
              </a:ext>
            </a:extLst>
          </p:cNvPr>
          <p:cNvSpPr>
            <a:spLocks noGrp="1"/>
          </p:cNvSpPr>
          <p:nvPr/>
        </p:nvSpPr>
        <p:spPr>
          <a:xfrm>
            <a:off x="3619500" y="3874700"/>
            <a:ext cx="203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保存可见面与显露背景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EF6A6D-EA8B-7CE1-5D2C-66E0B39E4557}"/>
              </a:ext>
            </a:extLst>
          </p:cNvPr>
          <p:cNvSpPr>
            <a:spLocks noGrp="1"/>
          </p:cNvSpPr>
          <p:nvPr/>
        </p:nvSpPr>
        <p:spPr>
          <a:xfrm>
            <a:off x="61722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5E905F-E10C-A43A-6A63-397549875F3F}"/>
              </a:ext>
            </a:extLst>
          </p:cNvPr>
          <p:cNvSpPr>
            <a:spLocks noGrp="1"/>
          </p:cNvSpPr>
          <p:nvPr/>
        </p:nvSpPr>
        <p:spPr>
          <a:xfrm>
            <a:off x="61722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68475C4-6902-FF79-E69A-D9FDBEDD85A8}"/>
              </a:ext>
            </a:extLst>
          </p:cNvPr>
          <p:cNvSpPr>
            <a:spLocks noGrp="1"/>
          </p:cNvSpPr>
          <p:nvPr/>
        </p:nvSpPr>
        <p:spPr>
          <a:xfrm>
            <a:off x="62738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细结构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0CEC99-6F4A-D09C-89CD-9C95DDE8160B}"/>
              </a:ext>
            </a:extLst>
          </p:cNvPr>
          <p:cNvSpPr>
            <a:spLocks noGrp="1"/>
          </p:cNvSpPr>
          <p:nvPr/>
        </p:nvSpPr>
        <p:spPr>
          <a:xfrm>
            <a:off x="62992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Soft Alpha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A4B2BA-B488-2124-67BA-A0DFC7142DA5}"/>
              </a:ext>
            </a:extLst>
          </p:cNvPr>
          <p:cNvSpPr>
            <a:spLocks noGrp="1"/>
          </p:cNvSpPr>
          <p:nvPr/>
        </p:nvSpPr>
        <p:spPr>
          <a:xfrm>
            <a:off x="6362700" y="4013200"/>
            <a:ext cx="203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避免硬切导致断裂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5A4C5B-65C6-6BD7-95E1-27F88966315E}"/>
              </a:ext>
            </a:extLst>
          </p:cNvPr>
          <p:cNvSpPr>
            <a:spLocks noGrp="1"/>
          </p:cNvSpPr>
          <p:nvPr/>
        </p:nvSpPr>
        <p:spPr>
          <a:xfrm>
            <a:off x="89154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4CEA06-805B-C2C4-419E-74F6DBC6B0F0}"/>
              </a:ext>
            </a:extLst>
          </p:cNvPr>
          <p:cNvSpPr>
            <a:spLocks noGrp="1"/>
          </p:cNvSpPr>
          <p:nvPr/>
        </p:nvSpPr>
        <p:spPr>
          <a:xfrm>
            <a:off x="89154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18DB9-9458-56DF-D7B8-CC5179505A13}"/>
              </a:ext>
            </a:extLst>
          </p:cNvPr>
          <p:cNvSpPr>
            <a:spLocks noGrp="1"/>
          </p:cNvSpPr>
          <p:nvPr/>
        </p:nvSpPr>
        <p:spPr>
          <a:xfrm>
            <a:off x="90170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复杂材质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E4B2DD-045C-1104-F3B0-0C83AC9BD0BF}"/>
              </a:ext>
            </a:extLst>
          </p:cNvPr>
          <p:cNvSpPr>
            <a:spLocks noGrp="1"/>
          </p:cNvSpPr>
          <p:nvPr/>
        </p:nvSpPr>
        <p:spPr>
          <a:xfrm>
            <a:off x="90424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几何层+外观层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1B839F-AD6C-46BC-2BC0-DEF43A83B0CF}"/>
              </a:ext>
            </a:extLst>
          </p:cNvPr>
          <p:cNvSpPr>
            <a:spLocks noGrp="1"/>
          </p:cNvSpPr>
          <p:nvPr/>
        </p:nvSpPr>
        <p:spPr>
          <a:xfrm>
            <a:off x="9105900" y="3874700"/>
            <a:ext cx="203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仅局部增加视角相关能力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4F4F538-800A-AD91-029A-E479085F23A4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642600" cy="6985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F281425-05F2-69DB-0E71-C5BD8672076C}"/>
              </a:ext>
            </a:extLst>
          </p:cNvPr>
          <p:cNvSpPr>
            <a:spLocks noGrp="1"/>
          </p:cNvSpPr>
          <p:nvPr/>
        </p:nvSpPr>
        <p:spPr>
          <a:xfrm>
            <a:off x="889000" y="5549900"/>
            <a:ext cx="10236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核心变化：不再让全图使用固定双层，而是由边界、材质和置信度决定1/2/3层或Soft Alpha。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58FA4EE-0D9F-6475-BDCA-FBDBB6A17058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48472B7-DE1E-3AF7-47B6-CC981180198D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364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结构优先补全与双侧视角锚点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先解决“它应位于哪一层”，再生成颜色；端点锚点约束中间连续视角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D1B3B2-4C54-58EF-E5C1-9F380C3670A6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2209800" cy="850900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957C9F-2FA5-04E4-941A-28F2D5DD6C53}"/>
              </a:ext>
            </a:extLst>
          </p:cNvPr>
          <p:cNvSpPr>
            <a:spLocks noGrp="1"/>
          </p:cNvSpPr>
          <p:nvPr/>
        </p:nvSpPr>
        <p:spPr>
          <a:xfrm>
            <a:off x="812800" y="1476726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401C94-6826-F9B1-7658-44B2967D6C07}"/>
              </a:ext>
            </a:extLst>
          </p:cNvPr>
          <p:cNvSpPr>
            <a:spLocks noGrp="1"/>
          </p:cNvSpPr>
          <p:nvPr/>
        </p:nvSpPr>
        <p:spPr>
          <a:xfrm>
            <a:off x="1143000" y="13462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深度边界与细线检测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896FF157-0284-4416-840C-CB60F4340FDA}"/>
              </a:ext>
            </a:extLst>
          </p:cNvPr>
          <p:cNvSpPr>
            <a:spLocks noGrp="1"/>
          </p:cNvSpPr>
          <p:nvPr/>
        </p:nvSpPr>
        <p:spPr>
          <a:xfrm>
            <a:off x="29210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46B285-19A6-2BA2-CB7C-2D7D8CEE23A7}"/>
              </a:ext>
            </a:extLst>
          </p:cNvPr>
          <p:cNvSpPr>
            <a:spLocks noGrp="1"/>
          </p:cNvSpPr>
          <p:nvPr/>
        </p:nvSpPr>
        <p:spPr>
          <a:xfrm>
            <a:off x="3327400" y="1218419"/>
            <a:ext cx="2209800" cy="850898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5D0B8C-6A8C-C340-6954-4AD879BF859B}"/>
              </a:ext>
            </a:extLst>
          </p:cNvPr>
          <p:cNvSpPr>
            <a:spLocks noGrp="1"/>
          </p:cNvSpPr>
          <p:nvPr/>
        </p:nvSpPr>
        <p:spPr>
          <a:xfrm>
            <a:off x="3441700" y="1464733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C2871B-4765-175F-6FB5-2937DD12AEBC}"/>
              </a:ext>
            </a:extLst>
          </p:cNvPr>
          <p:cNvSpPr>
            <a:spLocks noGrp="1"/>
          </p:cNvSpPr>
          <p:nvPr/>
        </p:nvSpPr>
        <p:spPr>
          <a:xfrm>
            <a:off x="3797299" y="1473199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结构</a:t>
            </a:r>
            <a:r>
              <a:rPr sz="1300" b="1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1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骨架补全</a:t>
            </a:r>
            <a:endParaRPr sz="1300" b="1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5367AF0-7D11-477D-A564-5C896152B1D2}"/>
              </a:ext>
            </a:extLst>
          </p:cNvPr>
          <p:cNvSpPr>
            <a:spLocks noGrp="1"/>
          </p:cNvSpPr>
          <p:nvPr/>
        </p:nvSpPr>
        <p:spPr>
          <a:xfrm>
            <a:off x="55753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82FDE9-4BB7-D838-77D2-6171B885D7B5}"/>
              </a:ext>
            </a:extLst>
          </p:cNvPr>
          <p:cNvSpPr>
            <a:spLocks noGrp="1"/>
          </p:cNvSpPr>
          <p:nvPr/>
        </p:nvSpPr>
        <p:spPr>
          <a:xfrm>
            <a:off x="5994399" y="1219200"/>
            <a:ext cx="2404533" cy="850898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6537F7-FEB4-FD17-F8D7-33734CC4E811}"/>
              </a:ext>
            </a:extLst>
          </p:cNvPr>
          <p:cNvSpPr>
            <a:spLocks noGrp="1"/>
          </p:cNvSpPr>
          <p:nvPr/>
        </p:nvSpPr>
        <p:spPr>
          <a:xfrm>
            <a:off x="6096000" y="1464733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3DAB2A-FED3-0F54-9F2B-F05B840AD2D7}"/>
              </a:ext>
            </a:extLst>
          </p:cNvPr>
          <p:cNvSpPr>
            <a:spLocks noGrp="1"/>
          </p:cNvSpPr>
          <p:nvPr/>
        </p:nvSpPr>
        <p:spPr>
          <a:xfrm>
            <a:off x="6451600" y="1346200"/>
            <a:ext cx="1854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RGB-D-Alpha联合补全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E5CD7DDA-8654-4B2E-A378-60EA55F36AEE}"/>
              </a:ext>
            </a:extLst>
          </p:cNvPr>
          <p:cNvSpPr>
            <a:spLocks noGrp="1"/>
          </p:cNvSpPr>
          <p:nvPr/>
        </p:nvSpPr>
        <p:spPr>
          <a:xfrm>
            <a:off x="84328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BED2E9-FF3A-8DE0-6CBD-4DBEF9258A19}"/>
              </a:ext>
            </a:extLst>
          </p:cNvPr>
          <p:cNvSpPr>
            <a:spLocks noGrp="1"/>
          </p:cNvSpPr>
          <p:nvPr/>
        </p:nvSpPr>
        <p:spPr>
          <a:xfrm>
            <a:off x="8885767" y="1217047"/>
            <a:ext cx="2209800" cy="850898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76D847-0C3F-AF68-07AB-50262045B560}"/>
              </a:ext>
            </a:extLst>
          </p:cNvPr>
          <p:cNvSpPr>
            <a:spLocks noGrp="1"/>
          </p:cNvSpPr>
          <p:nvPr/>
        </p:nvSpPr>
        <p:spPr>
          <a:xfrm>
            <a:off x="8987367" y="1474572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F8FE1B-F513-A6F4-FEE3-817D730AE313}"/>
              </a:ext>
            </a:extLst>
          </p:cNvPr>
          <p:cNvSpPr>
            <a:spLocks noGrp="1"/>
          </p:cNvSpPr>
          <p:nvPr/>
        </p:nvSpPr>
        <p:spPr>
          <a:xfrm>
            <a:off x="9342967" y="1344047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置信度与可见性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D71AAA-E433-6FA4-E9E4-B720DC5D2BB0}"/>
              </a:ext>
            </a:extLst>
          </p:cNvPr>
          <p:cNvSpPr>
            <a:spLocks noGrp="1"/>
          </p:cNvSpPr>
          <p:nvPr/>
        </p:nvSpPr>
        <p:spPr>
          <a:xfrm>
            <a:off x="685800" y="25273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左右30°锚点：目标运动范围两端的“路标图”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E5ADA6-A9EC-B857-72CD-05FF8F5F0B1F}"/>
              </a:ext>
            </a:extLst>
          </p:cNvPr>
          <p:cNvSpPr>
            <a:spLocks noGrp="1"/>
          </p:cNvSpPr>
          <p:nvPr/>
        </p:nvSpPr>
        <p:spPr>
          <a:xfrm>
            <a:off x="1333500" y="3225800"/>
            <a:ext cx="1371600" cy="698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0E2A2F-D0CC-6BC2-4F14-1687F51CA469}"/>
              </a:ext>
            </a:extLst>
          </p:cNvPr>
          <p:cNvSpPr>
            <a:spLocks noGrp="1"/>
          </p:cNvSpPr>
          <p:nvPr/>
        </p:nvSpPr>
        <p:spPr>
          <a:xfrm>
            <a:off x="1460500" y="33147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左锚点</a:t>
            </a:r>
          </a:p>
          <a:p>
            <a:pPr algn="ctr">
              <a:buNone/>
            </a:pPr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−30°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C8B4E7-A90D-FAB2-DE6D-A1CD71675A3E}"/>
              </a:ext>
            </a:extLst>
          </p:cNvPr>
          <p:cNvSpPr>
            <a:spLocks noGrp="1"/>
          </p:cNvSpPr>
          <p:nvPr/>
        </p:nvSpPr>
        <p:spPr>
          <a:xfrm>
            <a:off x="5410200" y="3111500"/>
            <a:ext cx="1371600" cy="9017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E301A2-5FB0-2717-0BA3-4E515AD22981}"/>
              </a:ext>
            </a:extLst>
          </p:cNvPr>
          <p:cNvSpPr>
            <a:spLocks noGrp="1"/>
          </p:cNvSpPr>
          <p:nvPr/>
        </p:nvSpPr>
        <p:spPr>
          <a:xfrm>
            <a:off x="5537200" y="32512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中心视角</a:t>
            </a:r>
          </a:p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0329B1-A2D2-2957-94D7-F28CA1866FB8}"/>
              </a:ext>
            </a:extLst>
          </p:cNvPr>
          <p:cNvSpPr>
            <a:spLocks noGrp="1"/>
          </p:cNvSpPr>
          <p:nvPr/>
        </p:nvSpPr>
        <p:spPr>
          <a:xfrm>
            <a:off x="9486900" y="3225800"/>
            <a:ext cx="1371600" cy="698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7FB0D-41C8-BF3D-676B-A23E2F5613F7}"/>
              </a:ext>
            </a:extLst>
          </p:cNvPr>
          <p:cNvSpPr>
            <a:spLocks noGrp="1"/>
          </p:cNvSpPr>
          <p:nvPr/>
        </p:nvSpPr>
        <p:spPr>
          <a:xfrm>
            <a:off x="9613900" y="33147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右锚点</a:t>
            </a:r>
          </a:p>
          <a:p>
            <a:pPr algn="ctr">
              <a:buNone/>
            </a:pPr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+30°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0CB7FF0-0959-4DCB-9511-3C35FC6DE8A9}"/>
              </a:ext>
            </a:extLst>
          </p:cNvPr>
          <p:cNvSpPr>
            <a:spLocks noGrp="1"/>
          </p:cNvSpPr>
          <p:nvPr/>
        </p:nvSpPr>
        <p:spPr>
          <a:xfrm>
            <a:off x="2781300" y="3568700"/>
            <a:ext cx="2446867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4E16E5D-5531-42D4-929C-E9E70BB36091}"/>
              </a:ext>
            </a:extLst>
          </p:cNvPr>
          <p:cNvSpPr>
            <a:spLocks noGrp="1"/>
          </p:cNvSpPr>
          <p:nvPr/>
        </p:nvSpPr>
        <p:spPr>
          <a:xfrm flipV="1">
            <a:off x="6908800" y="3568700"/>
            <a:ext cx="2425700" cy="635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D3D874-44DD-000C-FAFE-6441DD3AC899}"/>
              </a:ext>
            </a:extLst>
          </p:cNvPr>
          <p:cNvSpPr>
            <a:spLocks noGrp="1"/>
          </p:cNvSpPr>
          <p:nvPr/>
        </p:nvSpPr>
        <p:spPr>
          <a:xfrm>
            <a:off x="4229100" y="4211598"/>
            <a:ext cx="3733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相邻锚点可见性加权融合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A47009-7103-0DDC-7832-A2217644DE19}"/>
              </a:ext>
            </a:extLst>
          </p:cNvPr>
          <p:cNvSpPr>
            <a:spLocks noGrp="1"/>
          </p:cNvSpPr>
          <p:nvPr/>
        </p:nvSpPr>
        <p:spPr>
          <a:xfrm>
            <a:off x="685800" y="4660900"/>
            <a:ext cx="10820400" cy="12827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65E049-9E9E-3638-7408-5C188264BD3D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103632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显露区域联合补全颜色、深度和Alpha，避免“颜色合理但几何接错”。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中间视角从相邻锚点插值，减少从中心图无限外推。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隐藏内容不可唯一恢复，评价重点是视觉合理与跨视角一致。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5BCD8A-887D-D6CD-5DFD-B3A892B0C7A6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材质感知Soft-LDI与移动端压缩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194192-3AC7-7CB8-1EE4-D30D627A3472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按区域保存少量RGB、Depth与Alpha图层，再通过剪枝和量化降低终端成本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9BFDA2-6D42-C761-E4E1-3741A7602D28}"/>
              </a:ext>
            </a:extLst>
          </p:cNvPr>
          <p:cNvSpPr>
            <a:spLocks noGrp="1"/>
          </p:cNvSpPr>
          <p:nvPr/>
        </p:nvSpPr>
        <p:spPr>
          <a:xfrm>
            <a:off x="1397000" y="1400802"/>
            <a:ext cx="355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材质感知Soft-LDI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C11A29-4B62-BDEF-914C-4933D5FB8087}"/>
              </a:ext>
            </a:extLst>
          </p:cNvPr>
          <p:cNvSpPr>
            <a:spLocks noGrp="1"/>
          </p:cNvSpPr>
          <p:nvPr/>
        </p:nvSpPr>
        <p:spPr>
          <a:xfrm>
            <a:off x="586317" y="2555422"/>
            <a:ext cx="2794000" cy="1498600"/>
          </a:xfrm>
          <a:prstGeom prst="rect">
            <a:avLst/>
          </a:prstGeom>
          <a:solidFill>
            <a:srgbClr val="EEF5FB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86A1A-3947-55CB-7324-C0112D147EF0}"/>
              </a:ext>
            </a:extLst>
          </p:cNvPr>
          <p:cNvSpPr>
            <a:spLocks noGrp="1"/>
          </p:cNvSpPr>
          <p:nvPr/>
        </p:nvSpPr>
        <p:spPr>
          <a:xfrm>
            <a:off x="789517" y="2352222"/>
            <a:ext cx="2794000" cy="1498600"/>
          </a:xfrm>
          <a:prstGeom prst="rect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F8DF0D-9412-7D30-2C76-4E2810DF5BF8}"/>
              </a:ext>
            </a:extLst>
          </p:cNvPr>
          <p:cNvSpPr>
            <a:spLocks noGrp="1"/>
          </p:cNvSpPr>
          <p:nvPr/>
        </p:nvSpPr>
        <p:spPr>
          <a:xfrm>
            <a:off x="992717" y="2149022"/>
            <a:ext cx="2794000" cy="1498600"/>
          </a:xfrm>
          <a:prstGeom prst="rect">
            <a:avLst/>
          </a:prstGeom>
          <a:solidFill>
            <a:srgbClr val="EEF5FB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581E08-BC87-3CA0-861F-2AA114780BF2}"/>
              </a:ext>
            </a:extLst>
          </p:cNvPr>
          <p:cNvSpPr>
            <a:spLocks noGrp="1"/>
          </p:cNvSpPr>
          <p:nvPr/>
        </p:nvSpPr>
        <p:spPr>
          <a:xfrm>
            <a:off x="1195917" y="1945822"/>
            <a:ext cx="2794000" cy="1498600"/>
          </a:xfrm>
          <a:prstGeom prst="rect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8B8453-F9CE-13FD-4887-3A07728F872F}"/>
              </a:ext>
            </a:extLst>
          </p:cNvPr>
          <p:cNvSpPr>
            <a:spLocks noGrp="1"/>
          </p:cNvSpPr>
          <p:nvPr/>
        </p:nvSpPr>
        <p:spPr>
          <a:xfrm>
            <a:off x="1068917" y="2400869"/>
            <a:ext cx="292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Layer = RGB + Depth + Alpha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882C7D-4ED3-448F-8F41-0D0E7E12620A}"/>
              </a:ext>
            </a:extLst>
          </p:cNvPr>
          <p:cNvSpPr>
            <a:spLocks noGrp="1"/>
          </p:cNvSpPr>
          <p:nvPr/>
        </p:nvSpPr>
        <p:spPr>
          <a:xfrm>
            <a:off x="548217" y="4206422"/>
            <a:ext cx="330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复杂材质区域可附加少量外观参数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5F4344-C12A-EA42-4EAA-0966129793E5}"/>
              </a:ext>
            </a:extLst>
          </p:cNvPr>
          <p:cNvSpPr>
            <a:spLocks noGrp="1"/>
          </p:cNvSpPr>
          <p:nvPr/>
        </p:nvSpPr>
        <p:spPr>
          <a:xfrm>
            <a:off x="5622924" y="1416454"/>
            <a:ext cx="1596814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压缩策略</a:t>
            </a:r>
            <a:endParaRPr sz="16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1A78A7-4155-EFC2-2BDD-6D56A61BA3E6}"/>
              </a:ext>
            </a:extLst>
          </p:cNvPr>
          <p:cNvSpPr>
            <a:spLocks noGrp="1"/>
          </p:cNvSpPr>
          <p:nvPr/>
        </p:nvSpPr>
        <p:spPr>
          <a:xfrm>
            <a:off x="5042958" y="2270499"/>
            <a:ext cx="30480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按图块使用自适应层数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删除低贡献像素或图层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量化Depth、Alpha与外观参数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按当前视角加载可见图块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64A1CB-6019-8F88-4C35-479650360BF4}"/>
              </a:ext>
            </a:extLst>
          </p:cNvPr>
          <p:cNvSpPr>
            <a:spLocks noGrp="1"/>
          </p:cNvSpPr>
          <p:nvPr/>
        </p:nvSpPr>
        <p:spPr>
          <a:xfrm>
            <a:off x="9279467" y="1378672"/>
            <a:ext cx="1261533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移动端交互</a:t>
            </a:r>
            <a:endParaRPr sz="16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DD68B4-54C0-4F6C-0C79-0F1B0E24339E}"/>
              </a:ext>
            </a:extLst>
          </p:cNvPr>
          <p:cNvSpPr>
            <a:spLocks noGrp="1"/>
          </p:cNvSpPr>
          <p:nvPr/>
        </p:nvSpPr>
        <p:spPr>
          <a:xfrm>
            <a:off x="9143999" y="1927732"/>
            <a:ext cx="1358901" cy="182218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EFCD7-3C7E-6C88-09C3-36AE70E13331}"/>
              </a:ext>
            </a:extLst>
          </p:cNvPr>
          <p:cNvSpPr>
            <a:spLocks noGrp="1"/>
          </p:cNvSpPr>
          <p:nvPr/>
        </p:nvSpPr>
        <p:spPr>
          <a:xfrm>
            <a:off x="9279467" y="2063465"/>
            <a:ext cx="1100666" cy="156295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D6C2E-B7C4-81C1-8273-61946860F179}"/>
              </a:ext>
            </a:extLst>
          </p:cNvPr>
          <p:cNvSpPr>
            <a:spLocks noGrp="1"/>
          </p:cNvSpPr>
          <p:nvPr/>
        </p:nvSpPr>
        <p:spPr>
          <a:xfrm>
            <a:off x="9203267" y="2073674"/>
            <a:ext cx="12319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IMU / 触摸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355897-476C-BDAD-DFC3-02E0EDF0AD43}"/>
              </a:ext>
            </a:extLst>
          </p:cNvPr>
          <p:cNvSpPr>
            <a:spLocks noGrp="1"/>
          </p:cNvSpPr>
          <p:nvPr/>
        </p:nvSpPr>
        <p:spPr>
          <a:xfrm>
            <a:off x="9203267" y="2492774"/>
            <a:ext cx="1231900" cy="1133644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Warping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Alpha合成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锚点融合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CA7FC-F86E-E065-EEAD-FEE4960B881E}"/>
              </a:ext>
            </a:extLst>
          </p:cNvPr>
          <p:cNvSpPr>
            <a:spLocks noGrp="1"/>
          </p:cNvSpPr>
          <p:nvPr/>
        </p:nvSpPr>
        <p:spPr>
          <a:xfrm>
            <a:off x="685800" y="4902200"/>
            <a:ext cx="10820400" cy="10414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F312DF-D13B-005B-E75E-B1187A54D5A4}"/>
              </a:ext>
            </a:extLst>
          </p:cNvPr>
          <p:cNvSpPr>
            <a:spLocks noGrp="1"/>
          </p:cNvSpPr>
          <p:nvPr/>
        </p:nvSpPr>
        <p:spPr>
          <a:xfrm>
            <a:off x="889000" y="5067300"/>
            <a:ext cx="1270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路线取舍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117037-0A42-35E5-4A7F-173745347944}"/>
              </a:ext>
            </a:extLst>
          </p:cNvPr>
          <p:cNvSpPr>
            <a:spLocks noGrp="1"/>
          </p:cNvSpPr>
          <p:nvPr/>
        </p:nvSpPr>
        <p:spPr>
          <a:xfrm>
            <a:off x="2286000" y="5067300"/>
            <a:ext cx="266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Soft-LDI：终端主路线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C4E2BB-1CC2-E79F-D0C0-ACDA19162561}"/>
              </a:ext>
            </a:extLst>
          </p:cNvPr>
          <p:cNvSpPr>
            <a:spLocks noGrp="1"/>
          </p:cNvSpPr>
          <p:nvPr/>
        </p:nvSpPr>
        <p:spPr>
          <a:xfrm>
            <a:off x="4953000" y="5067300"/>
            <a:ext cx="330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3DGS：教师 / 质量上界 / 对照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E6C4DC-DE45-E591-189B-FD3FD6A2105D}"/>
              </a:ext>
            </a:extLst>
          </p:cNvPr>
          <p:cNvSpPr>
            <a:spLocks noGrp="1"/>
          </p:cNvSpPr>
          <p:nvPr/>
        </p:nvSpPr>
        <p:spPr>
          <a:xfrm>
            <a:off x="8382000" y="5067300"/>
            <a:ext cx="266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Mesh：低复杂度备选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4B8BAA-C84E-E93F-404C-0B46A1B547C7}"/>
              </a:ext>
            </a:extLst>
          </p:cNvPr>
          <p:cNvSpPr>
            <a:spLocks noGrp="1"/>
          </p:cNvSpPr>
          <p:nvPr/>
        </p:nvSpPr>
        <p:spPr>
          <a:xfrm>
            <a:off x="889000" y="5524500"/>
            <a:ext cx="1038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交互阶段以显式图层渲染为主，不重复运行SHARP等重模型。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16CCB0-9221-7CA1-A91E-21CC6F50B5DE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CE99D7-76F6-F59F-4BDE-7F4171227ED5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material-to-compression-arrow">
            <a:extLst>
              <a:ext uri="{FF2B5EF4-FFF2-40B4-BE49-F238E27FC236}">
                <a16:creationId xmlns:a16="http://schemas.microsoft.com/office/drawing/2014/main" id="{49010E79-39BA-4818-B6E4-565D4761AB27}"/>
              </a:ext>
            </a:extLst>
          </p:cNvPr>
          <p:cNvSpPr>
            <a:spLocks noGrp="1"/>
          </p:cNvSpPr>
          <p:nvPr/>
        </p:nvSpPr>
        <p:spPr>
          <a:xfrm>
            <a:off x="4198408" y="2743573"/>
            <a:ext cx="5905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29" name="material-to-compression-arrow">
            <a:extLst>
              <a:ext uri="{FF2B5EF4-FFF2-40B4-BE49-F238E27FC236}">
                <a16:creationId xmlns:a16="http://schemas.microsoft.com/office/drawing/2014/main" id="{6BF28525-BD4D-B136-99E2-4519BDF01600}"/>
              </a:ext>
            </a:extLst>
          </p:cNvPr>
          <p:cNvSpPr>
            <a:spLocks noGrp="1"/>
          </p:cNvSpPr>
          <p:nvPr/>
        </p:nvSpPr>
        <p:spPr>
          <a:xfrm>
            <a:off x="8026928" y="2743573"/>
            <a:ext cx="5905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733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028856-7DE6-86DB-4103-959F370881C7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分阶段训练与教师蒸馏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4B9DDB-B573-5F93-C88B-818311D02EFD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训练可使用多视图和高质量3DGS监督；测试仍严格保持单张RGB输入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AB34C0-4557-1C21-8DA0-ABC678A8C137}"/>
              </a:ext>
            </a:extLst>
          </p:cNvPr>
          <p:cNvSpPr>
            <a:spLocks noGrp="1"/>
          </p:cNvSpPr>
          <p:nvPr/>
        </p:nvSpPr>
        <p:spPr>
          <a:xfrm>
            <a:off x="685800" y="1193800"/>
            <a:ext cx="2286000" cy="8636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8CFC38-DE7D-79B8-B0EE-2ED92EF92751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1981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SHARP / 3DGS</a:t>
            </a:r>
          </a:p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重教师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7EFBC8D-7DF4-4DE1-B125-A2D3812BD3C7}"/>
              </a:ext>
            </a:extLst>
          </p:cNvPr>
          <p:cNvSpPr>
            <a:spLocks noGrp="1"/>
          </p:cNvSpPr>
          <p:nvPr/>
        </p:nvSpPr>
        <p:spPr>
          <a:xfrm>
            <a:off x="2997200" y="1625600"/>
            <a:ext cx="1168400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6763EB-CE02-9070-35D2-37009198A91A}"/>
              </a:ext>
            </a:extLst>
          </p:cNvPr>
          <p:cNvSpPr>
            <a:spLocks noGrp="1"/>
          </p:cNvSpPr>
          <p:nvPr/>
        </p:nvSpPr>
        <p:spPr>
          <a:xfrm>
            <a:off x="4191000" y="1193800"/>
            <a:ext cx="2997200" cy="8636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31C46-3EE6-97E2-2A99-7FD2E0F1A18F}"/>
              </a:ext>
            </a:extLst>
          </p:cNvPr>
          <p:cNvSpPr>
            <a:spLocks noGrp="1"/>
          </p:cNvSpPr>
          <p:nvPr/>
        </p:nvSpPr>
        <p:spPr>
          <a:xfrm>
            <a:off x="4343400" y="1333500"/>
            <a:ext cx="26924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轻量Student</a:t>
            </a:r>
          </a:p>
          <a:p>
            <a:pPr algn="ctr">
              <a:buNone/>
            </a:pPr>
            <a:r>
              <a:rPr sz="16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 → Soft-LDI + 锚点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B98A5AC4-D780-4A69-B8FA-BB4F81EB2DFF}"/>
              </a:ext>
            </a:extLst>
          </p:cNvPr>
          <p:cNvSpPr>
            <a:spLocks noGrp="1"/>
          </p:cNvSpPr>
          <p:nvPr/>
        </p:nvSpPr>
        <p:spPr>
          <a:xfrm>
            <a:off x="7213600" y="1625600"/>
            <a:ext cx="1092200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D8558F-F344-C5C0-40EC-AADC2E33E864}"/>
              </a:ext>
            </a:extLst>
          </p:cNvPr>
          <p:cNvSpPr>
            <a:spLocks noGrp="1"/>
          </p:cNvSpPr>
          <p:nvPr/>
        </p:nvSpPr>
        <p:spPr>
          <a:xfrm>
            <a:off x="8331200" y="1193800"/>
            <a:ext cx="3175000" cy="8636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54A8C9-8F84-3315-F0FB-1993987B6FA0}"/>
              </a:ext>
            </a:extLst>
          </p:cNvPr>
          <p:cNvSpPr>
            <a:spLocks noGrp="1"/>
          </p:cNvSpPr>
          <p:nvPr/>
        </p:nvSpPr>
        <p:spPr>
          <a:xfrm>
            <a:off x="8483600" y="1333500"/>
            <a:ext cx="2870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移动端显式渲染</a:t>
            </a:r>
          </a:p>
          <a:p>
            <a:pPr algn="ctr"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交互阶段不运行重模型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9DA0A2-CB61-4C49-51A5-CCFC8089092D}"/>
              </a:ext>
            </a:extLst>
          </p:cNvPr>
          <p:cNvSpPr>
            <a:spLocks noGrp="1"/>
          </p:cNvSpPr>
          <p:nvPr/>
        </p:nvSpPr>
        <p:spPr>
          <a:xfrm>
            <a:off x="685800" y="24130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四阶段训练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F00528-4259-8029-7571-C81BE748F4F4}"/>
              </a:ext>
            </a:extLst>
          </p:cNvPr>
          <p:cNvSpPr>
            <a:spLocks noGrp="1"/>
          </p:cNvSpPr>
          <p:nvPr/>
        </p:nvSpPr>
        <p:spPr>
          <a:xfrm>
            <a:off x="6858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AD6BDA-993E-DDEF-559C-595CFD4FC2EB}"/>
              </a:ext>
            </a:extLst>
          </p:cNvPr>
          <p:cNvSpPr>
            <a:spLocks noGrp="1"/>
          </p:cNvSpPr>
          <p:nvPr/>
        </p:nvSpPr>
        <p:spPr>
          <a:xfrm>
            <a:off x="6858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56D282-CB8A-8CD3-8A93-673D5509D0B5}"/>
              </a:ext>
            </a:extLst>
          </p:cNvPr>
          <p:cNvSpPr>
            <a:spLocks noGrp="1"/>
          </p:cNvSpPr>
          <p:nvPr/>
        </p:nvSpPr>
        <p:spPr>
          <a:xfrm>
            <a:off x="8382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深度、边缘、Base+Delta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F83492-559A-9947-2AFD-ECAAF354B1CF}"/>
              </a:ext>
            </a:extLst>
          </p:cNvPr>
          <p:cNvSpPr>
            <a:spLocks noGrp="1"/>
          </p:cNvSpPr>
          <p:nvPr/>
        </p:nvSpPr>
        <p:spPr>
          <a:xfrm>
            <a:off x="34290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955ABE-CC5A-08B5-BA30-A7E2DD068332}"/>
              </a:ext>
            </a:extLst>
          </p:cNvPr>
          <p:cNvSpPr>
            <a:spLocks noGrp="1"/>
          </p:cNvSpPr>
          <p:nvPr/>
        </p:nvSpPr>
        <p:spPr>
          <a:xfrm>
            <a:off x="34290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5E0595-D08C-0C1C-39D6-BB4A635E654B}"/>
              </a:ext>
            </a:extLst>
          </p:cNvPr>
          <p:cNvSpPr>
            <a:spLocks noGrp="1"/>
          </p:cNvSpPr>
          <p:nvPr/>
        </p:nvSpPr>
        <p:spPr>
          <a:xfrm>
            <a:off x="35814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由小视角逐步训练至30°目标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48B5C1-B3BE-6B2F-3145-C7525182C515}"/>
              </a:ext>
            </a:extLst>
          </p:cNvPr>
          <p:cNvSpPr>
            <a:spLocks noGrp="1"/>
          </p:cNvSpPr>
          <p:nvPr/>
        </p:nvSpPr>
        <p:spPr>
          <a:xfrm>
            <a:off x="61722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280FF7-35D3-30F8-5D87-51C6266920E5}"/>
              </a:ext>
            </a:extLst>
          </p:cNvPr>
          <p:cNvSpPr>
            <a:spLocks noGrp="1"/>
          </p:cNvSpPr>
          <p:nvPr/>
        </p:nvSpPr>
        <p:spPr>
          <a:xfrm>
            <a:off x="61722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9F1284-2917-0455-A8BB-F9838790E76E}"/>
              </a:ext>
            </a:extLst>
          </p:cNvPr>
          <p:cNvSpPr>
            <a:spLocks noGrp="1"/>
          </p:cNvSpPr>
          <p:nvPr/>
        </p:nvSpPr>
        <p:spPr>
          <a:xfrm>
            <a:off x="63246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感知、材质和跨视角稳定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E15691-D12C-626F-7D2C-282EC4FB3ACD}"/>
              </a:ext>
            </a:extLst>
          </p:cNvPr>
          <p:cNvSpPr>
            <a:spLocks noGrp="1"/>
          </p:cNvSpPr>
          <p:nvPr/>
        </p:nvSpPr>
        <p:spPr>
          <a:xfrm>
            <a:off x="89154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327F61-BCF3-45A3-FB80-43331DBA1AD7}"/>
              </a:ext>
            </a:extLst>
          </p:cNvPr>
          <p:cNvSpPr>
            <a:spLocks noGrp="1"/>
          </p:cNvSpPr>
          <p:nvPr/>
        </p:nvSpPr>
        <p:spPr>
          <a:xfrm>
            <a:off x="89154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A9E71B1-9DEB-B0D3-6F97-6C539EB6D17C}"/>
              </a:ext>
            </a:extLst>
          </p:cNvPr>
          <p:cNvSpPr>
            <a:spLocks noGrp="1"/>
          </p:cNvSpPr>
          <p:nvPr/>
        </p:nvSpPr>
        <p:spPr>
          <a:xfrm>
            <a:off x="90678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教师能力压缩到Student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38E07F-6CF3-732D-5083-D7DD5D9AB151}"/>
              </a:ext>
            </a:extLst>
          </p:cNvPr>
          <p:cNvSpPr>
            <a:spLocks noGrp="1"/>
          </p:cNvSpPr>
          <p:nvPr/>
        </p:nvSpPr>
        <p:spPr>
          <a:xfrm>
            <a:off x="685800" y="4711700"/>
            <a:ext cx="10820400" cy="1206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FF2C51-A5B3-27EC-CBBE-A65C603B45AC}"/>
              </a:ext>
            </a:extLst>
          </p:cNvPr>
          <p:cNvSpPr>
            <a:spLocks noGrp="1"/>
          </p:cNvSpPr>
          <p:nvPr/>
        </p:nvSpPr>
        <p:spPr>
          <a:xfrm>
            <a:off x="889000" y="4864100"/>
            <a:ext cx="1270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损失设计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7C1844C-72F7-2878-4A75-C80006C8E2F8}"/>
              </a:ext>
            </a:extLst>
          </p:cNvPr>
          <p:cNvSpPr>
            <a:spLocks noGrp="1"/>
          </p:cNvSpPr>
          <p:nvPr/>
        </p:nvSpPr>
        <p:spPr>
          <a:xfrm>
            <a:off x="2286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重建与感知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C5906BC-51F7-15F0-CA34-00897124B4A0}"/>
              </a:ext>
            </a:extLst>
          </p:cNvPr>
          <p:cNvSpPr>
            <a:spLocks noGrp="1"/>
          </p:cNvSpPr>
          <p:nvPr/>
        </p:nvSpPr>
        <p:spPr>
          <a:xfrm>
            <a:off x="2286000" y="52070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RGB · DISTS / LPIPS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6D720F-AD52-1800-140B-6E9163215D4E}"/>
              </a:ext>
            </a:extLst>
          </p:cNvPr>
          <p:cNvSpPr>
            <a:spLocks noGrp="1"/>
          </p:cNvSpPr>
          <p:nvPr/>
        </p:nvSpPr>
        <p:spPr>
          <a:xfrm>
            <a:off x="4191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几何与结构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246B58E-ED76-F385-8054-415678DF01ED}"/>
              </a:ext>
            </a:extLst>
          </p:cNvPr>
          <p:cNvSpPr>
            <a:spLocks noGrp="1"/>
          </p:cNvSpPr>
          <p:nvPr/>
        </p:nvSpPr>
        <p:spPr>
          <a:xfrm>
            <a:off x="4191000" y="52070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Depth · 边缘 · 连接性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65DE57C-08E6-7671-1365-E56AA30ACAC7}"/>
              </a:ext>
            </a:extLst>
          </p:cNvPr>
          <p:cNvSpPr>
            <a:spLocks noGrp="1"/>
          </p:cNvSpPr>
          <p:nvPr/>
        </p:nvSpPr>
        <p:spPr>
          <a:xfrm>
            <a:off x="6096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显露与连续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D2D1662-4FDB-34A1-97BA-87B8B5792642}"/>
              </a:ext>
            </a:extLst>
          </p:cNvPr>
          <p:cNvSpPr>
            <a:spLocks noGrp="1"/>
          </p:cNvSpPr>
          <p:nvPr/>
        </p:nvSpPr>
        <p:spPr>
          <a:xfrm>
            <a:off x="6096000" y="5207000"/>
            <a:ext cx="1905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RGB-D-Alpha · 锚点一致性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4B010C-19CE-BC58-727E-DC60D88F6DF2}"/>
              </a:ext>
            </a:extLst>
          </p:cNvPr>
          <p:cNvSpPr>
            <a:spLocks noGrp="1"/>
          </p:cNvSpPr>
          <p:nvPr/>
        </p:nvSpPr>
        <p:spPr>
          <a:xfrm>
            <a:off x="8509000" y="4864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效率正则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3E4E41-F418-4B41-56DB-0A41937ECDB5}"/>
              </a:ext>
            </a:extLst>
          </p:cNvPr>
          <p:cNvSpPr>
            <a:spLocks noGrp="1"/>
          </p:cNvSpPr>
          <p:nvPr/>
        </p:nvSpPr>
        <p:spPr>
          <a:xfrm>
            <a:off x="8255000" y="5207000"/>
            <a:ext cx="2286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层数 · 大小 · 低贡献元素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EEA426-513B-51C2-2F2C-890076ABA91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68558C8-7203-A4D4-B9A9-7D8A7CCDD49D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3E3FFD-7CCC-7755-1511-9AC0F02A6179}"/>
              </a:ext>
            </a:extLst>
          </p:cNvPr>
          <p:cNvSpPr>
            <a:spLocks noGrp="1"/>
          </p:cNvSpPr>
          <p:nvPr/>
        </p:nvSpPr>
        <p:spPr>
          <a:xfrm>
            <a:off x="90170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4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蒸馏·剪枝·量化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99C73E-C50D-6343-5455-D727167BE4BF}"/>
              </a:ext>
            </a:extLst>
          </p:cNvPr>
          <p:cNvSpPr>
            <a:spLocks noGrp="1"/>
          </p:cNvSpPr>
          <p:nvPr/>
        </p:nvSpPr>
        <p:spPr>
          <a:xfrm>
            <a:off x="7874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几何预训练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236AF4-D2C9-54D7-569B-36AD6BBB2B4D}"/>
              </a:ext>
            </a:extLst>
          </p:cNvPr>
          <p:cNvSpPr>
            <a:spLocks noGrp="1"/>
          </p:cNvSpPr>
          <p:nvPr/>
        </p:nvSpPr>
        <p:spPr>
          <a:xfrm>
            <a:off x="62738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3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真实图像微调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3F77A4-A82D-D8BF-7554-B77E3D19C8E4}"/>
              </a:ext>
            </a:extLst>
          </p:cNvPr>
          <p:cNvSpPr>
            <a:spLocks noGrp="1"/>
          </p:cNvSpPr>
          <p:nvPr/>
        </p:nvSpPr>
        <p:spPr>
          <a:xfrm>
            <a:off x="35306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2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视角课程</a:t>
            </a:r>
          </a:p>
        </p:txBody>
      </p:sp>
    </p:spTree>
    <p:extLst>
      <p:ext uri="{BB962C8B-B14F-4D97-AF65-F5344CB8AC3E}">
        <p14:creationId xmlns:p14="http://schemas.microsoft.com/office/powerpoint/2010/main" val="1528494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633102-43F7-6DB5-D080-027DF9204C72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实验验证、技术风险与讨论问题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546EDF-E5C3-9554-3ABB-0603F5F54E53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评价口径和适用场景需要先与导师确认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F3EC4-4D78-A980-298A-EAE2319A837E}"/>
              </a:ext>
            </a:extLst>
          </p:cNvPr>
          <p:cNvSpPr>
            <a:spLocks noGrp="1"/>
          </p:cNvSpPr>
          <p:nvPr/>
        </p:nvSpPr>
        <p:spPr>
          <a:xfrm>
            <a:off x="685800" y="1221906"/>
            <a:ext cx="275844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验证实验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27B15F-320B-1811-67AA-249E51E1DB65}"/>
              </a:ext>
            </a:extLst>
          </p:cNvPr>
          <p:cNvSpPr>
            <a:spLocks noGrp="1"/>
          </p:cNvSpPr>
          <p:nvPr/>
        </p:nvSpPr>
        <p:spPr>
          <a:xfrm>
            <a:off x="685800" y="1786394"/>
            <a:ext cx="6248400" cy="6858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17A3E2-B18D-4DF9-C5A2-2E79E1C70035}"/>
              </a:ext>
            </a:extLst>
          </p:cNvPr>
          <p:cNvSpPr>
            <a:spLocks noGrp="1"/>
          </p:cNvSpPr>
          <p:nvPr/>
        </p:nvSpPr>
        <p:spPr>
          <a:xfrm>
            <a:off x="838200" y="18752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视角范围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487D25-3DE2-E6D9-D1D8-59CEC1119F09}"/>
              </a:ext>
            </a:extLst>
          </p:cNvPr>
          <p:cNvSpPr>
            <a:spLocks noGrp="1"/>
          </p:cNvSpPr>
          <p:nvPr/>
        </p:nvSpPr>
        <p:spPr>
          <a:xfrm>
            <a:off x="2413000" y="18752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5° / 15° / 30°连续轨迹；记录首次明显伪影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6D88E5-3B21-F7A6-4576-DAF23CAE25BC}"/>
              </a:ext>
            </a:extLst>
          </p:cNvPr>
          <p:cNvSpPr>
            <a:spLocks noGrp="1"/>
          </p:cNvSpPr>
          <p:nvPr/>
        </p:nvSpPr>
        <p:spPr>
          <a:xfrm>
            <a:off x="685800" y="2611894"/>
            <a:ext cx="62484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08B659-9C9D-2D6B-9C8F-1FA8ABE73358}"/>
              </a:ext>
            </a:extLst>
          </p:cNvPr>
          <p:cNvSpPr>
            <a:spLocks noGrp="1"/>
          </p:cNvSpPr>
          <p:nvPr/>
        </p:nvSpPr>
        <p:spPr>
          <a:xfrm>
            <a:off x="838200" y="27007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画质与一致性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425CB-1A8B-58F8-46A9-AA897CF8DA6C}"/>
              </a:ext>
            </a:extLst>
          </p:cNvPr>
          <p:cNvSpPr>
            <a:spLocks noGrp="1"/>
          </p:cNvSpPr>
          <p:nvPr/>
        </p:nvSpPr>
        <p:spPr>
          <a:xfrm>
            <a:off x="2413000" y="27007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DISTS、LPIPS、SSIM与人工跨视角评分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11E9A-A6AC-051A-A456-8A5326AC17C8}"/>
              </a:ext>
            </a:extLst>
          </p:cNvPr>
          <p:cNvSpPr>
            <a:spLocks noGrp="1"/>
          </p:cNvSpPr>
          <p:nvPr/>
        </p:nvSpPr>
        <p:spPr>
          <a:xfrm>
            <a:off x="685800" y="3437394"/>
            <a:ext cx="6248400" cy="6858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22E604-56F6-23A2-6572-5342ADE46046}"/>
              </a:ext>
            </a:extLst>
          </p:cNvPr>
          <p:cNvSpPr>
            <a:spLocks noGrp="1"/>
          </p:cNvSpPr>
          <p:nvPr/>
        </p:nvSpPr>
        <p:spPr>
          <a:xfrm>
            <a:off x="838200" y="35262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模块消融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C4737C-ABF1-7B69-D78E-4E56E3EAC7C9}"/>
              </a:ext>
            </a:extLst>
          </p:cNvPr>
          <p:cNvSpPr>
            <a:spLocks noGrp="1"/>
          </p:cNvSpPr>
          <p:nvPr/>
        </p:nvSpPr>
        <p:spPr>
          <a:xfrm>
            <a:off x="2413000" y="35262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 Alpha、自适应层数、补全和双锚点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2F666A-4AD1-36B3-D7CA-3D4A22BCC3CB}"/>
              </a:ext>
            </a:extLst>
          </p:cNvPr>
          <p:cNvSpPr>
            <a:spLocks noGrp="1"/>
          </p:cNvSpPr>
          <p:nvPr/>
        </p:nvSpPr>
        <p:spPr>
          <a:xfrm>
            <a:off x="685800" y="4262894"/>
            <a:ext cx="62484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212260-D88A-337B-BBF6-A8CE3CFC6AE3}"/>
              </a:ext>
            </a:extLst>
          </p:cNvPr>
          <p:cNvSpPr>
            <a:spLocks noGrp="1"/>
          </p:cNvSpPr>
          <p:nvPr/>
        </p:nvSpPr>
        <p:spPr>
          <a:xfrm>
            <a:off x="838200" y="43517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效率与表示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9C0796-AF58-F1C4-1700-8E471CDC3991}"/>
              </a:ext>
            </a:extLst>
          </p:cNvPr>
          <p:cNvSpPr>
            <a:spLocks noGrp="1"/>
          </p:cNvSpPr>
          <p:nvPr/>
        </p:nvSpPr>
        <p:spPr>
          <a:xfrm>
            <a:off x="2413000" y="43517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2K时间、内存、表示大小及端侧帧率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E902E-1E96-6455-C4EB-F4171268CB5C}"/>
              </a:ext>
            </a:extLst>
          </p:cNvPr>
          <p:cNvSpPr>
            <a:spLocks noGrp="1"/>
          </p:cNvSpPr>
          <p:nvPr/>
        </p:nvSpPr>
        <p:spPr>
          <a:xfrm>
            <a:off x="7366000" y="1221078"/>
            <a:ext cx="112776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  <a:endParaRPr sz="1600" b="1" dirty="0">
              <a:solidFill>
                <a:srgbClr val="C6282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B4857E-4434-8A3D-78D4-7F861D1230E1}"/>
              </a:ext>
            </a:extLst>
          </p:cNvPr>
          <p:cNvSpPr>
            <a:spLocks noGrp="1"/>
          </p:cNvSpPr>
          <p:nvPr/>
        </p:nvSpPr>
        <p:spPr>
          <a:xfrm>
            <a:off x="7366000" y="1785566"/>
            <a:ext cx="4140200" cy="996563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77974E-0581-2B1A-CD83-CB32BD53897D}"/>
              </a:ext>
            </a:extLst>
          </p:cNvPr>
          <p:cNvSpPr>
            <a:spLocks noGrp="1"/>
          </p:cNvSpPr>
          <p:nvPr/>
        </p:nvSpPr>
        <p:spPr>
          <a:xfrm>
            <a:off x="7543800" y="1912566"/>
            <a:ext cx="3784600" cy="770394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30°可能只适用于部分场景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锚点生成可能与2K&lt;5s冲突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透明和镜面材质可能超过Soft-LDI上限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9103D3-33C0-737E-E42E-354DCB4A466A}"/>
              </a:ext>
            </a:extLst>
          </p:cNvPr>
          <p:cNvSpPr>
            <a:spLocks noGrp="1"/>
          </p:cNvSpPr>
          <p:nvPr/>
        </p:nvSpPr>
        <p:spPr>
          <a:xfrm>
            <a:off x="7366000" y="3276600"/>
            <a:ext cx="4140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需要导师确认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3427FE-E39E-2936-7590-9AF8BC87D12F}"/>
              </a:ext>
            </a:extLst>
          </p:cNvPr>
          <p:cNvSpPr>
            <a:spLocks noGrp="1"/>
          </p:cNvSpPr>
          <p:nvPr/>
        </p:nvSpPr>
        <p:spPr>
          <a:xfrm>
            <a:off x="7366000" y="3708400"/>
            <a:ext cx="4140200" cy="1229747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DA2619-5060-D543-87E2-5F4B82324732}"/>
              </a:ext>
            </a:extLst>
          </p:cNvPr>
          <p:cNvSpPr>
            <a:spLocks noGrp="1"/>
          </p:cNvSpPr>
          <p:nvPr/>
        </p:nvSpPr>
        <p:spPr>
          <a:xfrm>
            <a:off x="7543800" y="3835400"/>
            <a:ext cx="3784600" cy="1102747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30°是全场景要求，还是推荐场景内达到？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DISTS参考图像和目标视角如何获得？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2K&lt;5s是否包含完整生成与文件写出？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是否允许端侧NPU/GPU运行小型残差网络？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D06AD8-9694-8012-2E7B-0C22E3D35E9A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CF5ECA-C718-2183-7E39-DBA1FA169C23}"/>
              </a:ext>
            </a:extLst>
          </p:cNvPr>
          <p:cNvSpPr>
            <a:spLocks noGrp="1"/>
          </p:cNvSpPr>
          <p:nvPr/>
        </p:nvSpPr>
        <p:spPr>
          <a:xfrm>
            <a:off x="889000" y="5829300"/>
            <a:ext cx="10414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讨论目标：先冻结评价边界，再确定模型结构与最终表示。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ED8996-0BF6-773C-E107-289130731432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651D344-33FE-AC7F-D822-7FAAE95C0945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354175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DocSecurity>0</DocSecurity>
  <PresentationFormat>宽屏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Microsoft YaHei</vt:lpstr>
      <vt:lpstr>Microsoft YaHei</vt:lpstr>
      <vt:lpstr>微软雅黑 Light</vt:lpstr>
      <vt:lpstr>Arial</vt:lpstr>
      <vt:lpstr>WPS</vt:lpstr>
      <vt:lpstr>单张2D图像转浅3D表达 总体Framework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3</cp:revision>
  <dcterms:created xsi:type="dcterms:W3CDTF">2026-07-22T08:34:18Z</dcterms:created>
  <dcterms:modified xsi:type="dcterms:W3CDTF">2026-07-22T08:42:03Z</dcterms:modified>
</cp:coreProperties>
</file>