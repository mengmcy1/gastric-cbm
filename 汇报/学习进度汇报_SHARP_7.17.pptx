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2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856" y="-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本次汇报围绕SHARP展开，重点不是复述全文，而是说明我对方法、源码和复现进度的理解。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这一阶段完成了论文方法、训练策略和消融实验阅读，梳理了推理主链路，并跑通预测、PLY导出与新视角渲染流程。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SHARP从单张RGB一次前向生成可度量3DGS，面向小于约0.5米基线的附近视角。这里的论文速度口径与本地CLI口径不同。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图中绿色和橙色分别代表可学习模块，蓝色代表固定可微模块。Depth Adjustment需要预测深度和精确深度共同输入，因此只在Stage 1合成训练中使用；Stage 2和推理阶段使用恒等映射。最终输出约118万个高斯。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从实现性质看，Feature Encoder、Depth Decoder和Gaussian Decoder由网络学习；Initializer、Composer和Renderer主要由固定规则完成。Depth Adjustment只服务于Stage 1训练。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Depth Pro的全局ViT负责低分辨率全局结构，局部ViT负责高分辨率细节。两路并行提取后形成由细到粗的多尺度特征，并同时提供给Depth Decoder和Gaussian Decoder。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Depth Decoder逐级融合多尺度特征，深度头的末层卷积被复制为两个输出通道。网络先预测双层视差，再结合焦距和相机内参转换为metric depth。第一层主要描述可见表面；第二层没有隐藏深度真值，主要通过渲染相关损失学习。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Initializer用固定规则把RGB和双层深度变成Base Gaussians。这样Decoder学习的是相对初值的修正，而不是从零回归全部属性。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Decoder有两路输入，最终输出14维Delta。源码显示位置分支只预测3维，其他11维由纹理分支预测，这是我重点核对过的实现细节。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Composer先把Base映射到属性对应的激活空间，再叠加带倍率的Delta。这样既保证参数范围合法，又保留Delta为零时结果等于Base的性质。δ等于400是残差阈值，不是像素范围。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1使用合成多视图、精确深度和相机参数学习几何与渲染。Stage 2面对没有新视角真值的真实单图，先生成伪新视角，再交换输入和目标进行自监督微调。论文Fig.11显示结果主观上更锐利。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损失分为渲染重建、深度约束、高斯正则和Depth Adjustment信息瓶颈四组。消融显示深度损失把ScanNet++ DISTS从0.229降到0.162，感知损失进一步降到0.063，是质量提升的主要来源；正则项主要减少退化高斯并改善速度。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其他消融表明，Depth Adjustment和解冻深度骨干都能改善感知指标；高斯数量从两层192平方增加到两层768平方时，DISTS由0.110降到0.064。SSFT数值改善不一致，但主观图像更锐利。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本地已经跑通官方预测、PLY导出和新视角渲染流程。单张图像输出1,179,648个高斯，PLY约64 MB。网络前向约1.26秒，后处理约4.23秒，冷启动完整预测约28秒。首次渲染约91秒，其中CUDA扩展初始化约77.6秒；热启动60帧约13.98秒，CLI端到端约4.29 FPS。这些是完整命令行流程数据，不能直接与论文常驻GPU纯渲染约100 FPS比较。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这一页用于展示真实单张照片的复现结果。每个案例保持输入图、预测深度和新视角渲染一一对应，便于观察深度质量与最终渲染之间的关系。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这一页不只展示失败图，而是把问题拆成观察现象、可能原因和验证方式。后续会重点对照深度边界、双层深度、</a:t>
            </a:r>
            <a:r>
              <a:rPr lang="en-US" altLang="zh-CN"/>
              <a:t>PLY</a:t>
            </a:r>
            <a:r>
              <a:rPr lang="zh-CN" altLang="en-US"/>
              <a:t>和相机轨迹，避免仅凭渲染结果猜测原因。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失败案例主要由深度初始化错误引起。工程上还要考虑模型参数量、单场景大小、CPU SVD后处理、CUDA渲染器和附近视角限制。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下一步先扩充不同类型的真实图片测试，建立输入、深度、</a:t>
            </a:r>
            <a:r>
              <a:rPr lang="en-US" altLang="zh-CN"/>
              <a:t>PLY</a:t>
            </a:r>
            <a:r>
              <a:rPr lang="zh-CN" altLang="en-US"/>
              <a:t>与渲染结果之间的对应关系，再归纳空洞、漂浮和深度错误。之后测试高斯裁剪、量化和场景大小，最后根据质量与移动端成本决定表示路线。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2026/7/16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9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80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3" name="HUST Solid Logo">
            <a:extLst>
              <a:ext uri="{FF2B5EF4-FFF2-40B4-BE49-F238E27FC236}">
                <a16:creationId xmlns:a16="http://schemas.microsoft.com/office/drawing/2014/main" id="{9BF58D07-F9E5-6848-B9E8-9B42FBCED1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2026/7/16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84F5D-031D-407D-AD40-B465C5F60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764030"/>
            <a:ext cx="9144000" cy="19596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3500"/>
              <a:t>SHARP论文精读、源码复现</a:t>
            </a:r>
          </a:p>
          <a:p>
            <a:pPr marL="0" indent="0">
              <a:lnSpc>
                <a:spcPct val="150000"/>
              </a:lnSpc>
              <a:buNone/>
            </a:pPr>
            <a:r>
              <a:rPr sz="3500"/>
              <a:t>与课题启发</a:t>
            </a: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A4C882D1-AD97-4CAC-B43F-16F20B4984C1}"/>
              </a:ext>
            </a:extLst>
          </p:cNvPr>
          <p:cNvSpPr>
            <a:spLocks noGrp="1"/>
          </p:cNvSpPr>
          <p:nvPr/>
        </p:nvSpPr>
        <p:spPr>
          <a:xfrm>
            <a:off x="33356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0D5AB70-5DCD-4015-851E-F7DB1E8DC31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159760" y="4580255"/>
            <a:ext cx="2531110" cy="438785"/>
          </a:xfrm>
        </p:spPr>
        <p:txBody>
          <a:bodyPr>
            <a:normAutofit fontScale="87115" lnSpcReduction="10000"/>
          </a:bodyPr>
          <a:lstStyle/>
          <a:p>
            <a:pPr marL="0" indent="0">
              <a:buNone/>
            </a:pPr>
            <a:r>
              <a:rPr sz="2000">
                <a:solidFill>
                  <a:schemeClr val="accent1"/>
                </a:solidFill>
              </a:rPr>
              <a:t>汇报人：孟辰洋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CBFCFBDB-FEAD-4C32-883A-E5ECB37B1E99}"/>
              </a:ext>
            </a:extLst>
          </p:cNvPr>
          <p:cNvSpPr>
            <a:spLocks noGrp="1"/>
          </p:cNvSpPr>
          <p:nvPr/>
        </p:nvSpPr>
        <p:spPr>
          <a:xfrm>
            <a:off x="63074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" name="文本占位符 6">
            <a:extLst>
              <a:ext uri="{FF2B5EF4-FFF2-40B4-BE49-F238E27FC236}">
                <a16:creationId xmlns:a16="http://schemas.microsoft.com/office/drawing/2014/main" id="{499FF255-4201-41C9-B696-0668C8BEE232}"/>
              </a:ext>
            </a:extLst>
          </p:cNvPr>
          <p:cNvSpPr>
            <a:spLocks noGrp="1"/>
          </p:cNvSpPr>
          <p:nvPr/>
        </p:nvSpPr>
        <p:spPr>
          <a:xfrm>
            <a:off x="6131560" y="4580255"/>
            <a:ext cx="2531110" cy="43878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228600" indent="-228600" algn="ctr">
              <a:lnSpc>
                <a:spcPct val="90000"/>
              </a:lnSpc>
              <a:spcBef>
                <a:spcPts val="1000"/>
              </a:spcBef>
              <a:buChar char="•"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2000">
                <a:solidFill>
                  <a:schemeClr val="accent1"/>
                </a:solidFill>
              </a:rPr>
              <a:t>时间：2026.7.17</a:t>
            </a:r>
          </a:p>
        </p:txBody>
      </p:sp>
      <p:sp>
        <p:nvSpPr>
          <p:cNvPr id="21" name="text-1">
            <a:extLst>
              <a:ext uri="{FF2B5EF4-FFF2-40B4-BE49-F238E27FC236}">
                <a16:creationId xmlns:a16="http://schemas.microsoft.com/office/drawing/2014/main" id="{83F630CD-17DD-494A-ACB0-897493689607}"/>
              </a:ext>
            </a:extLst>
          </p:cNvPr>
          <p:cNvSpPr>
            <a:spLocks noGrp="1"/>
          </p:cNvSpPr>
          <p:nvPr/>
        </p:nvSpPr>
        <p:spPr>
          <a:xfrm>
            <a:off x="2095500" y="3676650"/>
            <a:ext cx="800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单图新视角合成 / 前馈式3DGS</a:t>
            </a: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">
            <a:extLst>
              <a:ext uri="{FF2B5EF4-FFF2-40B4-BE49-F238E27FC236}">
                <a16:creationId xmlns:a16="http://schemas.microsoft.com/office/drawing/2014/main" id="{A757CF69-6873-4C62-9775-103F33136396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本阶段完成工作</a:t>
            </a:r>
          </a:p>
        </p:txBody>
      </p:sp>
      <p:sp>
        <p:nvSpPr>
          <p:cNvPr id="2" name="text-3">
            <a:extLst>
              <a:ext uri="{FF2B5EF4-FFF2-40B4-BE49-F238E27FC236}">
                <a16:creationId xmlns:a16="http://schemas.microsoft.com/office/drawing/2014/main" id="{4482DC57-3FAC-4630-8FC3-107DB92D6F97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SHARP PAPER READING · SOURCE REVIEW · REPRODUCTION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5F928DA8-EDB0-4BBF-8113-E409CC3C3E6C}"/>
              </a:ext>
            </a:extLst>
          </p:cNvPr>
          <p:cNvSpPr>
            <a:spLocks noGrp="1"/>
          </p:cNvSpPr>
          <p:nvPr/>
        </p:nvSpPr>
        <p:spPr>
          <a:xfrm>
            <a:off x="704850" y="1381125"/>
            <a:ext cx="2266950" cy="47625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4" name="text-5">
            <a:extLst>
              <a:ext uri="{FF2B5EF4-FFF2-40B4-BE49-F238E27FC236}">
                <a16:creationId xmlns:a16="http://schemas.microsoft.com/office/drawing/2014/main" id="{56F69C6D-B1E3-4C85-A5E7-EBE36A7AEEED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2475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6">
            <a:extLst>
              <a:ext uri="{FF2B5EF4-FFF2-40B4-BE49-F238E27FC236}">
                <a16:creationId xmlns:a16="http://schemas.microsoft.com/office/drawing/2014/main" id="{008E0808-73B6-40CA-8776-20FBCD1AD666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论文精读</a:t>
            </a:r>
          </a:p>
        </p:txBody>
      </p:sp>
      <p:sp>
        <p:nvSpPr>
          <p:cNvPr id="6" name="text-7">
            <a:extLst>
              <a:ext uri="{FF2B5EF4-FFF2-40B4-BE49-F238E27FC236}">
                <a16:creationId xmlns:a16="http://schemas.microsoft.com/office/drawing/2014/main" id="{E52A52CC-D1B3-4BEF-B425-5FEF11EB2A33}"/>
              </a:ext>
            </a:extLst>
          </p:cNvPr>
          <p:cNvSpPr>
            <a:spLocks noGrp="1"/>
          </p:cNvSpPr>
          <p:nvPr/>
        </p:nvSpPr>
        <p:spPr>
          <a:xfrm>
            <a:off x="704850" y="2562225"/>
            <a:ext cx="22479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完成方法、训练策略、附录与消融实验阅读</a:t>
            </a:r>
          </a:p>
        </p:txBody>
      </p:sp>
      <p:sp>
        <p:nvSpPr>
          <p:cNvPr id="7" name="rule-8">
            <a:extLst>
              <a:ext uri="{FF2B5EF4-FFF2-40B4-BE49-F238E27FC236}">
                <a16:creationId xmlns:a16="http://schemas.microsoft.com/office/drawing/2014/main" id="{39FD7B10-E47E-4EA3-AF79-FBF2D963D0E8}"/>
              </a:ext>
            </a:extLst>
          </p:cNvPr>
          <p:cNvSpPr>
            <a:spLocks noGrp="1"/>
          </p:cNvSpPr>
          <p:nvPr/>
        </p:nvSpPr>
        <p:spPr>
          <a:xfrm>
            <a:off x="3505200" y="1381125"/>
            <a:ext cx="2266950" cy="47625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8" name="text-9">
            <a:extLst>
              <a:ext uri="{FF2B5EF4-FFF2-40B4-BE49-F238E27FC236}">
                <a16:creationId xmlns:a16="http://schemas.microsoft.com/office/drawing/2014/main" id="{AEFB0CB3-5CC9-46B5-A661-817490E11185}"/>
              </a:ext>
            </a:extLst>
          </p:cNvPr>
          <p:cNvSpPr>
            <a:spLocks noGrp="1"/>
          </p:cNvSpPr>
          <p:nvPr/>
        </p:nvSpPr>
        <p:spPr>
          <a:xfrm>
            <a:off x="3505200" y="156210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2475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10">
            <a:extLst>
              <a:ext uri="{FF2B5EF4-FFF2-40B4-BE49-F238E27FC236}">
                <a16:creationId xmlns:a16="http://schemas.microsoft.com/office/drawing/2014/main" id="{A120438F-4AAF-45DE-B54C-8AB19C491602}"/>
              </a:ext>
            </a:extLst>
          </p:cNvPr>
          <p:cNvSpPr>
            <a:spLocks noGrp="1"/>
          </p:cNvSpPr>
          <p:nvPr/>
        </p:nvSpPr>
        <p:spPr>
          <a:xfrm>
            <a:off x="3505200" y="207645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源码梳理</a:t>
            </a:r>
          </a:p>
        </p:txBody>
      </p:sp>
      <p:sp>
        <p:nvSpPr>
          <p:cNvPr id="10" name="text-11">
            <a:extLst>
              <a:ext uri="{FF2B5EF4-FFF2-40B4-BE49-F238E27FC236}">
                <a16:creationId xmlns:a16="http://schemas.microsoft.com/office/drawing/2014/main" id="{3EB15B1F-2BA2-4F50-9FB9-12CFB3DEC695}"/>
              </a:ext>
            </a:extLst>
          </p:cNvPr>
          <p:cNvSpPr>
            <a:spLocks noGrp="1"/>
          </p:cNvSpPr>
          <p:nvPr/>
        </p:nvSpPr>
        <p:spPr>
          <a:xfrm>
            <a:off x="3505200" y="2562225"/>
            <a:ext cx="22479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梳理预测主链路以及各模块的输入输出</a:t>
            </a:r>
          </a:p>
        </p:txBody>
      </p:sp>
      <p:sp>
        <p:nvSpPr>
          <p:cNvPr id="11" name="rule-12">
            <a:extLst>
              <a:ext uri="{FF2B5EF4-FFF2-40B4-BE49-F238E27FC236}">
                <a16:creationId xmlns:a16="http://schemas.microsoft.com/office/drawing/2014/main" id="{B0D64172-97F1-4D91-AAF1-6614845E696C}"/>
              </a:ext>
            </a:extLst>
          </p:cNvPr>
          <p:cNvSpPr>
            <a:spLocks noGrp="1"/>
          </p:cNvSpPr>
          <p:nvPr/>
        </p:nvSpPr>
        <p:spPr>
          <a:xfrm>
            <a:off x="6305550" y="1381125"/>
            <a:ext cx="2266950" cy="47625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2" name="text-13">
            <a:extLst>
              <a:ext uri="{FF2B5EF4-FFF2-40B4-BE49-F238E27FC236}">
                <a16:creationId xmlns:a16="http://schemas.microsoft.com/office/drawing/2014/main" id="{8BE47345-5C29-4B86-BB7F-BCDBC47DE2F9}"/>
              </a:ext>
            </a:extLst>
          </p:cNvPr>
          <p:cNvSpPr>
            <a:spLocks noGrp="1"/>
          </p:cNvSpPr>
          <p:nvPr/>
        </p:nvSpPr>
        <p:spPr>
          <a:xfrm>
            <a:off x="6305550" y="156210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2475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14">
            <a:extLst>
              <a:ext uri="{FF2B5EF4-FFF2-40B4-BE49-F238E27FC236}">
                <a16:creationId xmlns:a16="http://schemas.microsoft.com/office/drawing/2014/main" id="{4A3861B3-2896-4A02-8593-8E0CD2E101B4}"/>
              </a:ext>
            </a:extLst>
          </p:cNvPr>
          <p:cNvSpPr>
            <a:spLocks noGrp="1"/>
          </p:cNvSpPr>
          <p:nvPr/>
        </p:nvSpPr>
        <p:spPr>
          <a:xfrm>
            <a:off x="6305550" y="207645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模型准备</a:t>
            </a:r>
          </a:p>
        </p:txBody>
      </p:sp>
      <p:sp>
        <p:nvSpPr>
          <p:cNvPr id="14" name="text-15">
            <a:extLst>
              <a:ext uri="{FF2B5EF4-FFF2-40B4-BE49-F238E27FC236}">
                <a16:creationId xmlns:a16="http://schemas.microsoft.com/office/drawing/2014/main" id="{D4AEC29E-CEAA-43DD-A402-E9ECC119E632}"/>
              </a:ext>
            </a:extLst>
          </p:cNvPr>
          <p:cNvSpPr>
            <a:spLocks noGrp="1"/>
          </p:cNvSpPr>
          <p:nvPr/>
        </p:nvSpPr>
        <p:spPr>
          <a:xfrm>
            <a:off x="6305550" y="2562225"/>
            <a:ext cx="22479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完成官方权重准备与推理入口检查</a:t>
            </a:r>
          </a:p>
        </p:txBody>
      </p:sp>
      <p:sp>
        <p:nvSpPr>
          <p:cNvPr id="15" name="rule-16">
            <a:extLst>
              <a:ext uri="{FF2B5EF4-FFF2-40B4-BE49-F238E27FC236}">
                <a16:creationId xmlns:a16="http://schemas.microsoft.com/office/drawing/2014/main" id="{71EA8215-B3A6-47D6-97AA-700035F40D13}"/>
              </a:ext>
            </a:extLst>
          </p:cNvPr>
          <p:cNvSpPr>
            <a:spLocks noGrp="1"/>
          </p:cNvSpPr>
          <p:nvPr/>
        </p:nvSpPr>
        <p:spPr>
          <a:xfrm>
            <a:off x="9105900" y="1381125"/>
            <a:ext cx="2266950" cy="47625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6" name="text-17">
            <a:extLst>
              <a:ext uri="{FF2B5EF4-FFF2-40B4-BE49-F238E27FC236}">
                <a16:creationId xmlns:a16="http://schemas.microsoft.com/office/drawing/2014/main" id="{851FD079-E17A-43A9-BBE4-65DD965C430C}"/>
              </a:ext>
            </a:extLst>
          </p:cNvPr>
          <p:cNvSpPr>
            <a:spLocks noGrp="1"/>
          </p:cNvSpPr>
          <p:nvPr/>
        </p:nvSpPr>
        <p:spPr>
          <a:xfrm>
            <a:off x="9105900" y="156210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2475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-18">
            <a:extLst>
              <a:ext uri="{FF2B5EF4-FFF2-40B4-BE49-F238E27FC236}">
                <a16:creationId xmlns:a16="http://schemas.microsoft.com/office/drawing/2014/main" id="{333A6F41-0A9E-4955-848A-1C950132F2ED}"/>
              </a:ext>
            </a:extLst>
          </p:cNvPr>
          <p:cNvSpPr>
            <a:spLocks noGrp="1"/>
          </p:cNvSpPr>
          <p:nvPr/>
        </p:nvSpPr>
        <p:spPr>
          <a:xfrm>
            <a:off x="9105900" y="207645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运行复现</a:t>
            </a:r>
          </a:p>
        </p:txBody>
      </p:sp>
      <p:sp>
        <p:nvSpPr>
          <p:cNvPr id="18" name="text-19">
            <a:extLst>
              <a:ext uri="{FF2B5EF4-FFF2-40B4-BE49-F238E27FC236}">
                <a16:creationId xmlns:a16="http://schemas.microsoft.com/office/drawing/2014/main" id="{03A074AA-4679-466B-B1EF-AE6B7DBCFC76}"/>
              </a:ext>
            </a:extLst>
          </p:cNvPr>
          <p:cNvSpPr>
            <a:spLocks noGrp="1"/>
          </p:cNvSpPr>
          <p:nvPr/>
        </p:nvSpPr>
        <p:spPr>
          <a:xfrm>
            <a:off x="9105900" y="2562225"/>
            <a:ext cx="22479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跑通预测、PLY导出和新视角渲染</a:t>
            </a:r>
          </a:p>
        </p:txBody>
      </p:sp>
      <p:sp>
        <p:nvSpPr>
          <p:cNvPr id="19" name="box-20">
            <a:extLst>
              <a:ext uri="{FF2B5EF4-FFF2-40B4-BE49-F238E27FC236}">
                <a16:creationId xmlns:a16="http://schemas.microsoft.com/office/drawing/2014/main" id="{295DC6A8-167F-4016-92DB-685F28C7A907}"/>
              </a:ext>
            </a:extLst>
          </p:cNvPr>
          <p:cNvSpPr>
            <a:spLocks noGrp="1"/>
          </p:cNvSpPr>
          <p:nvPr/>
        </p:nvSpPr>
        <p:spPr>
          <a:xfrm>
            <a:off x="704850" y="4038600"/>
            <a:ext cx="10668000" cy="1104900"/>
          </a:xfrm>
          <a:prstGeom prst="roundRect">
            <a:avLst>
              <a:gd name="adj" fmla="val 5172"/>
            </a:avLst>
          </a:prstGeom>
          <a:solidFill>
            <a:srgbClr val="F8FBFE"/>
          </a:solidFill>
          <a:ln w="9525">
            <a:solidFill>
              <a:srgbClr val="CADCEB"/>
            </a:solidFill>
            <a:prstDash val="solid"/>
          </a:ln>
        </p:spPr>
      </p:sp>
      <p:sp>
        <p:nvSpPr>
          <p:cNvPr id="20" name="text-21">
            <a:extLst>
              <a:ext uri="{FF2B5EF4-FFF2-40B4-BE49-F238E27FC236}">
                <a16:creationId xmlns:a16="http://schemas.microsoft.com/office/drawing/2014/main" id="{BB7210C2-6855-45DE-A326-6CC9BAF1DA50}"/>
              </a:ext>
            </a:extLst>
          </p:cNvPr>
          <p:cNvSpPr>
            <a:spLocks noGrp="1"/>
          </p:cNvSpPr>
          <p:nvPr/>
        </p:nvSpPr>
        <p:spPr>
          <a:xfrm>
            <a:off x="933450" y="4295775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复现输出</a:t>
            </a:r>
          </a:p>
        </p:txBody>
      </p:sp>
      <p:sp>
        <p:nvSpPr>
          <p:cNvPr id="21" name="rule-22">
            <a:extLst>
              <a:ext uri="{FF2B5EF4-FFF2-40B4-BE49-F238E27FC236}">
                <a16:creationId xmlns:a16="http://schemas.microsoft.com/office/drawing/2014/main" id="{758431D1-97B3-4BE5-BD51-92D23CE3DE83}"/>
              </a:ext>
            </a:extLst>
          </p:cNvPr>
          <p:cNvSpPr>
            <a:spLocks noGrp="1"/>
          </p:cNvSpPr>
          <p:nvPr/>
        </p:nvSpPr>
        <p:spPr>
          <a:xfrm>
            <a:off x="2533650" y="4248150"/>
            <a:ext cx="19050" cy="552450"/>
          </a:xfrm>
          <a:prstGeom prst="rect">
            <a:avLst/>
          </a:prstGeom>
          <a:solidFill>
            <a:srgbClr val="CADCEB"/>
          </a:solidFill>
          <a:ln w="0">
            <a:noFill/>
            <a:prstDash val="solid"/>
          </a:ln>
        </p:spPr>
      </p:sp>
      <p:sp>
        <p:nvSpPr>
          <p:cNvPr id="22" name="text-23">
            <a:extLst>
              <a:ext uri="{FF2B5EF4-FFF2-40B4-BE49-F238E27FC236}">
                <a16:creationId xmlns:a16="http://schemas.microsoft.com/office/drawing/2014/main" id="{8B9F9305-6E17-4E0F-9EB2-B374504BC011}"/>
              </a:ext>
            </a:extLst>
          </p:cNvPr>
          <p:cNvSpPr>
            <a:spLocks noGrp="1"/>
          </p:cNvSpPr>
          <p:nvPr/>
        </p:nvSpPr>
        <p:spPr>
          <a:xfrm>
            <a:off x="2800350" y="4295775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1,179,648个高斯</a:t>
            </a:r>
          </a:p>
        </p:txBody>
      </p:sp>
      <p:sp>
        <p:nvSpPr>
          <p:cNvPr id="23" name="rule-24">
            <a:extLst>
              <a:ext uri="{FF2B5EF4-FFF2-40B4-BE49-F238E27FC236}">
                <a16:creationId xmlns:a16="http://schemas.microsoft.com/office/drawing/2014/main" id="{CD52B0B4-CB68-402A-AE4F-860C880CC814}"/>
              </a:ext>
            </a:extLst>
          </p:cNvPr>
          <p:cNvSpPr>
            <a:spLocks noGrp="1"/>
          </p:cNvSpPr>
          <p:nvPr/>
        </p:nvSpPr>
        <p:spPr>
          <a:xfrm>
            <a:off x="5238750" y="4248150"/>
            <a:ext cx="19050" cy="552450"/>
          </a:xfrm>
          <a:prstGeom prst="rect">
            <a:avLst/>
          </a:prstGeom>
          <a:solidFill>
            <a:srgbClr val="CADCEB"/>
          </a:solidFill>
          <a:ln w="0">
            <a:noFill/>
            <a:prstDash val="solid"/>
          </a:ln>
        </p:spPr>
      </p:sp>
      <p:sp>
        <p:nvSpPr>
          <p:cNvPr id="24" name="text-25">
            <a:extLst>
              <a:ext uri="{FF2B5EF4-FFF2-40B4-BE49-F238E27FC236}">
                <a16:creationId xmlns:a16="http://schemas.microsoft.com/office/drawing/2014/main" id="{B1185326-93DF-4945-BDFA-C8B2ABA83C5A}"/>
              </a:ext>
            </a:extLst>
          </p:cNvPr>
          <p:cNvSpPr>
            <a:spLocks noGrp="1"/>
          </p:cNvSpPr>
          <p:nvPr/>
        </p:nvSpPr>
        <p:spPr>
          <a:xfrm>
            <a:off x="5486400" y="429577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约64 MB PLY</a:t>
            </a:r>
          </a:p>
        </p:txBody>
      </p:sp>
      <p:sp>
        <p:nvSpPr>
          <p:cNvPr id="25" name="rule-26">
            <a:extLst>
              <a:ext uri="{FF2B5EF4-FFF2-40B4-BE49-F238E27FC236}">
                <a16:creationId xmlns:a16="http://schemas.microsoft.com/office/drawing/2014/main" id="{1B477791-3BEE-440C-8EA1-B1E48248207A}"/>
              </a:ext>
            </a:extLst>
          </p:cNvPr>
          <p:cNvSpPr>
            <a:spLocks noGrp="1"/>
          </p:cNvSpPr>
          <p:nvPr/>
        </p:nvSpPr>
        <p:spPr>
          <a:xfrm>
            <a:off x="7772400" y="4248150"/>
            <a:ext cx="19050" cy="552450"/>
          </a:xfrm>
          <a:prstGeom prst="rect">
            <a:avLst/>
          </a:prstGeom>
          <a:solidFill>
            <a:srgbClr val="CADCEB"/>
          </a:solidFill>
          <a:ln w="0">
            <a:noFill/>
            <a:prstDash val="solid"/>
          </a:ln>
        </p:spPr>
      </p:sp>
      <p:sp>
        <p:nvSpPr>
          <p:cNvPr id="26" name="text-27">
            <a:extLst>
              <a:ext uri="{FF2B5EF4-FFF2-40B4-BE49-F238E27FC236}">
                <a16:creationId xmlns:a16="http://schemas.microsoft.com/office/drawing/2014/main" id="{1DA83BB5-F36A-4260-A606-07A7B640A5B1}"/>
              </a:ext>
            </a:extLst>
          </p:cNvPr>
          <p:cNvSpPr>
            <a:spLocks noGrp="1"/>
          </p:cNvSpPr>
          <p:nvPr/>
        </p:nvSpPr>
        <p:spPr>
          <a:xfrm>
            <a:off x="8020050" y="4295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60帧彩色与深度新视角视频</a:t>
            </a:r>
          </a:p>
        </p:txBody>
      </p:sp>
      <p:sp>
        <p:nvSpPr>
          <p:cNvPr id="27" name="box-433">
            <a:extLst>
              <a:ext uri="{FF2B5EF4-FFF2-40B4-BE49-F238E27FC236}">
                <a16:creationId xmlns:a16="http://schemas.microsoft.com/office/drawing/2014/main" id="{41FBBE9A-945C-4083-8DDB-4319F5C2120D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text-434">
            <a:extLst>
              <a:ext uri="{FF2B5EF4-FFF2-40B4-BE49-F238E27FC236}">
                <a16:creationId xmlns:a16="http://schemas.microsoft.com/office/drawing/2014/main" id="{7B959661-299E-4299-B400-6B6B84D219E6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2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048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28">
            <a:extLst>
              <a:ext uri="{FF2B5EF4-FFF2-40B4-BE49-F238E27FC236}">
                <a16:creationId xmlns:a16="http://schemas.microsoft.com/office/drawing/2014/main" id="{546A5522-DDAC-4C70-A38A-5038E819B9F1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SHARP解决的问题</a:t>
            </a:r>
          </a:p>
        </p:txBody>
      </p:sp>
      <p:sp>
        <p:nvSpPr>
          <p:cNvPr id="2" name="text-29">
            <a:extLst>
              <a:ext uri="{FF2B5EF4-FFF2-40B4-BE49-F238E27FC236}">
                <a16:creationId xmlns:a16="http://schemas.microsoft.com/office/drawing/2014/main" id="{CB4B7B37-A4C4-4F32-B59A-7B8750CB988A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SINGLE-IMAGE HIGH-ACCURACY REAL-TIME PARALLAX</a:t>
            </a:r>
          </a:p>
        </p:txBody>
      </p:sp>
      <p:sp>
        <p:nvSpPr>
          <p:cNvPr id="3" name="text-30">
            <a:extLst>
              <a:ext uri="{FF2B5EF4-FFF2-40B4-BE49-F238E27FC236}">
                <a16:creationId xmlns:a16="http://schemas.microsoft.com/office/drawing/2014/main" id="{097836E5-C3BF-4C61-9B61-E81911E59E81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单张RGB</a:t>
            </a:r>
          </a:p>
        </p:txBody>
      </p:sp>
      <p:sp>
        <p:nvSpPr>
          <p:cNvPr id="4" name="arrow-31">
            <a:extLst>
              <a:ext uri="{FF2B5EF4-FFF2-40B4-BE49-F238E27FC236}">
                <a16:creationId xmlns:a16="http://schemas.microsoft.com/office/drawing/2014/main" id="{6F57F990-87C1-4869-A086-93E1835EE44E}"/>
              </a:ext>
            </a:extLst>
          </p:cNvPr>
          <p:cNvSpPr>
            <a:spLocks noGrp="1"/>
          </p:cNvSpPr>
          <p:nvPr/>
        </p:nvSpPr>
        <p:spPr>
          <a:xfrm>
            <a:off x="2762250" y="1514475"/>
            <a:ext cx="438150" cy="2286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5" name="text-32">
            <a:extLst>
              <a:ext uri="{FF2B5EF4-FFF2-40B4-BE49-F238E27FC236}">
                <a16:creationId xmlns:a16="http://schemas.microsoft.com/office/drawing/2014/main" id="{6AF4A388-5E09-47E1-97BF-1489FC09CF24}"/>
              </a:ext>
            </a:extLst>
          </p:cNvPr>
          <p:cNvSpPr>
            <a:spLocks noGrp="1"/>
          </p:cNvSpPr>
          <p:nvPr/>
        </p:nvSpPr>
        <p:spPr>
          <a:xfrm>
            <a:off x="3219450" y="1304925"/>
            <a:ext cx="257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一次前向生成</a:t>
            </a:r>
          </a:p>
          <a:p>
            <a:pPr algn="ctr">
              <a:lnSpc>
                <a:spcPct val="105000"/>
              </a:lnSpc>
              <a:buNone/>
              <a:defRPr sz="202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metric 3DGS</a:t>
            </a:r>
          </a:p>
        </p:txBody>
      </p:sp>
      <p:sp>
        <p:nvSpPr>
          <p:cNvPr id="6" name="arrow-33">
            <a:extLst>
              <a:ext uri="{FF2B5EF4-FFF2-40B4-BE49-F238E27FC236}">
                <a16:creationId xmlns:a16="http://schemas.microsoft.com/office/drawing/2014/main" id="{E6655BD1-29DC-494F-B336-6F8B027B4C27}"/>
              </a:ext>
            </a:extLst>
          </p:cNvPr>
          <p:cNvSpPr>
            <a:spLocks noGrp="1"/>
          </p:cNvSpPr>
          <p:nvPr/>
        </p:nvSpPr>
        <p:spPr>
          <a:xfrm>
            <a:off x="5829300" y="1514475"/>
            <a:ext cx="438150" cy="2286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7" name="text-34">
            <a:extLst>
              <a:ext uri="{FF2B5EF4-FFF2-40B4-BE49-F238E27FC236}">
                <a16:creationId xmlns:a16="http://schemas.microsoft.com/office/drawing/2014/main" id="{5B61F393-FD2E-46A2-AABB-75A905276BCD}"/>
              </a:ext>
            </a:extLst>
          </p:cNvPr>
          <p:cNvSpPr>
            <a:spLocks noGrp="1"/>
          </p:cNvSpPr>
          <p:nvPr/>
        </p:nvSpPr>
        <p:spPr>
          <a:xfrm>
            <a:off x="6324600" y="1447800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附近视角实时渲染</a:t>
            </a:r>
          </a:p>
        </p:txBody>
      </p:sp>
      <p:sp>
        <p:nvSpPr>
          <p:cNvPr id="8" name="text-35">
            <a:extLst>
              <a:ext uri="{FF2B5EF4-FFF2-40B4-BE49-F238E27FC236}">
                <a16:creationId xmlns:a16="http://schemas.microsoft.com/office/drawing/2014/main" id="{9F910502-279E-4414-A279-AE16BF880411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目标运动范围以相机基线衡量，主要面向小于约0.5 m的附近视角。</a:t>
            </a:r>
          </a:p>
        </p:txBody>
      </p:sp>
      <p:sp>
        <p:nvSpPr>
          <p:cNvPr id="9" name="rule-36">
            <a:extLst>
              <a:ext uri="{FF2B5EF4-FFF2-40B4-BE49-F238E27FC236}">
                <a16:creationId xmlns:a16="http://schemas.microsoft.com/office/drawing/2014/main" id="{A232C9EC-39B6-4815-8220-6B147C6CE06A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10668000" cy="19050"/>
          </a:xfrm>
          <a:prstGeom prst="rect">
            <a:avLst/>
          </a:prstGeom>
          <a:solidFill>
            <a:srgbClr val="CADCEB"/>
          </a:solidFill>
          <a:ln w="0">
            <a:noFill/>
            <a:prstDash val="solid"/>
          </a:ln>
        </p:spPr>
      </p:sp>
      <p:sp>
        <p:nvSpPr>
          <p:cNvPr id="10" name="text-37">
            <a:extLst>
              <a:ext uri="{FF2B5EF4-FFF2-40B4-BE49-F238E27FC236}">
                <a16:creationId xmlns:a16="http://schemas.microsoft.com/office/drawing/2014/main" id="{9355E309-E975-4924-A06B-468B2F8F74A0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22C7E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2C7E2"/>
                </a:solidFill>
                <a:latin typeface="Arial"/>
                <a:ea typeface="Arial"/>
                <a:cs typeface="Arial"/>
              </a:rPr>
              <a:t>25-34%</a:t>
            </a:r>
          </a:p>
        </p:txBody>
      </p:sp>
      <p:sp>
        <p:nvSpPr>
          <p:cNvPr id="11" name="text-38">
            <a:extLst>
              <a:ext uri="{FF2B5EF4-FFF2-40B4-BE49-F238E27FC236}">
                <a16:creationId xmlns:a16="http://schemas.microsoft.com/office/drawing/2014/main" id="{81E54BE1-EE9A-4767-BA40-E97EB926C92A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LPIPS降低</a:t>
            </a:r>
          </a:p>
        </p:txBody>
      </p:sp>
      <p:sp>
        <p:nvSpPr>
          <p:cNvPr id="12" name="text-39">
            <a:extLst>
              <a:ext uri="{FF2B5EF4-FFF2-40B4-BE49-F238E27FC236}">
                <a16:creationId xmlns:a16="http://schemas.microsoft.com/office/drawing/2014/main" id="{E0876923-BA69-4477-8509-DB81E2D3491E}"/>
              </a:ext>
            </a:extLst>
          </p:cNvPr>
          <p:cNvSpPr>
            <a:spLocks noGrp="1"/>
          </p:cNvSpPr>
          <p:nvPr/>
        </p:nvSpPr>
        <p:spPr>
          <a:xfrm>
            <a:off x="3476625" y="32194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48DEA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8DEAB"/>
                </a:solidFill>
                <a:latin typeface="Arial"/>
                <a:ea typeface="Arial"/>
                <a:cs typeface="Arial"/>
              </a:rPr>
              <a:t>21-43%</a:t>
            </a:r>
          </a:p>
        </p:txBody>
      </p:sp>
      <p:sp>
        <p:nvSpPr>
          <p:cNvPr id="13" name="text-40">
            <a:extLst>
              <a:ext uri="{FF2B5EF4-FFF2-40B4-BE49-F238E27FC236}">
                <a16:creationId xmlns:a16="http://schemas.microsoft.com/office/drawing/2014/main" id="{5DD71ED6-86B7-4DC6-8E41-69800E57023A}"/>
              </a:ext>
            </a:extLst>
          </p:cNvPr>
          <p:cNvSpPr>
            <a:spLocks noGrp="1"/>
          </p:cNvSpPr>
          <p:nvPr/>
        </p:nvSpPr>
        <p:spPr>
          <a:xfrm>
            <a:off x="3476625" y="37147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DISTS降低</a:t>
            </a:r>
          </a:p>
        </p:txBody>
      </p:sp>
      <p:sp>
        <p:nvSpPr>
          <p:cNvPr id="14" name="text-41">
            <a:extLst>
              <a:ext uri="{FF2B5EF4-FFF2-40B4-BE49-F238E27FC236}">
                <a16:creationId xmlns:a16="http://schemas.microsoft.com/office/drawing/2014/main" id="{FEB0A8DA-083E-4D88-AE65-9628B470EC9C}"/>
              </a:ext>
            </a:extLst>
          </p:cNvPr>
          <p:cNvSpPr>
            <a:spLocks noGrp="1"/>
          </p:cNvSpPr>
          <p:nvPr/>
        </p:nvSpPr>
        <p:spPr>
          <a:xfrm>
            <a:off x="6096000" y="32194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FFA8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A837"/>
                </a:solidFill>
                <a:latin typeface="Arial"/>
                <a:ea typeface="Arial"/>
                <a:cs typeface="Arial"/>
              </a:rPr>
              <a:t>&lt; 1 s</a:t>
            </a:r>
          </a:p>
        </p:txBody>
      </p:sp>
      <p:sp>
        <p:nvSpPr>
          <p:cNvPr id="15" name="text-42">
            <a:extLst>
              <a:ext uri="{FF2B5EF4-FFF2-40B4-BE49-F238E27FC236}">
                <a16:creationId xmlns:a16="http://schemas.microsoft.com/office/drawing/2014/main" id="{3DDAA0E8-F2B4-4318-BC93-99397B24553F}"/>
              </a:ext>
            </a:extLst>
          </p:cNvPr>
          <p:cNvSpPr>
            <a:spLocks noGrp="1"/>
          </p:cNvSpPr>
          <p:nvPr/>
        </p:nvSpPr>
        <p:spPr>
          <a:xfrm>
            <a:off x="6096000" y="37147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A100表示生成</a:t>
            </a:r>
          </a:p>
        </p:txBody>
      </p:sp>
      <p:sp>
        <p:nvSpPr>
          <p:cNvPr id="16" name="text-43">
            <a:extLst>
              <a:ext uri="{FF2B5EF4-FFF2-40B4-BE49-F238E27FC236}">
                <a16:creationId xmlns:a16="http://schemas.microsoft.com/office/drawing/2014/main" id="{C7AEF32C-67CC-486E-AEB9-EAEB36E2A643}"/>
              </a:ext>
            </a:extLst>
          </p:cNvPr>
          <p:cNvSpPr>
            <a:spLocks noGrp="1"/>
          </p:cNvSpPr>
          <p:nvPr/>
        </p:nvSpPr>
        <p:spPr>
          <a:xfrm>
            <a:off x="8715375" y="32194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~100 FPS</a:t>
            </a:r>
          </a:p>
        </p:txBody>
      </p:sp>
      <p:sp>
        <p:nvSpPr>
          <p:cNvPr id="17" name="text-44">
            <a:extLst>
              <a:ext uri="{FF2B5EF4-FFF2-40B4-BE49-F238E27FC236}">
                <a16:creationId xmlns:a16="http://schemas.microsoft.com/office/drawing/2014/main" id="{4568DFEE-BA77-4FC1-8D6B-AE4947CDDC09}"/>
              </a:ext>
            </a:extLst>
          </p:cNvPr>
          <p:cNvSpPr>
            <a:spLocks noGrp="1"/>
          </p:cNvSpPr>
          <p:nvPr/>
        </p:nvSpPr>
        <p:spPr>
          <a:xfrm>
            <a:off x="8715375" y="37147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常驻GPU纯渲染</a:t>
            </a:r>
          </a:p>
        </p:txBody>
      </p:sp>
      <p:sp>
        <p:nvSpPr>
          <p:cNvPr id="18" name="text-45">
            <a:extLst>
              <a:ext uri="{FF2B5EF4-FFF2-40B4-BE49-F238E27FC236}">
                <a16:creationId xmlns:a16="http://schemas.microsoft.com/office/drawing/2014/main" id="{E6BA2265-2262-4429-A352-A2D07350FF95}"/>
              </a:ext>
            </a:extLst>
          </p:cNvPr>
          <p:cNvSpPr>
            <a:spLocks noGrp="1"/>
          </p:cNvSpPr>
          <p:nvPr/>
        </p:nvSpPr>
        <p:spPr>
          <a:xfrm>
            <a:off x="971550" y="4686300"/>
            <a:ext cx="1019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对本课题的匹配点：单图输入、显式3D表示、交互阶段无需再次运行生成网络。</a:t>
            </a:r>
          </a:p>
        </p:txBody>
      </p:sp>
      <p:sp>
        <p:nvSpPr>
          <p:cNvPr id="19" name="text-46">
            <a:extLst>
              <a:ext uri="{FF2B5EF4-FFF2-40B4-BE49-F238E27FC236}">
                <a16:creationId xmlns:a16="http://schemas.microsoft.com/office/drawing/2014/main" id="{8EC6CF21-393C-499C-AD48-5F8799C7446E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图源/数据：SHARP原论文 Abstract、Tables 1-6；指标按论文各测试集口径。</a:t>
            </a:r>
          </a:p>
        </p:txBody>
      </p:sp>
      <p:sp>
        <p:nvSpPr>
          <p:cNvPr id="20" name="box-435">
            <a:extLst>
              <a:ext uri="{FF2B5EF4-FFF2-40B4-BE49-F238E27FC236}">
                <a16:creationId xmlns:a16="http://schemas.microsoft.com/office/drawing/2014/main" id="{E3605BEF-8C57-4618-8272-5D7989E59E95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text-436">
            <a:extLst>
              <a:ext uri="{FF2B5EF4-FFF2-40B4-BE49-F238E27FC236}">
                <a16:creationId xmlns:a16="http://schemas.microsoft.com/office/drawing/2014/main" id="{018A7B4B-B6A0-4609-B850-93044AF54ACA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3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585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47">
            <a:extLst>
              <a:ext uri="{FF2B5EF4-FFF2-40B4-BE49-F238E27FC236}">
                <a16:creationId xmlns:a16="http://schemas.microsoft.com/office/drawing/2014/main" id="{9AD3E919-EF3F-41DC-9715-7C2492405185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完整输入输出链路</a:t>
            </a:r>
          </a:p>
        </p:txBody>
      </p:sp>
      <p:sp>
        <p:nvSpPr>
          <p:cNvPr id="2" name="text-48">
            <a:extLst>
              <a:ext uri="{FF2B5EF4-FFF2-40B4-BE49-F238E27FC236}">
                <a16:creationId xmlns:a16="http://schemas.microsoft.com/office/drawing/2014/main" id="{898EBC4C-E831-4DE1-89DD-3D1FD043A747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四个可学习模块与固定高斯模块共同完成一次前向预测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616534"/>
            <a:ext cx="7353300" cy="2348583"/>
          </a:xfrm>
          <a:prstGeom prst="rect">
            <a:avLst/>
          </a:prstGeom>
        </p:spPr>
      </p:pic>
      <p:sp>
        <p:nvSpPr>
          <p:cNvPr id="4" name="box-49">
            <a:extLst>
              <a:ext uri="{FF2B5EF4-FFF2-40B4-BE49-F238E27FC236}">
                <a16:creationId xmlns:a16="http://schemas.microsoft.com/office/drawing/2014/main" id="{98A39B9C-AAD6-4269-B44D-53AA4AA5302A}"/>
              </a:ext>
            </a:extLst>
          </p:cNvPr>
          <p:cNvSpPr>
            <a:spLocks noGrp="1"/>
          </p:cNvSpPr>
          <p:nvPr/>
        </p:nvSpPr>
        <p:spPr>
          <a:xfrm>
            <a:off x="8210550" y="1200150"/>
            <a:ext cx="3048000" cy="3219450"/>
          </a:xfrm>
          <a:prstGeom prst="roundRect">
            <a:avLst>
              <a:gd name="adj" fmla="val 1875"/>
            </a:avLst>
          </a:prstGeom>
          <a:solidFill>
            <a:srgbClr val="F7FAFD"/>
          </a:solidFill>
          <a:ln w="9525">
            <a:solidFill>
              <a:srgbClr val="CADCEB"/>
            </a:solidFill>
            <a:prstDash val="solid"/>
          </a:ln>
        </p:spPr>
      </p:sp>
      <p:sp>
        <p:nvSpPr>
          <p:cNvPr id="5" name="text-50">
            <a:extLst>
              <a:ext uri="{FF2B5EF4-FFF2-40B4-BE49-F238E27FC236}">
                <a16:creationId xmlns:a16="http://schemas.microsoft.com/office/drawing/2014/main" id="{2F8BCA53-3368-43E7-BC85-BEFA615D362C}"/>
              </a:ext>
            </a:extLst>
          </p:cNvPr>
          <p:cNvSpPr>
            <a:spLocks noGrp="1"/>
          </p:cNvSpPr>
          <p:nvPr/>
        </p:nvSpPr>
        <p:spPr>
          <a:xfrm>
            <a:off x="8458200" y="13906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关键张量</a:t>
            </a:r>
          </a:p>
        </p:txBody>
      </p:sp>
      <p:sp>
        <p:nvSpPr>
          <p:cNvPr id="6" name="box-51">
            <a:extLst>
              <a:ext uri="{FF2B5EF4-FFF2-40B4-BE49-F238E27FC236}">
                <a16:creationId xmlns:a16="http://schemas.microsoft.com/office/drawing/2014/main" id="{93885C7A-57D1-4EFC-8413-A4D4587E0E32}"/>
              </a:ext>
            </a:extLst>
          </p:cNvPr>
          <p:cNvSpPr>
            <a:spLocks noGrp="1"/>
          </p:cNvSpPr>
          <p:nvPr/>
        </p:nvSpPr>
        <p:spPr>
          <a:xfrm>
            <a:off x="8477250" y="188595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7" name="text-52">
            <a:extLst>
              <a:ext uri="{FF2B5EF4-FFF2-40B4-BE49-F238E27FC236}">
                <a16:creationId xmlns:a16="http://schemas.microsoft.com/office/drawing/2014/main" id="{7CCE0B5F-9A38-407A-BFC0-FBD248E78177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400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输入RGB：[B,3,1536,1536]</a:t>
            </a:r>
          </a:p>
        </p:txBody>
      </p:sp>
      <p:sp>
        <p:nvSpPr>
          <p:cNvPr id="8" name="box-53">
            <a:extLst>
              <a:ext uri="{FF2B5EF4-FFF2-40B4-BE49-F238E27FC236}">
                <a16:creationId xmlns:a16="http://schemas.microsoft.com/office/drawing/2014/main" id="{3FBE7EB6-E464-4424-8E15-5A52D9F5001F}"/>
              </a:ext>
            </a:extLst>
          </p:cNvPr>
          <p:cNvSpPr>
            <a:spLocks noGrp="1"/>
          </p:cNvSpPr>
          <p:nvPr/>
        </p:nvSpPr>
        <p:spPr>
          <a:xfrm>
            <a:off x="8477250" y="238125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9" name="text-54">
            <a:extLst>
              <a:ext uri="{FF2B5EF4-FFF2-40B4-BE49-F238E27FC236}">
                <a16:creationId xmlns:a16="http://schemas.microsoft.com/office/drawing/2014/main" id="{F363B4B7-6A9C-49AE-B0CA-2DC5EA236A25}"/>
              </a:ext>
            </a:extLst>
          </p:cNvPr>
          <p:cNvSpPr>
            <a:spLocks noGrp="1"/>
          </p:cNvSpPr>
          <p:nvPr/>
        </p:nvSpPr>
        <p:spPr>
          <a:xfrm>
            <a:off x="8648700" y="2305050"/>
            <a:ext cx="2400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双层深度：[B,2,1536,1536]</a:t>
            </a:r>
          </a:p>
        </p:txBody>
      </p:sp>
      <p:sp>
        <p:nvSpPr>
          <p:cNvPr id="10" name="box-55">
            <a:extLst>
              <a:ext uri="{FF2B5EF4-FFF2-40B4-BE49-F238E27FC236}">
                <a16:creationId xmlns:a16="http://schemas.microsoft.com/office/drawing/2014/main" id="{9A0D19F6-B87B-4B67-A42A-7F24EFB0F40B}"/>
              </a:ext>
            </a:extLst>
          </p:cNvPr>
          <p:cNvSpPr>
            <a:spLocks noGrp="1"/>
          </p:cNvSpPr>
          <p:nvPr/>
        </p:nvSpPr>
        <p:spPr>
          <a:xfrm>
            <a:off x="8477250" y="287655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11" name="text-56">
            <a:extLst>
              <a:ext uri="{FF2B5EF4-FFF2-40B4-BE49-F238E27FC236}">
                <a16:creationId xmlns:a16="http://schemas.microsoft.com/office/drawing/2014/main" id="{B15BDF54-5C00-4444-A6FB-7CE145E57E55}"/>
              </a:ext>
            </a:extLst>
          </p:cNvPr>
          <p:cNvSpPr>
            <a:spLocks noGrp="1"/>
          </p:cNvSpPr>
          <p:nvPr/>
        </p:nvSpPr>
        <p:spPr>
          <a:xfrm>
            <a:off x="8648700" y="2800350"/>
            <a:ext cx="2400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Delta：[B,14,2,768,768]</a:t>
            </a:r>
          </a:p>
        </p:txBody>
      </p:sp>
      <p:sp>
        <p:nvSpPr>
          <p:cNvPr id="12" name="box-57">
            <a:extLst>
              <a:ext uri="{FF2B5EF4-FFF2-40B4-BE49-F238E27FC236}">
                <a16:creationId xmlns:a16="http://schemas.microsoft.com/office/drawing/2014/main" id="{3D84CCD9-9F91-41F8-A802-F82FCF98E518}"/>
              </a:ext>
            </a:extLst>
          </p:cNvPr>
          <p:cNvSpPr>
            <a:spLocks noGrp="1"/>
          </p:cNvSpPr>
          <p:nvPr/>
        </p:nvSpPr>
        <p:spPr>
          <a:xfrm>
            <a:off x="8477250" y="337185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13" name="text-58">
            <a:extLst>
              <a:ext uri="{FF2B5EF4-FFF2-40B4-BE49-F238E27FC236}">
                <a16:creationId xmlns:a16="http://schemas.microsoft.com/office/drawing/2014/main" id="{02E6B7DD-6BFB-4AFB-AC40-7D4A0F2A248A}"/>
              </a:ext>
            </a:extLst>
          </p:cNvPr>
          <p:cNvSpPr>
            <a:spLocks noGrp="1"/>
          </p:cNvSpPr>
          <p:nvPr/>
        </p:nvSpPr>
        <p:spPr>
          <a:xfrm>
            <a:off x="8648700" y="3295650"/>
            <a:ext cx="2400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输出：1,179,648个高斯</a:t>
            </a:r>
          </a:p>
        </p:txBody>
      </p:sp>
      <p:sp>
        <p:nvSpPr>
          <p:cNvPr id="14" name="text-59">
            <a:extLst>
              <a:ext uri="{FF2B5EF4-FFF2-40B4-BE49-F238E27FC236}">
                <a16:creationId xmlns:a16="http://schemas.microsoft.com/office/drawing/2014/main" id="{90C73651-B297-4B76-861F-645F053A6500}"/>
              </a:ext>
            </a:extLst>
          </p:cNvPr>
          <p:cNvSpPr>
            <a:spLocks noGrp="1"/>
          </p:cNvSpPr>
          <p:nvPr/>
        </p:nvSpPr>
        <p:spPr>
          <a:xfrm>
            <a:off x="1047750" y="497205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Depth Adjustment仅用于Stage 1合成训练；Stage 2与推理阶段直接使用预测深度。</a:t>
            </a:r>
          </a:p>
        </p:txBody>
      </p:sp>
      <p:sp>
        <p:nvSpPr>
          <p:cNvPr id="15" name="text-60">
            <a:extLst>
              <a:ext uri="{FF2B5EF4-FFF2-40B4-BE49-F238E27FC236}">
                <a16:creationId xmlns:a16="http://schemas.microsoft.com/office/drawing/2014/main" id="{37331EF2-1DCC-4668-80BE-53CABA420275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图源：SHARP原论文 Fig.3；张量形状结合论文与本地源码整理。</a:t>
            </a:r>
          </a:p>
        </p:txBody>
      </p:sp>
      <p:sp>
        <p:nvSpPr>
          <p:cNvPr id="16" name="box-437">
            <a:extLst>
              <a:ext uri="{FF2B5EF4-FFF2-40B4-BE49-F238E27FC236}">
                <a16:creationId xmlns:a16="http://schemas.microsoft.com/office/drawing/2014/main" id="{804C086B-B2AD-4DDC-9CC0-724258F37F8E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text-438">
            <a:extLst>
              <a:ext uri="{FF2B5EF4-FFF2-40B4-BE49-F238E27FC236}">
                <a16:creationId xmlns:a16="http://schemas.microsoft.com/office/drawing/2014/main" id="{7206B843-930A-48DB-9818-53018042BCA2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4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0688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-61">
            <a:extLst>
              <a:ext uri="{FF2B5EF4-FFF2-40B4-BE49-F238E27FC236}">
                <a16:creationId xmlns:a16="http://schemas.microsoft.com/office/drawing/2014/main" id="{BA54A336-9523-4A36-8DEA-C77C52FF7587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模型模块与代码职责</a:t>
            </a:r>
            <a:endParaRPr sz="285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text-62">
            <a:extLst>
              <a:ext uri="{FF2B5EF4-FFF2-40B4-BE49-F238E27FC236}">
                <a16:creationId xmlns:a16="http://schemas.microsoft.com/office/drawing/2014/main" id="{7DA1948A-E56F-4C3A-A45B-EE90B1B20D78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区分网络学习的内容与固定规则完成的内容</a:t>
            </a:r>
          </a:p>
        </p:txBody>
      </p:sp>
      <p:sp>
        <p:nvSpPr>
          <p:cNvPr id="3" name="box-63">
            <a:extLst>
              <a:ext uri="{FF2B5EF4-FFF2-40B4-BE49-F238E27FC236}">
                <a16:creationId xmlns:a16="http://schemas.microsoft.com/office/drawing/2014/main" id="{0FB44EEF-7031-4389-A010-7C171DFEB50E}"/>
              </a:ext>
            </a:extLst>
          </p:cNvPr>
          <p:cNvSpPr>
            <a:spLocks noGrp="1"/>
          </p:cNvSpPr>
          <p:nvPr/>
        </p:nvSpPr>
        <p:spPr>
          <a:xfrm>
            <a:off x="1413933" y="1291167"/>
            <a:ext cx="8530167" cy="4572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4" name="text-64">
            <a:extLst>
              <a:ext uri="{FF2B5EF4-FFF2-40B4-BE49-F238E27FC236}">
                <a16:creationId xmlns:a16="http://schemas.microsoft.com/office/drawing/2014/main" id="{087682A6-22F3-4A6F-9897-484F6063D636}"/>
              </a:ext>
            </a:extLst>
          </p:cNvPr>
          <p:cNvSpPr>
            <a:spLocks noGrp="1"/>
          </p:cNvSpPr>
          <p:nvPr/>
        </p:nvSpPr>
        <p:spPr>
          <a:xfrm>
            <a:off x="1490132" y="1386417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5" name="text-65">
            <a:extLst>
              <a:ext uri="{FF2B5EF4-FFF2-40B4-BE49-F238E27FC236}">
                <a16:creationId xmlns:a16="http://schemas.microsoft.com/office/drawing/2014/main" id="{5A73F644-15A3-4EED-B5D1-017EEE2D6E60}"/>
              </a:ext>
            </a:extLst>
          </p:cNvPr>
          <p:cNvSpPr>
            <a:spLocks noGrp="1"/>
          </p:cNvSpPr>
          <p:nvPr/>
        </p:nvSpPr>
        <p:spPr>
          <a:xfrm>
            <a:off x="4309533" y="1386417"/>
            <a:ext cx="177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性质</a:t>
            </a:r>
          </a:p>
        </p:txBody>
      </p:sp>
      <p:sp>
        <p:nvSpPr>
          <p:cNvPr id="6" name="text-66">
            <a:extLst>
              <a:ext uri="{FF2B5EF4-FFF2-40B4-BE49-F238E27FC236}">
                <a16:creationId xmlns:a16="http://schemas.microsoft.com/office/drawing/2014/main" id="{AF50631E-42C8-4A40-A171-D246353BAEC9}"/>
              </a:ext>
            </a:extLst>
          </p:cNvPr>
          <p:cNvSpPr>
            <a:spLocks noGrp="1"/>
          </p:cNvSpPr>
          <p:nvPr/>
        </p:nvSpPr>
        <p:spPr>
          <a:xfrm>
            <a:off x="6341533" y="1386417"/>
            <a:ext cx="482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1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主要职责</a:t>
            </a:r>
            <a:endParaRPr sz="1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box-67">
            <a:extLst>
              <a:ext uri="{FF2B5EF4-FFF2-40B4-BE49-F238E27FC236}">
                <a16:creationId xmlns:a16="http://schemas.microsoft.com/office/drawing/2014/main" id="{BCAA725B-7FA0-4D19-BEB1-B8B0F70F8E99}"/>
              </a:ext>
            </a:extLst>
          </p:cNvPr>
          <p:cNvSpPr>
            <a:spLocks noGrp="1"/>
          </p:cNvSpPr>
          <p:nvPr/>
        </p:nvSpPr>
        <p:spPr>
          <a:xfrm>
            <a:off x="1413933" y="1757892"/>
            <a:ext cx="8530167" cy="590550"/>
          </a:xfrm>
          <a:prstGeom prst="rect">
            <a:avLst/>
          </a:prstGeom>
          <a:solidFill>
            <a:srgbClr val="F7FAFD"/>
          </a:solidFill>
          <a:ln w="6668">
            <a:solidFill>
              <a:srgbClr val="CADCEB"/>
            </a:solidFill>
            <a:prstDash val="solid"/>
          </a:ln>
        </p:spPr>
      </p:sp>
      <p:sp>
        <p:nvSpPr>
          <p:cNvPr id="8" name="text-68">
            <a:extLst>
              <a:ext uri="{FF2B5EF4-FFF2-40B4-BE49-F238E27FC236}">
                <a16:creationId xmlns:a16="http://schemas.microsoft.com/office/drawing/2014/main" id="{98F28D3A-5069-45C3-8602-E8A0C04B400E}"/>
              </a:ext>
            </a:extLst>
          </p:cNvPr>
          <p:cNvSpPr>
            <a:spLocks noGrp="1"/>
          </p:cNvSpPr>
          <p:nvPr/>
        </p:nvSpPr>
        <p:spPr>
          <a:xfrm>
            <a:off x="1490132" y="1872192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Feature Encoder</a:t>
            </a:r>
          </a:p>
        </p:txBody>
      </p:sp>
      <p:sp>
        <p:nvSpPr>
          <p:cNvPr id="9" name="text-69">
            <a:extLst>
              <a:ext uri="{FF2B5EF4-FFF2-40B4-BE49-F238E27FC236}">
                <a16:creationId xmlns:a16="http://schemas.microsoft.com/office/drawing/2014/main" id="{88D102F8-B604-4D91-AB31-975054819B60}"/>
              </a:ext>
            </a:extLst>
          </p:cNvPr>
          <p:cNvSpPr>
            <a:spLocks noGrp="1"/>
          </p:cNvSpPr>
          <p:nvPr/>
        </p:nvSpPr>
        <p:spPr>
          <a:xfrm>
            <a:off x="4309533" y="1872192"/>
            <a:ext cx="177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可学习</a:t>
            </a:r>
          </a:p>
        </p:txBody>
      </p:sp>
      <p:sp>
        <p:nvSpPr>
          <p:cNvPr id="10" name="text-70">
            <a:extLst>
              <a:ext uri="{FF2B5EF4-FFF2-40B4-BE49-F238E27FC236}">
                <a16:creationId xmlns:a16="http://schemas.microsoft.com/office/drawing/2014/main" id="{096B9ABD-FBAA-4BAA-A46A-CFBA3787AAB1}"/>
              </a:ext>
            </a:extLst>
          </p:cNvPr>
          <p:cNvSpPr>
            <a:spLocks noGrp="1"/>
          </p:cNvSpPr>
          <p:nvPr/>
        </p:nvSpPr>
        <p:spPr>
          <a:xfrm>
            <a:off x="6341533" y="1872192"/>
            <a:ext cx="321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提取全局与局部多尺度图像特征</a:t>
            </a:r>
            <a:endParaRPr sz="1350" b="0" dirty="0">
              <a:solidFill>
                <a:srgbClr val="2438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box-71">
            <a:extLst>
              <a:ext uri="{FF2B5EF4-FFF2-40B4-BE49-F238E27FC236}">
                <a16:creationId xmlns:a16="http://schemas.microsoft.com/office/drawing/2014/main" id="{F096D5F2-D117-4EB5-B84E-94D86FF4E36F}"/>
              </a:ext>
            </a:extLst>
          </p:cNvPr>
          <p:cNvSpPr>
            <a:spLocks noGrp="1"/>
          </p:cNvSpPr>
          <p:nvPr/>
        </p:nvSpPr>
        <p:spPr>
          <a:xfrm>
            <a:off x="1413933" y="2367492"/>
            <a:ext cx="8530167" cy="590550"/>
          </a:xfrm>
          <a:prstGeom prst="rect">
            <a:avLst/>
          </a:prstGeom>
          <a:solidFill>
            <a:srgbClr val="FFFFFF"/>
          </a:solidFill>
          <a:ln w="6668">
            <a:solidFill>
              <a:srgbClr val="CADCEB"/>
            </a:solidFill>
            <a:prstDash val="solid"/>
          </a:ln>
        </p:spPr>
      </p:sp>
      <p:sp>
        <p:nvSpPr>
          <p:cNvPr id="12" name="text-72">
            <a:extLst>
              <a:ext uri="{FF2B5EF4-FFF2-40B4-BE49-F238E27FC236}">
                <a16:creationId xmlns:a16="http://schemas.microsoft.com/office/drawing/2014/main" id="{9FB67BBB-E8B4-4600-9CCE-279A92093A3F}"/>
              </a:ext>
            </a:extLst>
          </p:cNvPr>
          <p:cNvSpPr>
            <a:spLocks noGrp="1"/>
          </p:cNvSpPr>
          <p:nvPr/>
        </p:nvSpPr>
        <p:spPr>
          <a:xfrm>
            <a:off x="1490132" y="2481792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Depth Decoder</a:t>
            </a:r>
          </a:p>
        </p:txBody>
      </p:sp>
      <p:sp>
        <p:nvSpPr>
          <p:cNvPr id="13" name="text-73">
            <a:extLst>
              <a:ext uri="{FF2B5EF4-FFF2-40B4-BE49-F238E27FC236}">
                <a16:creationId xmlns:a16="http://schemas.microsoft.com/office/drawing/2014/main" id="{878E2267-A467-480D-8168-E49D834A75D0}"/>
              </a:ext>
            </a:extLst>
          </p:cNvPr>
          <p:cNvSpPr>
            <a:spLocks noGrp="1"/>
          </p:cNvSpPr>
          <p:nvPr/>
        </p:nvSpPr>
        <p:spPr>
          <a:xfrm>
            <a:off x="4309533" y="2481792"/>
            <a:ext cx="177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可学习</a:t>
            </a:r>
          </a:p>
        </p:txBody>
      </p:sp>
      <p:sp>
        <p:nvSpPr>
          <p:cNvPr id="14" name="text-74">
            <a:extLst>
              <a:ext uri="{FF2B5EF4-FFF2-40B4-BE49-F238E27FC236}">
                <a16:creationId xmlns:a16="http://schemas.microsoft.com/office/drawing/2014/main" id="{205E79B0-9F3D-4A6C-8536-57CD3B405C8E}"/>
              </a:ext>
            </a:extLst>
          </p:cNvPr>
          <p:cNvSpPr>
            <a:spLocks noGrp="1"/>
          </p:cNvSpPr>
          <p:nvPr/>
        </p:nvSpPr>
        <p:spPr>
          <a:xfrm>
            <a:off x="6341533" y="2481792"/>
            <a:ext cx="2878667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从共享特征预测双层深度</a:t>
            </a:r>
            <a:endParaRPr sz="1350" b="0" dirty="0">
              <a:solidFill>
                <a:srgbClr val="2438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box-75">
            <a:extLst>
              <a:ext uri="{FF2B5EF4-FFF2-40B4-BE49-F238E27FC236}">
                <a16:creationId xmlns:a16="http://schemas.microsoft.com/office/drawing/2014/main" id="{0B141C0C-B8EA-46F9-BC0F-2E132260E547}"/>
              </a:ext>
            </a:extLst>
          </p:cNvPr>
          <p:cNvSpPr>
            <a:spLocks noGrp="1"/>
          </p:cNvSpPr>
          <p:nvPr/>
        </p:nvSpPr>
        <p:spPr>
          <a:xfrm>
            <a:off x="1413933" y="2977092"/>
            <a:ext cx="8530167" cy="590550"/>
          </a:xfrm>
          <a:prstGeom prst="rect">
            <a:avLst/>
          </a:prstGeom>
          <a:solidFill>
            <a:srgbClr val="F7FAFD"/>
          </a:solidFill>
          <a:ln w="6668">
            <a:solidFill>
              <a:srgbClr val="CADCEB"/>
            </a:solidFill>
            <a:prstDash val="solid"/>
          </a:ln>
        </p:spPr>
      </p:sp>
      <p:sp>
        <p:nvSpPr>
          <p:cNvPr id="16" name="text-76">
            <a:extLst>
              <a:ext uri="{FF2B5EF4-FFF2-40B4-BE49-F238E27FC236}">
                <a16:creationId xmlns:a16="http://schemas.microsoft.com/office/drawing/2014/main" id="{990F02D0-4AEF-48EA-A676-449F89A0AF3B}"/>
              </a:ext>
            </a:extLst>
          </p:cNvPr>
          <p:cNvSpPr>
            <a:spLocks noGrp="1"/>
          </p:cNvSpPr>
          <p:nvPr/>
        </p:nvSpPr>
        <p:spPr>
          <a:xfrm>
            <a:off x="1490132" y="3091392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Depth Adjustment</a:t>
            </a:r>
          </a:p>
        </p:txBody>
      </p:sp>
      <p:sp>
        <p:nvSpPr>
          <p:cNvPr id="17" name="text-77">
            <a:extLst>
              <a:ext uri="{FF2B5EF4-FFF2-40B4-BE49-F238E27FC236}">
                <a16:creationId xmlns:a16="http://schemas.microsoft.com/office/drawing/2014/main" id="{C09602F6-E26F-4E99-8857-8A43D9F92546}"/>
              </a:ext>
            </a:extLst>
          </p:cNvPr>
          <p:cNvSpPr>
            <a:spLocks noGrp="1"/>
          </p:cNvSpPr>
          <p:nvPr/>
        </p:nvSpPr>
        <p:spPr>
          <a:xfrm>
            <a:off x="4309533" y="3091392"/>
            <a:ext cx="177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仅训练可学习</a:t>
            </a:r>
          </a:p>
        </p:txBody>
      </p:sp>
      <p:sp>
        <p:nvSpPr>
          <p:cNvPr id="18" name="text-78">
            <a:extLst>
              <a:ext uri="{FF2B5EF4-FFF2-40B4-BE49-F238E27FC236}">
                <a16:creationId xmlns:a16="http://schemas.microsoft.com/office/drawing/2014/main" id="{207AAC6C-2B5B-4FC7-A69E-320FE8465431}"/>
              </a:ext>
            </a:extLst>
          </p:cNvPr>
          <p:cNvSpPr>
            <a:spLocks noGrp="1"/>
          </p:cNvSpPr>
          <p:nvPr/>
        </p:nvSpPr>
        <p:spPr>
          <a:xfrm>
            <a:off x="6341533" y="3091392"/>
            <a:ext cx="317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利用精确深度生成训练阶段的深度修正</a:t>
            </a:r>
            <a:endParaRPr sz="1350" b="0" dirty="0">
              <a:solidFill>
                <a:srgbClr val="2438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box-79">
            <a:extLst>
              <a:ext uri="{FF2B5EF4-FFF2-40B4-BE49-F238E27FC236}">
                <a16:creationId xmlns:a16="http://schemas.microsoft.com/office/drawing/2014/main" id="{9A69207D-6A8C-443A-83C2-EAEAC1968AC8}"/>
              </a:ext>
            </a:extLst>
          </p:cNvPr>
          <p:cNvSpPr>
            <a:spLocks noGrp="1"/>
          </p:cNvSpPr>
          <p:nvPr/>
        </p:nvSpPr>
        <p:spPr>
          <a:xfrm>
            <a:off x="1413933" y="3586692"/>
            <a:ext cx="8530167" cy="590550"/>
          </a:xfrm>
          <a:prstGeom prst="rect">
            <a:avLst/>
          </a:prstGeom>
          <a:solidFill>
            <a:srgbClr val="FFFFFF"/>
          </a:solidFill>
          <a:ln w="6668">
            <a:solidFill>
              <a:srgbClr val="CADCEB"/>
            </a:solidFill>
            <a:prstDash val="solid"/>
          </a:ln>
        </p:spPr>
      </p:sp>
      <p:sp>
        <p:nvSpPr>
          <p:cNvPr id="20" name="text-80">
            <a:extLst>
              <a:ext uri="{FF2B5EF4-FFF2-40B4-BE49-F238E27FC236}">
                <a16:creationId xmlns:a16="http://schemas.microsoft.com/office/drawing/2014/main" id="{380F42E6-049E-4DFC-B909-AEF7E074243B}"/>
              </a:ext>
            </a:extLst>
          </p:cNvPr>
          <p:cNvSpPr>
            <a:spLocks noGrp="1"/>
          </p:cNvSpPr>
          <p:nvPr/>
        </p:nvSpPr>
        <p:spPr>
          <a:xfrm>
            <a:off x="1490132" y="3700992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Gaussian Initializer</a:t>
            </a:r>
          </a:p>
        </p:txBody>
      </p:sp>
      <p:sp>
        <p:nvSpPr>
          <p:cNvPr id="21" name="text-81">
            <a:extLst>
              <a:ext uri="{FF2B5EF4-FFF2-40B4-BE49-F238E27FC236}">
                <a16:creationId xmlns:a16="http://schemas.microsoft.com/office/drawing/2014/main" id="{C73AA54B-B149-4DB7-A05C-8155D5C180FE}"/>
              </a:ext>
            </a:extLst>
          </p:cNvPr>
          <p:cNvSpPr>
            <a:spLocks noGrp="1"/>
          </p:cNvSpPr>
          <p:nvPr/>
        </p:nvSpPr>
        <p:spPr>
          <a:xfrm>
            <a:off x="4309533" y="3700992"/>
            <a:ext cx="177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固定、可微</a:t>
            </a:r>
          </a:p>
        </p:txBody>
      </p:sp>
      <p:sp>
        <p:nvSpPr>
          <p:cNvPr id="22" name="text-82">
            <a:extLst>
              <a:ext uri="{FF2B5EF4-FFF2-40B4-BE49-F238E27FC236}">
                <a16:creationId xmlns:a16="http://schemas.microsoft.com/office/drawing/2014/main" id="{7961077B-03AC-460D-B8CD-5BE412489704}"/>
              </a:ext>
            </a:extLst>
          </p:cNvPr>
          <p:cNvSpPr>
            <a:spLocks noGrp="1"/>
          </p:cNvSpPr>
          <p:nvPr/>
        </p:nvSpPr>
        <p:spPr>
          <a:xfrm>
            <a:off x="6341533" y="3700992"/>
            <a:ext cx="3246967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由RGB与双层深度构造Base</a:t>
            </a:r>
            <a:r>
              <a:rPr sz="1350" b="0" dirty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 Gaussians</a:t>
            </a:r>
          </a:p>
        </p:txBody>
      </p:sp>
      <p:sp>
        <p:nvSpPr>
          <p:cNvPr id="23" name="box-83">
            <a:extLst>
              <a:ext uri="{FF2B5EF4-FFF2-40B4-BE49-F238E27FC236}">
                <a16:creationId xmlns:a16="http://schemas.microsoft.com/office/drawing/2014/main" id="{02D2CA6E-109E-45FB-BF50-464183F02F57}"/>
              </a:ext>
            </a:extLst>
          </p:cNvPr>
          <p:cNvSpPr>
            <a:spLocks noGrp="1"/>
          </p:cNvSpPr>
          <p:nvPr/>
        </p:nvSpPr>
        <p:spPr>
          <a:xfrm>
            <a:off x="1413933" y="4196292"/>
            <a:ext cx="8530167" cy="590550"/>
          </a:xfrm>
          <a:prstGeom prst="rect">
            <a:avLst/>
          </a:prstGeom>
          <a:solidFill>
            <a:srgbClr val="F7FAFD"/>
          </a:solidFill>
          <a:ln w="6668">
            <a:solidFill>
              <a:srgbClr val="CADCEB"/>
            </a:solidFill>
            <a:prstDash val="solid"/>
          </a:ln>
        </p:spPr>
      </p:sp>
      <p:sp>
        <p:nvSpPr>
          <p:cNvPr id="24" name="text-84">
            <a:extLst>
              <a:ext uri="{FF2B5EF4-FFF2-40B4-BE49-F238E27FC236}">
                <a16:creationId xmlns:a16="http://schemas.microsoft.com/office/drawing/2014/main" id="{4497A604-1767-4232-9283-434AF209E95C}"/>
              </a:ext>
            </a:extLst>
          </p:cNvPr>
          <p:cNvSpPr>
            <a:spLocks noGrp="1"/>
          </p:cNvSpPr>
          <p:nvPr/>
        </p:nvSpPr>
        <p:spPr>
          <a:xfrm>
            <a:off x="1490132" y="4310592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Gaussian Decoder</a:t>
            </a:r>
          </a:p>
        </p:txBody>
      </p:sp>
      <p:sp>
        <p:nvSpPr>
          <p:cNvPr id="25" name="text-85">
            <a:extLst>
              <a:ext uri="{FF2B5EF4-FFF2-40B4-BE49-F238E27FC236}">
                <a16:creationId xmlns:a16="http://schemas.microsoft.com/office/drawing/2014/main" id="{5D37321F-C56B-400C-A2FF-AAD153153836}"/>
              </a:ext>
            </a:extLst>
          </p:cNvPr>
          <p:cNvSpPr>
            <a:spLocks noGrp="1"/>
          </p:cNvSpPr>
          <p:nvPr/>
        </p:nvSpPr>
        <p:spPr>
          <a:xfrm>
            <a:off x="4309533" y="4310592"/>
            <a:ext cx="177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可学习</a:t>
            </a:r>
          </a:p>
        </p:txBody>
      </p:sp>
      <p:sp>
        <p:nvSpPr>
          <p:cNvPr id="26" name="text-86">
            <a:extLst>
              <a:ext uri="{FF2B5EF4-FFF2-40B4-BE49-F238E27FC236}">
                <a16:creationId xmlns:a16="http://schemas.microsoft.com/office/drawing/2014/main" id="{9302971E-74D7-4BB0-80D3-8B18766E01D4}"/>
              </a:ext>
            </a:extLst>
          </p:cNvPr>
          <p:cNvSpPr>
            <a:spLocks noGrp="1"/>
          </p:cNvSpPr>
          <p:nvPr/>
        </p:nvSpPr>
        <p:spPr>
          <a:xfrm>
            <a:off x="6341533" y="4310592"/>
            <a:ext cx="317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预测位置3维与其他属性11维残差</a:t>
            </a:r>
          </a:p>
        </p:txBody>
      </p:sp>
      <p:sp>
        <p:nvSpPr>
          <p:cNvPr id="27" name="box-87">
            <a:extLst>
              <a:ext uri="{FF2B5EF4-FFF2-40B4-BE49-F238E27FC236}">
                <a16:creationId xmlns:a16="http://schemas.microsoft.com/office/drawing/2014/main" id="{82CC43E6-FEBF-4B15-A62D-E12C0CD16CA3}"/>
              </a:ext>
            </a:extLst>
          </p:cNvPr>
          <p:cNvSpPr>
            <a:spLocks noGrp="1"/>
          </p:cNvSpPr>
          <p:nvPr/>
        </p:nvSpPr>
        <p:spPr>
          <a:xfrm>
            <a:off x="1413933" y="4805892"/>
            <a:ext cx="8530167" cy="590550"/>
          </a:xfrm>
          <a:prstGeom prst="rect">
            <a:avLst/>
          </a:prstGeom>
          <a:solidFill>
            <a:srgbClr val="FFFFFF"/>
          </a:solidFill>
          <a:ln w="6668">
            <a:solidFill>
              <a:srgbClr val="CADCEB"/>
            </a:solidFill>
            <a:prstDash val="solid"/>
          </a:ln>
        </p:spPr>
      </p:sp>
      <p:sp>
        <p:nvSpPr>
          <p:cNvPr id="28" name="text-88">
            <a:extLst>
              <a:ext uri="{FF2B5EF4-FFF2-40B4-BE49-F238E27FC236}">
                <a16:creationId xmlns:a16="http://schemas.microsoft.com/office/drawing/2014/main" id="{F035751F-AB7B-4DEC-B066-F3D7CA0C4937}"/>
              </a:ext>
            </a:extLst>
          </p:cNvPr>
          <p:cNvSpPr>
            <a:spLocks noGrp="1"/>
          </p:cNvSpPr>
          <p:nvPr/>
        </p:nvSpPr>
        <p:spPr>
          <a:xfrm>
            <a:off x="1490132" y="4920192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Composer / Renderer</a:t>
            </a:r>
          </a:p>
        </p:txBody>
      </p:sp>
      <p:sp>
        <p:nvSpPr>
          <p:cNvPr id="29" name="text-89">
            <a:extLst>
              <a:ext uri="{FF2B5EF4-FFF2-40B4-BE49-F238E27FC236}">
                <a16:creationId xmlns:a16="http://schemas.microsoft.com/office/drawing/2014/main" id="{CBB1EC79-DD4E-43AD-9088-8EDE0CE630CC}"/>
              </a:ext>
            </a:extLst>
          </p:cNvPr>
          <p:cNvSpPr>
            <a:spLocks noGrp="1"/>
          </p:cNvSpPr>
          <p:nvPr/>
        </p:nvSpPr>
        <p:spPr>
          <a:xfrm>
            <a:off x="4309533" y="4920192"/>
            <a:ext cx="177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固定实现</a:t>
            </a:r>
          </a:p>
        </p:txBody>
      </p:sp>
      <p:sp>
        <p:nvSpPr>
          <p:cNvPr id="30" name="text-90">
            <a:extLst>
              <a:ext uri="{FF2B5EF4-FFF2-40B4-BE49-F238E27FC236}">
                <a16:creationId xmlns:a16="http://schemas.microsoft.com/office/drawing/2014/main" id="{5635D1DF-F266-44BF-8B90-12F2026D2EB2}"/>
              </a:ext>
            </a:extLst>
          </p:cNvPr>
          <p:cNvSpPr>
            <a:spLocks noGrp="1"/>
          </p:cNvSpPr>
          <p:nvPr/>
        </p:nvSpPr>
        <p:spPr>
          <a:xfrm>
            <a:off x="6341533" y="4920192"/>
            <a:ext cx="309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合成最终高斯参数并完成可微渲染</a:t>
            </a:r>
            <a:endParaRPr sz="1350" b="0" dirty="0">
              <a:solidFill>
                <a:srgbClr val="2438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text-91">
            <a:extLst>
              <a:ext uri="{FF2B5EF4-FFF2-40B4-BE49-F238E27FC236}">
                <a16:creationId xmlns:a16="http://schemas.microsoft.com/office/drawing/2014/main" id="{DF66F44C-502A-45A6-A7CE-8D47112D50E3}"/>
              </a:ext>
            </a:extLst>
          </p:cNvPr>
          <p:cNvSpPr>
            <a:spLocks noGrp="1"/>
          </p:cNvSpPr>
          <p:nvPr/>
        </p:nvSpPr>
        <p:spPr>
          <a:xfrm>
            <a:off x="1143000" y="592455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说明：官方仓库公开模型与推理代码，未公开完整训练循环、训练数据集和损失实现。</a:t>
            </a:r>
          </a:p>
        </p:txBody>
      </p:sp>
      <p:sp>
        <p:nvSpPr>
          <p:cNvPr id="32" name="box-439">
            <a:extLst>
              <a:ext uri="{FF2B5EF4-FFF2-40B4-BE49-F238E27FC236}">
                <a16:creationId xmlns:a16="http://schemas.microsoft.com/office/drawing/2014/main" id="{B44DA033-B5FE-48AA-BA3D-F4BBAF0AC258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3" name="text-440">
            <a:extLst>
              <a:ext uri="{FF2B5EF4-FFF2-40B4-BE49-F238E27FC236}">
                <a16:creationId xmlns:a16="http://schemas.microsoft.com/office/drawing/2014/main" id="{722B1784-9C32-4D22-A335-595DB1457C3E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5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9380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92">
            <a:extLst>
              <a:ext uri="{FF2B5EF4-FFF2-40B4-BE49-F238E27FC236}">
                <a16:creationId xmlns:a16="http://schemas.microsoft.com/office/drawing/2014/main" id="{E9EB85CD-8901-48D5-B0CD-51276225DCAF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Depth Pro特征编码器</a:t>
            </a:r>
          </a:p>
        </p:txBody>
      </p:sp>
      <p:sp>
        <p:nvSpPr>
          <p:cNvPr id="2" name="text-93">
            <a:extLst>
              <a:ext uri="{FF2B5EF4-FFF2-40B4-BE49-F238E27FC236}">
                <a16:creationId xmlns:a16="http://schemas.microsoft.com/office/drawing/2014/main" id="{C36E4301-4FC2-4A90-9678-A8FA6B603693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全局ViT与局部ViT并行提取信息，输出由细到粗的多尺度特征</a:t>
            </a:r>
          </a:p>
        </p:txBody>
      </p:sp>
      <p:sp>
        <p:nvSpPr>
          <p:cNvPr id="3" name="box-94">
            <a:extLst>
              <a:ext uri="{FF2B5EF4-FFF2-40B4-BE49-F238E27FC236}">
                <a16:creationId xmlns:a16="http://schemas.microsoft.com/office/drawing/2014/main" id="{730E3361-3C74-48CB-A346-679C75CE0BDE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1924050" cy="1847850"/>
          </a:xfrm>
          <a:prstGeom prst="roundRect">
            <a:avLst>
              <a:gd name="adj" fmla="val 3093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4" name="text-95">
            <a:extLst>
              <a:ext uri="{FF2B5EF4-FFF2-40B4-BE49-F238E27FC236}">
                <a16:creationId xmlns:a16="http://schemas.microsoft.com/office/drawing/2014/main" id="{D2EF8A64-F01E-452D-B277-45AC90BE79D2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输入RGB</a:t>
            </a:r>
          </a:p>
        </p:txBody>
      </p:sp>
      <p:sp>
        <p:nvSpPr>
          <p:cNvPr id="5" name="text-96">
            <a:extLst>
              <a:ext uri="{FF2B5EF4-FFF2-40B4-BE49-F238E27FC236}">
                <a16:creationId xmlns:a16="http://schemas.microsoft.com/office/drawing/2014/main" id="{40A1B4D2-C178-4002-90E5-3B73573A3C6F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[B,3,1536,1536]</a:t>
            </a:r>
          </a:p>
        </p:txBody>
      </p:sp>
      <p:sp>
        <p:nvSpPr>
          <p:cNvPr id="6" name="text-97">
            <a:extLst>
              <a:ext uri="{FF2B5EF4-FFF2-40B4-BE49-F238E27FC236}">
                <a16:creationId xmlns:a16="http://schemas.microsoft.com/office/drawing/2014/main" id="{C65F282E-187E-4ACE-99CD-6693D81CBC4B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并行送入两路ViT</a:t>
            </a:r>
          </a:p>
        </p:txBody>
      </p:sp>
      <p:sp>
        <p:nvSpPr>
          <p:cNvPr id="7" name="arrow-98">
            <a:extLst>
              <a:ext uri="{FF2B5EF4-FFF2-40B4-BE49-F238E27FC236}">
                <a16:creationId xmlns:a16="http://schemas.microsoft.com/office/drawing/2014/main" id="{B8D3D1F6-8239-4BF7-991F-DDCE2F4C698C}"/>
              </a:ext>
            </a:extLst>
          </p:cNvPr>
          <p:cNvSpPr>
            <a:spLocks noGrp="1"/>
          </p:cNvSpPr>
          <p:nvPr/>
        </p:nvSpPr>
        <p:spPr>
          <a:xfrm>
            <a:off x="2781300" y="1943100"/>
            <a:ext cx="361950" cy="1905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8" name="arrow-99">
            <a:extLst>
              <a:ext uri="{FF2B5EF4-FFF2-40B4-BE49-F238E27FC236}">
                <a16:creationId xmlns:a16="http://schemas.microsoft.com/office/drawing/2014/main" id="{37D155AD-A79D-4D9A-8AEE-3350BDD0D4A5}"/>
              </a:ext>
            </a:extLst>
          </p:cNvPr>
          <p:cNvSpPr>
            <a:spLocks noGrp="1"/>
          </p:cNvSpPr>
          <p:nvPr/>
        </p:nvSpPr>
        <p:spPr>
          <a:xfrm>
            <a:off x="2781300" y="3705225"/>
            <a:ext cx="361950" cy="1905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9" name="box-100">
            <a:extLst>
              <a:ext uri="{FF2B5EF4-FFF2-40B4-BE49-F238E27FC236}">
                <a16:creationId xmlns:a16="http://schemas.microsoft.com/office/drawing/2014/main" id="{E741A222-6F62-42E1-87FE-DAB307A83A08}"/>
              </a:ext>
            </a:extLst>
          </p:cNvPr>
          <p:cNvSpPr>
            <a:spLocks noGrp="1"/>
          </p:cNvSpPr>
          <p:nvPr/>
        </p:nvSpPr>
        <p:spPr>
          <a:xfrm>
            <a:off x="3276600" y="1409700"/>
            <a:ext cx="2990850" cy="1409700"/>
          </a:xfrm>
          <a:prstGeom prst="roundRect">
            <a:avLst>
              <a:gd name="adj" fmla="val 4054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0" name="text-101">
            <a:extLst>
              <a:ext uri="{FF2B5EF4-FFF2-40B4-BE49-F238E27FC236}">
                <a16:creationId xmlns:a16="http://schemas.microsoft.com/office/drawing/2014/main" id="{294BB871-0718-41CE-89A7-121594936DF5}"/>
              </a:ext>
            </a:extLst>
          </p:cNvPr>
          <p:cNvSpPr>
            <a:spLocks noGrp="1"/>
          </p:cNvSpPr>
          <p:nvPr/>
        </p:nvSpPr>
        <p:spPr>
          <a:xfrm>
            <a:off x="3352800" y="1457325"/>
            <a:ext cx="28384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全局ViT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低分辨率全局结构</a:t>
            </a:r>
          </a:p>
        </p:txBody>
      </p:sp>
      <p:sp>
        <p:nvSpPr>
          <p:cNvPr id="11" name="box-102">
            <a:extLst>
              <a:ext uri="{FF2B5EF4-FFF2-40B4-BE49-F238E27FC236}">
                <a16:creationId xmlns:a16="http://schemas.microsoft.com/office/drawing/2014/main" id="{748525D7-25C8-4E7F-A372-47F1BA22D081}"/>
              </a:ext>
            </a:extLst>
          </p:cNvPr>
          <p:cNvSpPr>
            <a:spLocks noGrp="1"/>
          </p:cNvSpPr>
          <p:nvPr/>
        </p:nvSpPr>
        <p:spPr>
          <a:xfrm>
            <a:off x="3276600" y="3181350"/>
            <a:ext cx="2990850" cy="1409700"/>
          </a:xfrm>
          <a:prstGeom prst="roundRect">
            <a:avLst>
              <a:gd name="adj" fmla="val 4054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2" name="text-103">
            <a:extLst>
              <a:ext uri="{FF2B5EF4-FFF2-40B4-BE49-F238E27FC236}">
                <a16:creationId xmlns:a16="http://schemas.microsoft.com/office/drawing/2014/main" id="{BB5D96CB-77A7-40C2-AD33-63B214E0EE8F}"/>
              </a:ext>
            </a:extLst>
          </p:cNvPr>
          <p:cNvSpPr>
            <a:spLocks noGrp="1"/>
          </p:cNvSpPr>
          <p:nvPr/>
        </p:nvSpPr>
        <p:spPr>
          <a:xfrm>
            <a:off x="3352800" y="3228975"/>
            <a:ext cx="28384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局部ViT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高分辨率局部细节</a:t>
            </a:r>
          </a:p>
        </p:txBody>
      </p:sp>
      <p:sp>
        <p:nvSpPr>
          <p:cNvPr id="13" name="arrow-104">
            <a:extLst>
              <a:ext uri="{FF2B5EF4-FFF2-40B4-BE49-F238E27FC236}">
                <a16:creationId xmlns:a16="http://schemas.microsoft.com/office/drawing/2014/main" id="{F3B781FF-F1C8-4808-B613-86C226E60165}"/>
              </a:ext>
            </a:extLst>
          </p:cNvPr>
          <p:cNvSpPr>
            <a:spLocks noGrp="1"/>
          </p:cNvSpPr>
          <p:nvPr/>
        </p:nvSpPr>
        <p:spPr>
          <a:xfrm>
            <a:off x="6477000" y="1962150"/>
            <a:ext cx="400050" cy="20955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14" name="arrow-105">
            <a:extLst>
              <a:ext uri="{FF2B5EF4-FFF2-40B4-BE49-F238E27FC236}">
                <a16:creationId xmlns:a16="http://schemas.microsoft.com/office/drawing/2014/main" id="{01BE970F-4E2C-49C3-B541-30C1D0F0ADCA}"/>
              </a:ext>
            </a:extLst>
          </p:cNvPr>
          <p:cNvSpPr>
            <a:spLocks noGrp="1"/>
          </p:cNvSpPr>
          <p:nvPr/>
        </p:nvSpPr>
        <p:spPr>
          <a:xfrm>
            <a:off x="6477000" y="3733800"/>
            <a:ext cx="400050" cy="20955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15" name="box-106">
            <a:extLst>
              <a:ext uri="{FF2B5EF4-FFF2-40B4-BE49-F238E27FC236}">
                <a16:creationId xmlns:a16="http://schemas.microsoft.com/office/drawing/2014/main" id="{26757959-98B0-4452-9281-5879B16AEF2A}"/>
              </a:ext>
            </a:extLst>
          </p:cNvPr>
          <p:cNvSpPr>
            <a:spLocks noGrp="1"/>
          </p:cNvSpPr>
          <p:nvPr/>
        </p:nvSpPr>
        <p:spPr>
          <a:xfrm>
            <a:off x="7086600" y="1295400"/>
            <a:ext cx="4114800" cy="3543300"/>
          </a:xfrm>
          <a:prstGeom prst="roundRect">
            <a:avLst>
              <a:gd name="adj" fmla="val 1613"/>
            </a:avLst>
          </a:prstGeom>
          <a:solidFill>
            <a:srgbClr val="F8FBFE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6" name="text-107">
            <a:extLst>
              <a:ext uri="{FF2B5EF4-FFF2-40B4-BE49-F238E27FC236}">
                <a16:creationId xmlns:a16="http://schemas.microsoft.com/office/drawing/2014/main" id="{95F132B8-AC32-42D6-86E2-EF93DEDCE966}"/>
              </a:ext>
            </a:extLst>
          </p:cNvPr>
          <p:cNvSpPr>
            <a:spLocks noGrp="1"/>
          </p:cNvSpPr>
          <p:nvPr/>
        </p:nvSpPr>
        <p:spPr>
          <a:xfrm>
            <a:off x="7448550" y="1504950"/>
            <a:ext cx="3390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多尺度特征输出</a:t>
            </a:r>
          </a:p>
        </p:txBody>
      </p:sp>
      <p:sp>
        <p:nvSpPr>
          <p:cNvPr id="17" name="box-108">
            <a:extLst>
              <a:ext uri="{FF2B5EF4-FFF2-40B4-BE49-F238E27FC236}">
                <a16:creationId xmlns:a16="http://schemas.microsoft.com/office/drawing/2014/main" id="{4183508D-1E6F-4A36-92B1-FC5D5585BB0E}"/>
              </a:ext>
            </a:extLst>
          </p:cNvPr>
          <p:cNvSpPr>
            <a:spLocks noGrp="1"/>
          </p:cNvSpPr>
          <p:nvPr/>
        </p:nvSpPr>
        <p:spPr>
          <a:xfrm>
            <a:off x="7572375" y="2038350"/>
            <a:ext cx="3143250" cy="4000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18" name="text-109">
            <a:extLst>
              <a:ext uri="{FF2B5EF4-FFF2-40B4-BE49-F238E27FC236}">
                <a16:creationId xmlns:a16="http://schemas.microsoft.com/office/drawing/2014/main" id="{2D24C883-794D-417F-A71B-19E86C8F8B13}"/>
              </a:ext>
            </a:extLst>
          </p:cNvPr>
          <p:cNvSpPr>
            <a:spLocks noGrp="1"/>
          </p:cNvSpPr>
          <p:nvPr/>
        </p:nvSpPr>
        <p:spPr>
          <a:xfrm>
            <a:off x="7648575" y="2124075"/>
            <a:ext cx="2990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f₁  高分辨率局部边界</a:t>
            </a:r>
          </a:p>
        </p:txBody>
      </p:sp>
      <p:sp>
        <p:nvSpPr>
          <p:cNvPr id="19" name="box-110">
            <a:extLst>
              <a:ext uri="{FF2B5EF4-FFF2-40B4-BE49-F238E27FC236}">
                <a16:creationId xmlns:a16="http://schemas.microsoft.com/office/drawing/2014/main" id="{ADD8DB64-2097-4859-A2E0-49DCBB4ED6EC}"/>
              </a:ext>
            </a:extLst>
          </p:cNvPr>
          <p:cNvSpPr>
            <a:spLocks noGrp="1"/>
          </p:cNvSpPr>
          <p:nvPr/>
        </p:nvSpPr>
        <p:spPr>
          <a:xfrm>
            <a:off x="7762875" y="2590800"/>
            <a:ext cx="2762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0" name="text-111">
            <a:extLst>
              <a:ext uri="{FF2B5EF4-FFF2-40B4-BE49-F238E27FC236}">
                <a16:creationId xmlns:a16="http://schemas.microsoft.com/office/drawing/2014/main" id="{9B88A583-C11A-426C-A497-D15D64AFCED7}"/>
              </a:ext>
            </a:extLst>
          </p:cNvPr>
          <p:cNvSpPr>
            <a:spLocks noGrp="1"/>
          </p:cNvSpPr>
          <p:nvPr/>
        </p:nvSpPr>
        <p:spPr>
          <a:xfrm>
            <a:off x="7839075" y="2676525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f₂  中高分辨率细节</a:t>
            </a:r>
          </a:p>
        </p:txBody>
      </p:sp>
      <p:sp>
        <p:nvSpPr>
          <p:cNvPr id="21" name="box-112">
            <a:extLst>
              <a:ext uri="{FF2B5EF4-FFF2-40B4-BE49-F238E27FC236}">
                <a16:creationId xmlns:a16="http://schemas.microsoft.com/office/drawing/2014/main" id="{93FD6B83-E379-4BF2-BC45-3C13F3A96AF2}"/>
              </a:ext>
            </a:extLst>
          </p:cNvPr>
          <p:cNvSpPr>
            <a:spLocks noGrp="1"/>
          </p:cNvSpPr>
          <p:nvPr/>
        </p:nvSpPr>
        <p:spPr>
          <a:xfrm>
            <a:off x="7953375" y="3143250"/>
            <a:ext cx="2381250" cy="4000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2" name="text-113">
            <a:extLst>
              <a:ext uri="{FF2B5EF4-FFF2-40B4-BE49-F238E27FC236}">
                <a16:creationId xmlns:a16="http://schemas.microsoft.com/office/drawing/2014/main" id="{01928DB2-C532-41FF-B613-4D5179C571B6}"/>
              </a:ext>
            </a:extLst>
          </p:cNvPr>
          <p:cNvSpPr>
            <a:spLocks noGrp="1"/>
          </p:cNvSpPr>
          <p:nvPr/>
        </p:nvSpPr>
        <p:spPr>
          <a:xfrm>
            <a:off x="8029575" y="3228975"/>
            <a:ext cx="2228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f₃  中尺度场景结构</a:t>
            </a:r>
          </a:p>
        </p:txBody>
      </p:sp>
      <p:sp>
        <p:nvSpPr>
          <p:cNvPr id="23" name="box-114">
            <a:extLst>
              <a:ext uri="{FF2B5EF4-FFF2-40B4-BE49-F238E27FC236}">
                <a16:creationId xmlns:a16="http://schemas.microsoft.com/office/drawing/2014/main" id="{3D48FC8A-FA61-4CD6-B95A-157BCA3E3645}"/>
              </a:ext>
            </a:extLst>
          </p:cNvPr>
          <p:cNvSpPr>
            <a:spLocks noGrp="1"/>
          </p:cNvSpPr>
          <p:nvPr/>
        </p:nvSpPr>
        <p:spPr>
          <a:xfrm>
            <a:off x="8143875" y="3695700"/>
            <a:ext cx="2000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4" name="text-115">
            <a:extLst>
              <a:ext uri="{FF2B5EF4-FFF2-40B4-BE49-F238E27FC236}">
                <a16:creationId xmlns:a16="http://schemas.microsoft.com/office/drawing/2014/main" id="{3234D300-6E24-41BF-981B-07EA80BE2068}"/>
              </a:ext>
            </a:extLst>
          </p:cNvPr>
          <p:cNvSpPr>
            <a:spLocks noGrp="1"/>
          </p:cNvSpPr>
          <p:nvPr/>
        </p:nvSpPr>
        <p:spPr>
          <a:xfrm>
            <a:off x="8220075" y="3781425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f₄  低分辨率全局语义</a:t>
            </a:r>
          </a:p>
        </p:txBody>
      </p:sp>
      <p:sp>
        <p:nvSpPr>
          <p:cNvPr id="25" name="text-116">
            <a:extLst>
              <a:ext uri="{FF2B5EF4-FFF2-40B4-BE49-F238E27FC236}">
                <a16:creationId xmlns:a16="http://schemas.microsoft.com/office/drawing/2014/main" id="{33806764-2BBE-4433-B38E-6372A8B30641}"/>
              </a:ext>
            </a:extLst>
          </p:cNvPr>
          <p:cNvSpPr>
            <a:spLocks noGrp="1"/>
          </p:cNvSpPr>
          <p:nvPr/>
        </p:nvSpPr>
        <p:spPr>
          <a:xfrm>
            <a:off x="7429500" y="43624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共享给Depth Decoder与Gaussian Decoder</a:t>
            </a:r>
          </a:p>
        </p:txBody>
      </p:sp>
      <p:sp>
        <p:nvSpPr>
          <p:cNvPr id="26" name="text-117">
            <a:extLst>
              <a:ext uri="{FF2B5EF4-FFF2-40B4-BE49-F238E27FC236}">
                <a16:creationId xmlns:a16="http://schemas.microsoft.com/office/drawing/2014/main" id="{2214269F-7EDC-401B-8ECE-5D7CD8310DC3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依据：SHARP Section 3.1；本地源码 monodepth.py 与 encoders/spn_encoder.py。</a:t>
            </a:r>
          </a:p>
        </p:txBody>
      </p:sp>
      <p:sp>
        <p:nvSpPr>
          <p:cNvPr id="27" name="box-441">
            <a:extLst>
              <a:ext uri="{FF2B5EF4-FFF2-40B4-BE49-F238E27FC236}">
                <a16:creationId xmlns:a16="http://schemas.microsoft.com/office/drawing/2014/main" id="{499D2217-C6B0-4128-8731-9DE54E0EAFA9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text-442">
            <a:extLst>
              <a:ext uri="{FF2B5EF4-FFF2-40B4-BE49-F238E27FC236}">
                <a16:creationId xmlns:a16="http://schemas.microsoft.com/office/drawing/2014/main" id="{069F2A6D-CECD-441D-94FC-1610E6D9054B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6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1849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118">
            <a:extLst>
              <a:ext uri="{FF2B5EF4-FFF2-40B4-BE49-F238E27FC236}">
                <a16:creationId xmlns:a16="http://schemas.microsoft.com/office/drawing/2014/main" id="{E22E77DB-8676-49DF-BE9D-6B6E73660168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双层Depth Decoder</a:t>
            </a:r>
          </a:p>
        </p:txBody>
      </p:sp>
      <p:sp>
        <p:nvSpPr>
          <p:cNvPr id="2" name="text-119">
            <a:extLst>
              <a:ext uri="{FF2B5EF4-FFF2-40B4-BE49-F238E27FC236}">
                <a16:creationId xmlns:a16="http://schemas.microsoft.com/office/drawing/2014/main" id="{9E959CFF-6F02-44FF-9043-F5F133E6BE9A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融合多尺度特征，先输出双层视差，再结合相机参数转换为metric depth</a:t>
            </a:r>
          </a:p>
        </p:txBody>
      </p:sp>
      <p:sp>
        <p:nvSpPr>
          <p:cNvPr id="3" name="box-120">
            <a:extLst>
              <a:ext uri="{FF2B5EF4-FFF2-40B4-BE49-F238E27FC236}">
                <a16:creationId xmlns:a16="http://schemas.microsoft.com/office/drawing/2014/main" id="{6B90B5D9-DC51-4A20-BC7D-A5F031C3510C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2133600" cy="1200150"/>
          </a:xfrm>
          <a:prstGeom prst="roundRect">
            <a:avLst>
              <a:gd name="adj" fmla="val 4762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4" name="text-121">
            <a:extLst>
              <a:ext uri="{FF2B5EF4-FFF2-40B4-BE49-F238E27FC236}">
                <a16:creationId xmlns:a16="http://schemas.microsoft.com/office/drawing/2014/main" id="{9DDF04DA-7688-4C70-AD06-698A24CB9278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981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多尺度特征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f₁ · f₂ · f₃ · f₄</a:t>
            </a:r>
          </a:p>
        </p:txBody>
      </p:sp>
      <p:sp>
        <p:nvSpPr>
          <p:cNvPr id="5" name="arrow-122">
            <a:extLst>
              <a:ext uri="{FF2B5EF4-FFF2-40B4-BE49-F238E27FC236}">
                <a16:creationId xmlns:a16="http://schemas.microsoft.com/office/drawing/2014/main" id="{8131A9A0-3E64-4C89-896E-883E19AC786D}"/>
              </a:ext>
            </a:extLst>
          </p:cNvPr>
          <p:cNvSpPr>
            <a:spLocks noGrp="1"/>
          </p:cNvSpPr>
          <p:nvPr/>
        </p:nvSpPr>
        <p:spPr>
          <a:xfrm>
            <a:off x="3028950" y="2095500"/>
            <a:ext cx="438150" cy="2286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6" name="box-123">
            <a:extLst>
              <a:ext uri="{FF2B5EF4-FFF2-40B4-BE49-F238E27FC236}">
                <a16:creationId xmlns:a16="http://schemas.microsoft.com/office/drawing/2014/main" id="{6F962B0A-EE7F-42A7-94C4-69BBB8C7C817}"/>
              </a:ext>
            </a:extLst>
          </p:cNvPr>
          <p:cNvSpPr>
            <a:spLocks noGrp="1"/>
          </p:cNvSpPr>
          <p:nvPr/>
        </p:nvSpPr>
        <p:spPr>
          <a:xfrm>
            <a:off x="3638550" y="1619250"/>
            <a:ext cx="2381250" cy="1200150"/>
          </a:xfrm>
          <a:prstGeom prst="roundRect">
            <a:avLst>
              <a:gd name="adj" fmla="val 4762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7" name="text-124">
            <a:extLst>
              <a:ext uri="{FF2B5EF4-FFF2-40B4-BE49-F238E27FC236}">
                <a16:creationId xmlns:a16="http://schemas.microsoft.com/office/drawing/2014/main" id="{0FB17749-B5B2-4828-8157-D3A5EA10295A}"/>
              </a:ext>
            </a:extLst>
          </p:cNvPr>
          <p:cNvSpPr>
            <a:spLocks noGrp="1"/>
          </p:cNvSpPr>
          <p:nvPr/>
        </p:nvSpPr>
        <p:spPr>
          <a:xfrm>
            <a:off x="3714750" y="1666875"/>
            <a:ext cx="22288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卷积解码器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逐级融合与上采样</a:t>
            </a:r>
          </a:p>
        </p:txBody>
      </p:sp>
      <p:sp>
        <p:nvSpPr>
          <p:cNvPr id="8" name="arrow-125">
            <a:extLst>
              <a:ext uri="{FF2B5EF4-FFF2-40B4-BE49-F238E27FC236}">
                <a16:creationId xmlns:a16="http://schemas.microsoft.com/office/drawing/2014/main" id="{8500453D-312E-4041-B836-A7CAE7AA8278}"/>
              </a:ext>
            </a:extLst>
          </p:cNvPr>
          <p:cNvSpPr>
            <a:spLocks noGrp="1"/>
          </p:cNvSpPr>
          <p:nvPr/>
        </p:nvSpPr>
        <p:spPr>
          <a:xfrm>
            <a:off x="6210300" y="2095500"/>
            <a:ext cx="438150" cy="2286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9" name="box-126">
            <a:extLst>
              <a:ext uri="{FF2B5EF4-FFF2-40B4-BE49-F238E27FC236}">
                <a16:creationId xmlns:a16="http://schemas.microsoft.com/office/drawing/2014/main" id="{181B5387-2629-44D3-A122-95FD878BA422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2476500" cy="1200150"/>
          </a:xfrm>
          <a:prstGeom prst="roundRect">
            <a:avLst>
              <a:gd name="adj" fmla="val 4762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0" name="text-127">
            <a:extLst>
              <a:ext uri="{FF2B5EF4-FFF2-40B4-BE49-F238E27FC236}">
                <a16:creationId xmlns:a16="http://schemas.microsoft.com/office/drawing/2014/main" id="{7F8DF04A-EB80-4B87-B4D5-6ABB0861C33B}"/>
              </a:ext>
            </a:extLst>
          </p:cNvPr>
          <p:cNvSpPr>
            <a:spLocks noGrp="1"/>
          </p:cNvSpPr>
          <p:nvPr/>
        </p:nvSpPr>
        <p:spPr>
          <a:xfrm>
            <a:off x="6743700" y="1666875"/>
            <a:ext cx="23241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Depth Head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末层卷积复制为2通道</a:t>
            </a:r>
          </a:p>
        </p:txBody>
      </p:sp>
      <p:sp>
        <p:nvSpPr>
          <p:cNvPr id="11" name="arrow-128">
            <a:extLst>
              <a:ext uri="{FF2B5EF4-FFF2-40B4-BE49-F238E27FC236}">
                <a16:creationId xmlns:a16="http://schemas.microsoft.com/office/drawing/2014/main" id="{92663A5E-7923-43BB-9250-13EE15953D70}"/>
              </a:ext>
            </a:extLst>
          </p:cNvPr>
          <p:cNvSpPr>
            <a:spLocks noGrp="1"/>
          </p:cNvSpPr>
          <p:nvPr/>
        </p:nvSpPr>
        <p:spPr>
          <a:xfrm>
            <a:off x="9315450" y="2095500"/>
            <a:ext cx="361950" cy="2286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12" name="box-129">
            <a:extLst>
              <a:ext uri="{FF2B5EF4-FFF2-40B4-BE49-F238E27FC236}">
                <a16:creationId xmlns:a16="http://schemas.microsoft.com/office/drawing/2014/main" id="{42EB41DD-F6DA-4A15-8547-DD99B3F2A90D}"/>
              </a:ext>
            </a:extLst>
          </p:cNvPr>
          <p:cNvSpPr>
            <a:spLocks noGrp="1"/>
          </p:cNvSpPr>
          <p:nvPr/>
        </p:nvSpPr>
        <p:spPr>
          <a:xfrm>
            <a:off x="9810750" y="1619250"/>
            <a:ext cx="1695450" cy="1200150"/>
          </a:xfrm>
          <a:prstGeom prst="roundRect">
            <a:avLst>
              <a:gd name="adj" fmla="val 4762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3" name="text-130">
            <a:extLst>
              <a:ext uri="{FF2B5EF4-FFF2-40B4-BE49-F238E27FC236}">
                <a16:creationId xmlns:a16="http://schemas.microsoft.com/office/drawing/2014/main" id="{8C0A459B-B1DE-4337-86A2-7C72887D284C}"/>
              </a:ext>
            </a:extLst>
          </p:cNvPr>
          <p:cNvSpPr>
            <a:spLocks noGrp="1"/>
          </p:cNvSpPr>
          <p:nvPr/>
        </p:nvSpPr>
        <p:spPr>
          <a:xfrm>
            <a:off x="9886950" y="1666875"/>
            <a:ext cx="15430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双层metric depth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[B,2,1536,1536]</a:t>
            </a:r>
          </a:p>
        </p:txBody>
      </p:sp>
      <p:sp>
        <p:nvSpPr>
          <p:cNvPr id="14" name="text-131">
            <a:extLst>
              <a:ext uri="{FF2B5EF4-FFF2-40B4-BE49-F238E27FC236}">
                <a16:creationId xmlns:a16="http://schemas.microsoft.com/office/drawing/2014/main" id="{2C716378-65C9-4676-B618-FFD80E4CF5CF}"/>
              </a:ext>
            </a:extLst>
          </p:cNvPr>
          <p:cNvSpPr>
            <a:spLocks noGrp="1"/>
          </p:cNvSpPr>
          <p:nvPr/>
        </p:nvSpPr>
        <p:spPr>
          <a:xfrm>
            <a:off x="6610350" y="2952750"/>
            <a:ext cx="481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视差 → 使用焦距与相机内参完成尺度转换</a:t>
            </a:r>
          </a:p>
        </p:txBody>
      </p:sp>
      <p:sp>
        <p:nvSpPr>
          <p:cNvPr id="15" name="rule-132">
            <a:extLst>
              <a:ext uri="{FF2B5EF4-FFF2-40B4-BE49-F238E27FC236}">
                <a16:creationId xmlns:a16="http://schemas.microsoft.com/office/drawing/2014/main" id="{181F920E-DB93-45D1-B55B-4572E978F7D6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0382250" cy="19050"/>
          </a:xfrm>
          <a:prstGeom prst="rect">
            <a:avLst/>
          </a:prstGeom>
          <a:solidFill>
            <a:srgbClr val="CADCEB"/>
          </a:solidFill>
          <a:ln w="0">
            <a:noFill/>
            <a:prstDash val="solid"/>
          </a:ln>
        </p:spPr>
      </p:sp>
      <p:sp>
        <p:nvSpPr>
          <p:cNvPr id="16" name="box-133">
            <a:extLst>
              <a:ext uri="{FF2B5EF4-FFF2-40B4-BE49-F238E27FC236}">
                <a16:creationId xmlns:a16="http://schemas.microsoft.com/office/drawing/2014/main" id="{E4748E41-123D-42CA-AE19-2E088BEAD7F4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4838700" cy="1676400"/>
          </a:xfrm>
          <a:prstGeom prst="roundRect">
            <a:avLst>
              <a:gd name="adj" fmla="val 3409"/>
            </a:avLst>
          </a:prstGeom>
          <a:solidFill>
            <a:srgbClr val="F7FAFD"/>
          </a:solidFill>
          <a:ln w="11430">
            <a:solidFill>
              <a:srgbClr val="0D569A"/>
            </a:solidFill>
            <a:prstDash val="solid"/>
          </a:ln>
        </p:spPr>
      </p:sp>
      <p:sp>
        <p:nvSpPr>
          <p:cNvPr id="17" name="text-134">
            <a:extLst>
              <a:ext uri="{FF2B5EF4-FFF2-40B4-BE49-F238E27FC236}">
                <a16:creationId xmlns:a16="http://schemas.microsoft.com/office/drawing/2014/main" id="{69D92185-8615-4EE7-B252-AD4BE9FD877F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第一层深度</a:t>
            </a:r>
          </a:p>
        </p:txBody>
      </p:sp>
      <p:sp>
        <p:nvSpPr>
          <p:cNvPr id="18" name="box-135">
            <a:extLst>
              <a:ext uri="{FF2B5EF4-FFF2-40B4-BE49-F238E27FC236}">
                <a16:creationId xmlns:a16="http://schemas.microsoft.com/office/drawing/2014/main" id="{FC74B8FE-5496-4034-A84F-C571538A3242}"/>
              </a:ext>
            </a:extLst>
          </p:cNvPr>
          <p:cNvSpPr>
            <a:spLocks noGrp="1"/>
          </p:cNvSpPr>
          <p:nvPr/>
        </p:nvSpPr>
        <p:spPr>
          <a:xfrm>
            <a:off x="1143000" y="43243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9" name="text-136">
            <a:extLst>
              <a:ext uri="{FF2B5EF4-FFF2-40B4-BE49-F238E27FC236}">
                <a16:creationId xmlns:a16="http://schemas.microsoft.com/office/drawing/2014/main" id="{FC253D43-2091-4868-BE79-4F9626108F7A}"/>
              </a:ext>
            </a:extLst>
          </p:cNvPr>
          <p:cNvSpPr>
            <a:spLocks noGrp="1"/>
          </p:cNvSpPr>
          <p:nvPr/>
        </p:nvSpPr>
        <p:spPr>
          <a:xfrm>
            <a:off x="1314450" y="4248150"/>
            <a:ext cx="3924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主要描述输入图像中的可见表面</a:t>
            </a:r>
          </a:p>
        </p:txBody>
      </p:sp>
      <p:sp>
        <p:nvSpPr>
          <p:cNvPr id="20" name="box-137">
            <a:extLst>
              <a:ext uri="{FF2B5EF4-FFF2-40B4-BE49-F238E27FC236}">
                <a16:creationId xmlns:a16="http://schemas.microsoft.com/office/drawing/2014/main" id="{027CEF8F-78D7-45F3-BFB4-8318BF18FE9A}"/>
              </a:ext>
            </a:extLst>
          </p:cNvPr>
          <p:cNvSpPr>
            <a:spLocks noGrp="1"/>
          </p:cNvSpPr>
          <p:nvPr/>
        </p:nvSpPr>
        <p:spPr>
          <a:xfrm>
            <a:off x="1143000" y="464820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21" name="text-138">
            <a:extLst>
              <a:ext uri="{FF2B5EF4-FFF2-40B4-BE49-F238E27FC236}">
                <a16:creationId xmlns:a16="http://schemas.microsoft.com/office/drawing/2014/main" id="{136BA707-DEFA-4BC8-A9F5-91F685939E00}"/>
              </a:ext>
            </a:extLst>
          </p:cNvPr>
          <p:cNvSpPr>
            <a:spLocks noGrp="1"/>
          </p:cNvSpPr>
          <p:nvPr/>
        </p:nvSpPr>
        <p:spPr>
          <a:xfrm>
            <a:off x="1314450" y="4572000"/>
            <a:ext cx="3924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Stage 1使用精确深度监督</a:t>
            </a:r>
          </a:p>
        </p:txBody>
      </p:sp>
      <p:sp>
        <p:nvSpPr>
          <p:cNvPr id="22" name="box-139">
            <a:extLst>
              <a:ext uri="{FF2B5EF4-FFF2-40B4-BE49-F238E27FC236}">
                <a16:creationId xmlns:a16="http://schemas.microsoft.com/office/drawing/2014/main" id="{2ADE3C48-A1BC-4D80-9BA7-FE0A7C91414B}"/>
              </a:ext>
            </a:extLst>
          </p:cNvPr>
          <p:cNvSpPr>
            <a:spLocks noGrp="1"/>
          </p:cNvSpPr>
          <p:nvPr/>
        </p:nvSpPr>
        <p:spPr>
          <a:xfrm>
            <a:off x="1143000" y="49720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23" name="text-140">
            <a:extLst>
              <a:ext uri="{FF2B5EF4-FFF2-40B4-BE49-F238E27FC236}">
                <a16:creationId xmlns:a16="http://schemas.microsoft.com/office/drawing/2014/main" id="{BB983B51-04F2-4492-8032-F04C38AEF21D}"/>
              </a:ext>
            </a:extLst>
          </p:cNvPr>
          <p:cNvSpPr>
            <a:spLocks noGrp="1"/>
          </p:cNvSpPr>
          <p:nvPr/>
        </p:nvSpPr>
        <p:spPr>
          <a:xfrm>
            <a:off x="1314450" y="4895850"/>
            <a:ext cx="3924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直接决定大部分Base位置</a:t>
            </a:r>
          </a:p>
        </p:txBody>
      </p:sp>
      <p:sp>
        <p:nvSpPr>
          <p:cNvPr id="24" name="box-141">
            <a:extLst>
              <a:ext uri="{FF2B5EF4-FFF2-40B4-BE49-F238E27FC236}">
                <a16:creationId xmlns:a16="http://schemas.microsoft.com/office/drawing/2014/main" id="{3FCA9545-583C-4633-8635-2CFACB8C7230}"/>
              </a:ext>
            </a:extLst>
          </p:cNvPr>
          <p:cNvSpPr>
            <a:spLocks noGrp="1"/>
          </p:cNvSpPr>
          <p:nvPr/>
        </p:nvSpPr>
        <p:spPr>
          <a:xfrm>
            <a:off x="5962650" y="3638550"/>
            <a:ext cx="5105400" cy="1676400"/>
          </a:xfrm>
          <a:prstGeom prst="roundRect">
            <a:avLst>
              <a:gd name="adj" fmla="val 3409"/>
            </a:avLst>
          </a:prstGeom>
          <a:solidFill>
            <a:srgbClr val="F7FAFD"/>
          </a:solidFill>
          <a:ln w="11430">
            <a:solidFill>
              <a:srgbClr val="0D569A"/>
            </a:solidFill>
            <a:prstDash val="solid"/>
          </a:ln>
        </p:spPr>
      </p:sp>
      <p:sp>
        <p:nvSpPr>
          <p:cNvPr id="25" name="text-142">
            <a:extLst>
              <a:ext uri="{FF2B5EF4-FFF2-40B4-BE49-F238E27FC236}">
                <a16:creationId xmlns:a16="http://schemas.microsoft.com/office/drawing/2014/main" id="{E35F245E-9738-4585-89E2-F62FDAB4BF1B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464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第二层深度</a:t>
            </a:r>
          </a:p>
        </p:txBody>
      </p:sp>
      <p:sp>
        <p:nvSpPr>
          <p:cNvPr id="26" name="box-143">
            <a:extLst>
              <a:ext uri="{FF2B5EF4-FFF2-40B4-BE49-F238E27FC236}">
                <a16:creationId xmlns:a16="http://schemas.microsoft.com/office/drawing/2014/main" id="{8C106D5E-68D7-4054-9D59-E6A7C87727A8}"/>
              </a:ext>
            </a:extLst>
          </p:cNvPr>
          <p:cNvSpPr>
            <a:spLocks noGrp="1"/>
          </p:cNvSpPr>
          <p:nvPr/>
        </p:nvSpPr>
        <p:spPr>
          <a:xfrm>
            <a:off x="6267450" y="43243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27" name="text-144">
            <a:extLst>
              <a:ext uri="{FF2B5EF4-FFF2-40B4-BE49-F238E27FC236}">
                <a16:creationId xmlns:a16="http://schemas.microsoft.com/office/drawing/2014/main" id="{0546C1CC-FD9C-4E78-AA53-B53EFBED03CB}"/>
              </a:ext>
            </a:extLst>
          </p:cNvPr>
          <p:cNvSpPr>
            <a:spLocks noGrp="1"/>
          </p:cNvSpPr>
          <p:nvPr/>
        </p:nvSpPr>
        <p:spPr>
          <a:xfrm>
            <a:off x="6438900" y="42481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学习辅助遮挡与视角相关结构</a:t>
            </a:r>
          </a:p>
        </p:txBody>
      </p:sp>
      <p:sp>
        <p:nvSpPr>
          <p:cNvPr id="28" name="box-145">
            <a:extLst>
              <a:ext uri="{FF2B5EF4-FFF2-40B4-BE49-F238E27FC236}">
                <a16:creationId xmlns:a16="http://schemas.microsoft.com/office/drawing/2014/main" id="{1BA8E0B7-3D0B-4C44-8B93-AB927E72DB99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29" name="text-146">
            <a:extLst>
              <a:ext uri="{FF2B5EF4-FFF2-40B4-BE49-F238E27FC236}">
                <a16:creationId xmlns:a16="http://schemas.microsoft.com/office/drawing/2014/main" id="{7ABFC178-FF0C-4DC9-8ECF-0B58018F70F3}"/>
              </a:ext>
            </a:extLst>
          </p:cNvPr>
          <p:cNvSpPr>
            <a:spLocks noGrp="1"/>
          </p:cNvSpPr>
          <p:nvPr/>
        </p:nvSpPr>
        <p:spPr>
          <a:xfrm>
            <a:off x="6438900" y="457200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没有隐藏深度GT</a:t>
            </a:r>
          </a:p>
        </p:txBody>
      </p:sp>
      <p:sp>
        <p:nvSpPr>
          <p:cNvPr id="30" name="box-147">
            <a:extLst>
              <a:ext uri="{FF2B5EF4-FFF2-40B4-BE49-F238E27FC236}">
                <a16:creationId xmlns:a16="http://schemas.microsoft.com/office/drawing/2014/main" id="{A7DF0EE4-0177-4833-831D-D18B61CD4A1A}"/>
              </a:ext>
            </a:extLst>
          </p:cNvPr>
          <p:cNvSpPr>
            <a:spLocks noGrp="1"/>
          </p:cNvSpPr>
          <p:nvPr/>
        </p:nvSpPr>
        <p:spPr>
          <a:xfrm>
            <a:off x="6267450" y="49720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31" name="text-148">
            <a:extLst>
              <a:ext uri="{FF2B5EF4-FFF2-40B4-BE49-F238E27FC236}">
                <a16:creationId xmlns:a16="http://schemas.microsoft.com/office/drawing/2014/main" id="{0B9303E5-11F8-40DC-883E-D7E313C2E7A0}"/>
              </a:ext>
            </a:extLst>
          </p:cNvPr>
          <p:cNvSpPr>
            <a:spLocks noGrp="1"/>
          </p:cNvSpPr>
          <p:nvPr/>
        </p:nvSpPr>
        <p:spPr>
          <a:xfrm>
            <a:off x="6438900" y="48958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由渲染、感知、Alpha损失和TV正则约束</a:t>
            </a:r>
          </a:p>
        </p:txBody>
      </p:sp>
      <p:sp>
        <p:nvSpPr>
          <p:cNvPr id="32" name="text-149">
            <a:extLst>
              <a:ext uri="{FF2B5EF4-FFF2-40B4-BE49-F238E27FC236}">
                <a16:creationId xmlns:a16="http://schemas.microsoft.com/office/drawing/2014/main" id="{9B1219EC-E9DA-4DF2-9BA2-4AB50B7BEB05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注意：默认 sorting_monodepth=False，两层深度不依靠硬排序强制形成前后关系。</a:t>
            </a:r>
          </a:p>
        </p:txBody>
      </p:sp>
      <p:sp>
        <p:nvSpPr>
          <p:cNvPr id="33" name="box-443">
            <a:extLst>
              <a:ext uri="{FF2B5EF4-FFF2-40B4-BE49-F238E27FC236}">
                <a16:creationId xmlns:a16="http://schemas.microsoft.com/office/drawing/2014/main" id="{80073597-BBC4-4D27-9769-E00B316AB9CA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4" name="text-444">
            <a:extLst>
              <a:ext uri="{FF2B5EF4-FFF2-40B4-BE49-F238E27FC236}">
                <a16:creationId xmlns:a16="http://schemas.microsoft.com/office/drawing/2014/main" id="{35A323CC-D60B-4B64-AD1F-41DA7B35C999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7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046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-150">
            <a:extLst>
              <a:ext uri="{FF2B5EF4-FFF2-40B4-BE49-F238E27FC236}">
                <a16:creationId xmlns:a16="http://schemas.microsoft.com/office/drawing/2014/main" id="{BD749D18-2154-47EC-A4D4-CB41179A3EAE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Gaussian Initializer</a:t>
            </a:r>
          </a:p>
        </p:txBody>
      </p:sp>
      <p:sp>
        <p:nvSpPr>
          <p:cNvPr id="2" name="text-151">
            <a:extLst>
              <a:ext uri="{FF2B5EF4-FFF2-40B4-BE49-F238E27FC236}">
                <a16:creationId xmlns:a16="http://schemas.microsoft.com/office/drawing/2014/main" id="{2D74A27D-8382-4FB0-AB60-DBA09C023E3E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固定、可微、不可学习：由RGB与双层深度构造Base Gaussians</a:t>
            </a:r>
          </a:p>
        </p:txBody>
      </p:sp>
      <p:sp>
        <p:nvSpPr>
          <p:cNvPr id="3" name="arrow-152">
            <a:extLst>
              <a:ext uri="{FF2B5EF4-FFF2-40B4-BE49-F238E27FC236}">
                <a16:creationId xmlns:a16="http://schemas.microsoft.com/office/drawing/2014/main" id="{8E537AC8-4BCB-4939-B273-FBCA37D6C3A7}"/>
              </a:ext>
            </a:extLst>
          </p:cNvPr>
          <p:cNvSpPr>
            <a:spLocks noGrp="1"/>
          </p:cNvSpPr>
          <p:nvPr/>
        </p:nvSpPr>
        <p:spPr>
          <a:xfrm>
            <a:off x="2209800" y="2438400"/>
            <a:ext cx="228600" cy="1524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4" name="arrow-153">
            <a:extLst>
              <a:ext uri="{FF2B5EF4-FFF2-40B4-BE49-F238E27FC236}">
                <a16:creationId xmlns:a16="http://schemas.microsoft.com/office/drawing/2014/main" id="{AE8C1F7F-12C6-47E7-937D-70492D4954F8}"/>
              </a:ext>
            </a:extLst>
          </p:cNvPr>
          <p:cNvSpPr>
            <a:spLocks noGrp="1"/>
          </p:cNvSpPr>
          <p:nvPr/>
        </p:nvSpPr>
        <p:spPr>
          <a:xfrm>
            <a:off x="4019550" y="2438400"/>
            <a:ext cx="228600" cy="1524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5" name="arrow-154">
            <a:extLst>
              <a:ext uri="{FF2B5EF4-FFF2-40B4-BE49-F238E27FC236}">
                <a16:creationId xmlns:a16="http://schemas.microsoft.com/office/drawing/2014/main" id="{B26AA1F4-340B-41B8-A0A6-885928E6D967}"/>
              </a:ext>
            </a:extLst>
          </p:cNvPr>
          <p:cNvSpPr>
            <a:spLocks noGrp="1"/>
          </p:cNvSpPr>
          <p:nvPr/>
        </p:nvSpPr>
        <p:spPr>
          <a:xfrm>
            <a:off x="5829300" y="2438400"/>
            <a:ext cx="228600" cy="1524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6" name="arrow-155">
            <a:extLst>
              <a:ext uri="{FF2B5EF4-FFF2-40B4-BE49-F238E27FC236}">
                <a16:creationId xmlns:a16="http://schemas.microsoft.com/office/drawing/2014/main" id="{C1C27246-2F35-42F8-A719-15B405A6130D}"/>
              </a:ext>
            </a:extLst>
          </p:cNvPr>
          <p:cNvSpPr>
            <a:spLocks noGrp="1"/>
          </p:cNvSpPr>
          <p:nvPr/>
        </p:nvSpPr>
        <p:spPr>
          <a:xfrm>
            <a:off x="7639050" y="2438400"/>
            <a:ext cx="228600" cy="1524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7" name="arrow-156">
            <a:extLst>
              <a:ext uri="{FF2B5EF4-FFF2-40B4-BE49-F238E27FC236}">
                <a16:creationId xmlns:a16="http://schemas.microsoft.com/office/drawing/2014/main" id="{0F059429-45DF-4F3A-B818-B75BDB8CE826}"/>
              </a:ext>
            </a:extLst>
          </p:cNvPr>
          <p:cNvSpPr>
            <a:spLocks noGrp="1"/>
          </p:cNvSpPr>
          <p:nvPr/>
        </p:nvSpPr>
        <p:spPr>
          <a:xfrm>
            <a:off x="9448800" y="2438400"/>
            <a:ext cx="228600" cy="1524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8" name="box-157">
            <a:extLst>
              <a:ext uri="{FF2B5EF4-FFF2-40B4-BE49-F238E27FC236}">
                <a16:creationId xmlns:a16="http://schemas.microsoft.com/office/drawing/2014/main" id="{E0401F1C-C354-427F-853B-7C96767571FC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504950" cy="1657350"/>
          </a:xfrm>
          <a:prstGeom prst="roundRect">
            <a:avLst>
              <a:gd name="adj" fmla="val 3797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9" name="text-158">
            <a:extLst>
              <a:ext uri="{FF2B5EF4-FFF2-40B4-BE49-F238E27FC236}">
                <a16:creationId xmlns:a16="http://schemas.microsoft.com/office/drawing/2014/main" id="{736575CD-E659-4B5F-9848-9E0CECE5704B}"/>
              </a:ext>
            </a:extLst>
          </p:cNvPr>
          <p:cNvSpPr>
            <a:spLocks noGrp="1"/>
          </p:cNvSpPr>
          <p:nvPr/>
        </p:nvSpPr>
        <p:spPr>
          <a:xfrm>
            <a:off x="742950" y="1857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92062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RGB + 双层深度</a:t>
            </a:r>
          </a:p>
        </p:txBody>
      </p:sp>
      <p:sp>
        <p:nvSpPr>
          <p:cNvPr id="10" name="text-159">
            <a:extLst>
              <a:ext uri="{FF2B5EF4-FFF2-40B4-BE49-F238E27FC236}">
                <a16:creationId xmlns:a16="http://schemas.microsoft.com/office/drawing/2014/main" id="{C48EBE16-9B1F-4254-AE97-901B55303DE7}"/>
              </a:ext>
            </a:extLst>
          </p:cNvPr>
          <p:cNvSpPr>
            <a:spLocks noGrp="1"/>
          </p:cNvSpPr>
          <p:nvPr/>
        </p:nvSpPr>
        <p:spPr>
          <a:xfrm>
            <a:off x="762000" y="2371725"/>
            <a:ext cx="1314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[3+2,1536,1536]</a:t>
            </a:r>
          </a:p>
        </p:txBody>
      </p:sp>
      <p:sp>
        <p:nvSpPr>
          <p:cNvPr id="11" name="box-160">
            <a:extLst>
              <a:ext uri="{FF2B5EF4-FFF2-40B4-BE49-F238E27FC236}">
                <a16:creationId xmlns:a16="http://schemas.microsoft.com/office/drawing/2014/main" id="{B0C2042A-FB16-436D-B7E9-8E0261EFDBC6}"/>
              </a:ext>
            </a:extLst>
          </p:cNvPr>
          <p:cNvSpPr>
            <a:spLocks noGrp="1"/>
          </p:cNvSpPr>
          <p:nvPr/>
        </p:nvSpPr>
        <p:spPr>
          <a:xfrm>
            <a:off x="2476500" y="1695450"/>
            <a:ext cx="1504950" cy="1657350"/>
          </a:xfrm>
          <a:prstGeom prst="roundRect">
            <a:avLst>
              <a:gd name="adj" fmla="val 3797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2" name="text-161">
            <a:extLst>
              <a:ext uri="{FF2B5EF4-FFF2-40B4-BE49-F238E27FC236}">
                <a16:creationId xmlns:a16="http://schemas.microsoft.com/office/drawing/2014/main" id="{C83794A9-CAAC-4BE7-BA8D-788DF41C9879}"/>
              </a:ext>
            </a:extLst>
          </p:cNvPr>
          <p:cNvSpPr>
            <a:spLocks noGrp="1"/>
          </p:cNvSpPr>
          <p:nvPr/>
        </p:nvSpPr>
        <p:spPr>
          <a:xfrm>
            <a:off x="2552700" y="1857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2倍下采样</a:t>
            </a:r>
          </a:p>
        </p:txBody>
      </p:sp>
      <p:sp>
        <p:nvSpPr>
          <p:cNvPr id="13" name="text-162">
            <a:extLst>
              <a:ext uri="{FF2B5EF4-FFF2-40B4-BE49-F238E27FC236}">
                <a16:creationId xmlns:a16="http://schemas.microsoft.com/office/drawing/2014/main" id="{260333C8-AB30-45FF-A6D4-D352BD4F8796}"/>
              </a:ext>
            </a:extLst>
          </p:cNvPr>
          <p:cNvSpPr>
            <a:spLocks noGrp="1"/>
          </p:cNvSpPr>
          <p:nvPr/>
        </p:nvSpPr>
        <p:spPr>
          <a:xfrm>
            <a:off x="2571750" y="2371725"/>
            <a:ext cx="1314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RGB平均池化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Depth最小池化</a:t>
            </a:r>
          </a:p>
        </p:txBody>
      </p:sp>
      <p:sp>
        <p:nvSpPr>
          <p:cNvPr id="14" name="box-163">
            <a:extLst>
              <a:ext uri="{FF2B5EF4-FFF2-40B4-BE49-F238E27FC236}">
                <a16:creationId xmlns:a16="http://schemas.microsoft.com/office/drawing/2014/main" id="{EC8B1DE4-7746-4600-B697-06A2CE5639EE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1504950" cy="1657350"/>
          </a:xfrm>
          <a:prstGeom prst="roundRect">
            <a:avLst>
              <a:gd name="adj" fmla="val 3797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5" name="text-164">
            <a:extLst>
              <a:ext uri="{FF2B5EF4-FFF2-40B4-BE49-F238E27FC236}">
                <a16:creationId xmlns:a16="http://schemas.microsoft.com/office/drawing/2014/main" id="{46614CC3-F6F2-4819-A944-7F0D97BC57AF}"/>
              </a:ext>
            </a:extLst>
          </p:cNvPr>
          <p:cNvSpPr>
            <a:spLocks noGrp="1"/>
          </p:cNvSpPr>
          <p:nvPr/>
        </p:nvSpPr>
        <p:spPr>
          <a:xfrm>
            <a:off x="4362450" y="1857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NDC位置</a:t>
            </a:r>
          </a:p>
        </p:txBody>
      </p:sp>
      <p:sp>
        <p:nvSpPr>
          <p:cNvPr id="16" name="text-165">
            <a:extLst>
              <a:ext uri="{FF2B5EF4-FFF2-40B4-BE49-F238E27FC236}">
                <a16:creationId xmlns:a16="http://schemas.microsoft.com/office/drawing/2014/main" id="{B5791124-8CC3-4A59-A568-3A0D74E21E05}"/>
              </a:ext>
            </a:extLst>
          </p:cNvPr>
          <p:cNvSpPr>
            <a:spLocks noGrp="1"/>
          </p:cNvSpPr>
          <p:nvPr/>
        </p:nvSpPr>
        <p:spPr>
          <a:xfrm>
            <a:off x="4381500" y="2371725"/>
            <a:ext cx="1314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x/z, y/z, 1/z</a:t>
            </a:r>
          </a:p>
        </p:txBody>
      </p:sp>
      <p:sp>
        <p:nvSpPr>
          <p:cNvPr id="17" name="box-166">
            <a:extLst>
              <a:ext uri="{FF2B5EF4-FFF2-40B4-BE49-F238E27FC236}">
                <a16:creationId xmlns:a16="http://schemas.microsoft.com/office/drawing/2014/main" id="{D7B29DAF-CE5D-4858-88B1-C22592F9E2F7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1504950" cy="1657350"/>
          </a:xfrm>
          <a:prstGeom prst="roundRect">
            <a:avLst>
              <a:gd name="adj" fmla="val 3797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8" name="text-167">
            <a:extLst>
              <a:ext uri="{FF2B5EF4-FFF2-40B4-BE49-F238E27FC236}">
                <a16:creationId xmlns:a16="http://schemas.microsoft.com/office/drawing/2014/main" id="{0C51DEBC-AA41-4C3F-A410-EB2C49D7EA09}"/>
              </a:ext>
            </a:extLst>
          </p:cNvPr>
          <p:cNvSpPr>
            <a:spLocks noGrp="1"/>
          </p:cNvSpPr>
          <p:nvPr/>
        </p:nvSpPr>
        <p:spPr>
          <a:xfrm>
            <a:off x="6172200" y="1857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基础属性</a:t>
            </a:r>
          </a:p>
        </p:txBody>
      </p:sp>
      <p:sp>
        <p:nvSpPr>
          <p:cNvPr id="19" name="text-168">
            <a:extLst>
              <a:ext uri="{FF2B5EF4-FFF2-40B4-BE49-F238E27FC236}">
                <a16:creationId xmlns:a16="http://schemas.microsoft.com/office/drawing/2014/main" id="{AA2B6915-CD07-405E-9663-68E45C0908F1}"/>
              </a:ext>
            </a:extLst>
          </p:cNvPr>
          <p:cNvSpPr>
            <a:spLocks noGrp="1"/>
          </p:cNvSpPr>
          <p:nvPr/>
        </p:nvSpPr>
        <p:spPr>
          <a:xfrm>
            <a:off x="6191250" y="2371725"/>
            <a:ext cx="1314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scale∝depth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quat=(1,0,0,0)</a:t>
            </a:r>
          </a:p>
        </p:txBody>
      </p:sp>
      <p:sp>
        <p:nvSpPr>
          <p:cNvPr id="20" name="box-169">
            <a:extLst>
              <a:ext uri="{FF2B5EF4-FFF2-40B4-BE49-F238E27FC236}">
                <a16:creationId xmlns:a16="http://schemas.microsoft.com/office/drawing/2014/main" id="{9EEAAC31-FDAC-4F61-A8BD-64AD60294980}"/>
              </a:ext>
            </a:extLst>
          </p:cNvPr>
          <p:cNvSpPr>
            <a:spLocks noGrp="1"/>
          </p:cNvSpPr>
          <p:nvPr/>
        </p:nvSpPr>
        <p:spPr>
          <a:xfrm>
            <a:off x="7905750" y="1695450"/>
            <a:ext cx="1504950" cy="1657350"/>
          </a:xfrm>
          <a:prstGeom prst="roundRect">
            <a:avLst>
              <a:gd name="adj" fmla="val 3797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21" name="text-170">
            <a:extLst>
              <a:ext uri="{FF2B5EF4-FFF2-40B4-BE49-F238E27FC236}">
                <a16:creationId xmlns:a16="http://schemas.microsoft.com/office/drawing/2014/main" id="{B24201B6-82EF-4139-A88D-581727FB007B}"/>
              </a:ext>
            </a:extLst>
          </p:cNvPr>
          <p:cNvSpPr>
            <a:spLocks noGrp="1"/>
          </p:cNvSpPr>
          <p:nvPr/>
        </p:nvSpPr>
        <p:spPr>
          <a:xfrm>
            <a:off x="7981950" y="1857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颜色与透明度</a:t>
            </a:r>
          </a:p>
        </p:txBody>
      </p:sp>
      <p:sp>
        <p:nvSpPr>
          <p:cNvPr id="22" name="text-171">
            <a:extLst>
              <a:ext uri="{FF2B5EF4-FFF2-40B4-BE49-F238E27FC236}">
                <a16:creationId xmlns:a16="http://schemas.microsoft.com/office/drawing/2014/main" id="{4D045829-7297-4552-922C-A583E3860E30}"/>
              </a:ext>
            </a:extLst>
          </p:cNvPr>
          <p:cNvSpPr>
            <a:spLocks noGrp="1"/>
          </p:cNvSpPr>
          <p:nvPr/>
        </p:nvSpPr>
        <p:spPr>
          <a:xfrm>
            <a:off x="8001000" y="2371725"/>
            <a:ext cx="1314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RGB复制到两层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opacity=0.5</a:t>
            </a:r>
          </a:p>
        </p:txBody>
      </p:sp>
      <p:sp>
        <p:nvSpPr>
          <p:cNvPr id="23" name="box-172">
            <a:extLst>
              <a:ext uri="{FF2B5EF4-FFF2-40B4-BE49-F238E27FC236}">
                <a16:creationId xmlns:a16="http://schemas.microsoft.com/office/drawing/2014/main" id="{E70C4B2F-8A10-4C2D-BCC5-A098B6D8B9D4}"/>
              </a:ext>
            </a:extLst>
          </p:cNvPr>
          <p:cNvSpPr>
            <a:spLocks noGrp="1"/>
          </p:cNvSpPr>
          <p:nvPr/>
        </p:nvSpPr>
        <p:spPr>
          <a:xfrm>
            <a:off x="9715500" y="1695450"/>
            <a:ext cx="1504950" cy="1657350"/>
          </a:xfrm>
          <a:prstGeom prst="roundRect">
            <a:avLst>
              <a:gd name="adj" fmla="val 3797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24" name="text-173">
            <a:extLst>
              <a:ext uri="{FF2B5EF4-FFF2-40B4-BE49-F238E27FC236}">
                <a16:creationId xmlns:a16="http://schemas.microsoft.com/office/drawing/2014/main" id="{EFECDB41-DA4A-4D09-8700-E500CFBCCE41}"/>
              </a:ext>
            </a:extLst>
          </p:cNvPr>
          <p:cNvSpPr>
            <a:spLocks noGrp="1"/>
          </p:cNvSpPr>
          <p:nvPr/>
        </p:nvSpPr>
        <p:spPr>
          <a:xfrm>
            <a:off x="9791700" y="1857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90292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Base Gaussians</a:t>
            </a:r>
          </a:p>
        </p:txBody>
      </p:sp>
      <p:sp>
        <p:nvSpPr>
          <p:cNvPr id="25" name="text-174">
            <a:extLst>
              <a:ext uri="{FF2B5EF4-FFF2-40B4-BE49-F238E27FC236}">
                <a16:creationId xmlns:a16="http://schemas.microsoft.com/office/drawing/2014/main" id="{6868B715-D651-49CE-B09E-BADCE2F7CC0F}"/>
              </a:ext>
            </a:extLst>
          </p:cNvPr>
          <p:cNvSpPr>
            <a:spLocks noGrp="1"/>
          </p:cNvSpPr>
          <p:nvPr/>
        </p:nvSpPr>
        <p:spPr>
          <a:xfrm>
            <a:off x="9810750" y="2371725"/>
            <a:ext cx="1314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2×768×768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=1,179,648</a:t>
            </a:r>
          </a:p>
        </p:txBody>
      </p:sp>
      <p:sp>
        <p:nvSpPr>
          <p:cNvPr id="26" name="box-175">
            <a:extLst>
              <a:ext uri="{FF2B5EF4-FFF2-40B4-BE49-F238E27FC236}">
                <a16:creationId xmlns:a16="http://schemas.microsoft.com/office/drawing/2014/main" id="{FDCFC5F2-8162-4314-8A0C-5DD99B8782DF}"/>
              </a:ext>
            </a:extLst>
          </p:cNvPr>
          <p:cNvSpPr>
            <a:spLocks noGrp="1"/>
          </p:cNvSpPr>
          <p:nvPr/>
        </p:nvSpPr>
        <p:spPr>
          <a:xfrm>
            <a:off x="1066800" y="3914775"/>
            <a:ext cx="10058400" cy="1104900"/>
          </a:xfrm>
          <a:prstGeom prst="roundRect">
            <a:avLst>
              <a:gd name="adj" fmla="val 5172"/>
            </a:avLst>
          </a:prstGeom>
          <a:solidFill>
            <a:srgbClr val="F8FBFE"/>
          </a:solidFill>
          <a:ln w="9525">
            <a:solidFill>
              <a:srgbClr val="CADCEB"/>
            </a:solidFill>
            <a:prstDash val="solid"/>
          </a:ln>
        </p:spPr>
      </p:sp>
      <p:sp>
        <p:nvSpPr>
          <p:cNvPr id="27" name="text-176">
            <a:extLst>
              <a:ext uri="{FF2B5EF4-FFF2-40B4-BE49-F238E27FC236}">
                <a16:creationId xmlns:a16="http://schemas.microsoft.com/office/drawing/2014/main" id="{363CDF86-5826-4AEE-8278-70B2D4882EB6}"/>
              </a:ext>
            </a:extLst>
          </p:cNvPr>
          <p:cNvSpPr>
            <a:spLocks noGrp="1"/>
          </p:cNvSpPr>
          <p:nvPr/>
        </p:nvSpPr>
        <p:spPr>
          <a:xfrm>
            <a:off x="1314450" y="4105275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为什么先构造Base</a:t>
            </a:r>
            <a:r>
              <a:rPr sz="1650" b="1" dirty="0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28" name="text-177">
            <a:extLst>
              <a:ext uri="{FF2B5EF4-FFF2-40B4-BE49-F238E27FC236}">
                <a16:creationId xmlns:a16="http://schemas.microsoft.com/office/drawing/2014/main" id="{442F1A11-97ED-45E6-8A74-7152D6105199}"/>
              </a:ext>
            </a:extLst>
          </p:cNvPr>
          <p:cNvSpPr>
            <a:spLocks noGrp="1"/>
          </p:cNvSpPr>
          <p:nvPr/>
        </p:nvSpPr>
        <p:spPr>
          <a:xfrm>
            <a:off x="3524250" y="4038600"/>
            <a:ext cx="723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网络不必从零预测全部高斯参数，只需学习相对稳定初值的残差，降低回归难度。</a:t>
            </a:r>
          </a:p>
        </p:txBody>
      </p:sp>
      <p:sp>
        <p:nvSpPr>
          <p:cNvPr id="29" name="text-178">
            <a:extLst>
              <a:ext uri="{FF2B5EF4-FFF2-40B4-BE49-F238E27FC236}">
                <a16:creationId xmlns:a16="http://schemas.microsoft.com/office/drawing/2014/main" id="{6364897D-7E36-4231-8D48-48A4BCC4DD9F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依据：SHARP Section 3.1；本地源码 models/initializer.py。</a:t>
            </a:r>
          </a:p>
        </p:txBody>
      </p:sp>
      <p:sp>
        <p:nvSpPr>
          <p:cNvPr id="30" name="box-445">
            <a:extLst>
              <a:ext uri="{FF2B5EF4-FFF2-40B4-BE49-F238E27FC236}">
                <a16:creationId xmlns:a16="http://schemas.microsoft.com/office/drawing/2014/main" id="{DEF7F849-6A45-4319-BF65-223BE5575774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1" name="text-446">
            <a:extLst>
              <a:ext uri="{FF2B5EF4-FFF2-40B4-BE49-F238E27FC236}">
                <a16:creationId xmlns:a16="http://schemas.microsoft.com/office/drawing/2014/main" id="{33E92F60-DB08-4836-9070-AE7CDAA419A4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8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0462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179">
            <a:extLst>
              <a:ext uri="{FF2B5EF4-FFF2-40B4-BE49-F238E27FC236}">
                <a16:creationId xmlns:a16="http://schemas.microsoft.com/office/drawing/2014/main" id="{01C86B9F-7013-4D41-8E19-C6C4E8570F1A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Gaussian Decoder</a:t>
            </a:r>
          </a:p>
        </p:txBody>
      </p:sp>
      <p:sp>
        <p:nvSpPr>
          <p:cNvPr id="2" name="text-180">
            <a:extLst>
              <a:ext uri="{FF2B5EF4-FFF2-40B4-BE49-F238E27FC236}">
                <a16:creationId xmlns:a16="http://schemas.microsoft.com/office/drawing/2014/main" id="{7707BEA8-7E93-46D5-96F6-44640AA8BF1D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两路输入融合后输出14维双层Delta，位置分支与其他属性分支职责不同</a:t>
            </a:r>
          </a:p>
        </p:txBody>
      </p:sp>
      <p:sp>
        <p:nvSpPr>
          <p:cNvPr id="3" name="box-181">
            <a:extLst>
              <a:ext uri="{FF2B5EF4-FFF2-40B4-BE49-F238E27FC236}">
                <a16:creationId xmlns:a16="http://schemas.microsoft.com/office/drawing/2014/main" id="{B0CC784B-46C8-416C-89BA-9DBAEA55C997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2857500" cy="1619250"/>
          </a:xfrm>
          <a:prstGeom prst="roundRect">
            <a:avLst>
              <a:gd name="adj" fmla="val 3529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4" name="text-182">
            <a:extLst>
              <a:ext uri="{FF2B5EF4-FFF2-40B4-BE49-F238E27FC236}">
                <a16:creationId xmlns:a16="http://schemas.microsoft.com/office/drawing/2014/main" id="{B7BD631F-3D72-447F-825C-FC98110E6691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像素输入</a:t>
            </a:r>
          </a:p>
        </p:txBody>
      </p:sp>
      <p:sp>
        <p:nvSpPr>
          <p:cNvPr id="5" name="text-183">
            <a:extLst>
              <a:ext uri="{FF2B5EF4-FFF2-40B4-BE49-F238E27FC236}">
                <a16:creationId xmlns:a16="http://schemas.microsoft.com/office/drawing/2014/main" id="{B0E6F61B-1A11-4E9A-8C91-C0A4B1851F82}"/>
              </a:ext>
            </a:extLst>
          </p:cNvPr>
          <p:cNvSpPr>
            <a:spLocks noGrp="1"/>
          </p:cNvSpPr>
          <p:nvPr/>
        </p:nvSpPr>
        <p:spPr>
          <a:xfrm>
            <a:off x="914400" y="1962150"/>
            <a:ext cx="2400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RGB 3通道</a:t>
            </a:r>
          </a:p>
          <a:p>
            <a:pPr algn="ctr">
              <a:lnSpc>
                <a:spcPct val="105000"/>
              </a:lnSpc>
              <a:buNone/>
              <a:defRPr sz="15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+ 归一化双层视差 2通道</a:t>
            </a:r>
          </a:p>
        </p:txBody>
      </p:sp>
      <p:sp>
        <p:nvSpPr>
          <p:cNvPr id="6" name="box-184">
            <a:extLst>
              <a:ext uri="{FF2B5EF4-FFF2-40B4-BE49-F238E27FC236}">
                <a16:creationId xmlns:a16="http://schemas.microsoft.com/office/drawing/2014/main" id="{8DD89E80-2C35-41FE-8A04-5ABC43690788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857500" cy="1619250"/>
          </a:xfrm>
          <a:prstGeom prst="roundRect">
            <a:avLst>
              <a:gd name="adj" fmla="val 3529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7" name="text-185">
            <a:extLst>
              <a:ext uri="{FF2B5EF4-FFF2-40B4-BE49-F238E27FC236}">
                <a16:creationId xmlns:a16="http://schemas.microsoft.com/office/drawing/2014/main" id="{2FFF694D-A1F1-42B2-97A1-AB62D2FF3002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特征输入</a:t>
            </a:r>
          </a:p>
        </p:txBody>
      </p:sp>
      <p:sp>
        <p:nvSpPr>
          <p:cNvPr id="8" name="text-186">
            <a:extLst>
              <a:ext uri="{FF2B5EF4-FFF2-40B4-BE49-F238E27FC236}">
                <a16:creationId xmlns:a16="http://schemas.microsoft.com/office/drawing/2014/main" id="{4ED341F3-6CFC-48EC-9969-59807CA6772F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400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Depth Pro / SPN</a:t>
            </a:r>
          </a:p>
          <a:p>
            <a:pPr algn="ctr">
              <a:lnSpc>
                <a:spcPct val="105000"/>
              </a:lnSpc>
              <a:buNone/>
              <a:defRPr sz="15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多尺度特征</a:t>
            </a:r>
          </a:p>
        </p:txBody>
      </p:sp>
      <p:sp>
        <p:nvSpPr>
          <p:cNvPr id="9" name="arrow-187">
            <a:extLst>
              <a:ext uri="{FF2B5EF4-FFF2-40B4-BE49-F238E27FC236}">
                <a16:creationId xmlns:a16="http://schemas.microsoft.com/office/drawing/2014/main" id="{31DB4880-353A-4FB5-BC51-6AC0A659E82B}"/>
              </a:ext>
            </a:extLst>
          </p:cNvPr>
          <p:cNvSpPr>
            <a:spLocks noGrp="1"/>
          </p:cNvSpPr>
          <p:nvPr/>
        </p:nvSpPr>
        <p:spPr>
          <a:xfrm>
            <a:off x="3790950" y="2609850"/>
            <a:ext cx="609600" cy="28575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10" name="box-188">
            <a:extLst>
              <a:ext uri="{FF2B5EF4-FFF2-40B4-BE49-F238E27FC236}">
                <a16:creationId xmlns:a16="http://schemas.microsoft.com/office/drawing/2014/main" id="{45D20888-7ABB-4A79-880C-73888B507B19}"/>
              </a:ext>
            </a:extLst>
          </p:cNvPr>
          <p:cNvSpPr>
            <a:spLocks noGrp="1"/>
          </p:cNvSpPr>
          <p:nvPr/>
        </p:nvSpPr>
        <p:spPr>
          <a:xfrm>
            <a:off x="4629150" y="2019300"/>
            <a:ext cx="2895600" cy="142875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 w="14288">
            <a:solidFill>
              <a:srgbClr val="22C7E2"/>
            </a:solidFill>
            <a:prstDash val="solid"/>
          </a:ln>
        </p:spPr>
      </p:sp>
      <p:sp>
        <p:nvSpPr>
          <p:cNvPr id="11" name="text-189">
            <a:extLst>
              <a:ext uri="{FF2B5EF4-FFF2-40B4-BE49-F238E27FC236}">
                <a16:creationId xmlns:a16="http://schemas.microsoft.com/office/drawing/2014/main" id="{10AAF4EC-A3D7-4831-837B-F5B87FC2FD2C}"/>
              </a:ext>
            </a:extLst>
          </p:cNvPr>
          <p:cNvSpPr>
            <a:spLocks noGrp="1"/>
          </p:cNvSpPr>
          <p:nvPr/>
        </p:nvSpPr>
        <p:spPr>
          <a:xfrm>
            <a:off x="4705350" y="2066925"/>
            <a:ext cx="27432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Gaussian Dense</a:t>
            </a:r>
          </a:p>
          <a:p>
            <a:pPr algn="ctr">
              <a:lnSpc>
                <a:spcPct val="105000"/>
              </a:lnSpc>
              <a:buNone/>
              <a:defRPr sz="187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Prediction Transformer</a:t>
            </a:r>
          </a:p>
        </p:txBody>
      </p:sp>
      <p:sp>
        <p:nvSpPr>
          <p:cNvPr id="12" name="arrow-190">
            <a:extLst>
              <a:ext uri="{FF2B5EF4-FFF2-40B4-BE49-F238E27FC236}">
                <a16:creationId xmlns:a16="http://schemas.microsoft.com/office/drawing/2014/main" id="{60219D08-EE72-49F4-A6E0-6D768FEF11E2}"/>
              </a:ext>
            </a:extLst>
          </p:cNvPr>
          <p:cNvSpPr>
            <a:spLocks noGrp="1"/>
          </p:cNvSpPr>
          <p:nvPr/>
        </p:nvSpPr>
        <p:spPr>
          <a:xfrm>
            <a:off x="7734300" y="2609850"/>
            <a:ext cx="609600" cy="28575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13" name="box-191">
            <a:extLst>
              <a:ext uri="{FF2B5EF4-FFF2-40B4-BE49-F238E27FC236}">
                <a16:creationId xmlns:a16="http://schemas.microsoft.com/office/drawing/2014/main" id="{35E364A3-6268-4C18-945B-F2B3FCD24CF3}"/>
              </a:ext>
            </a:extLst>
          </p:cNvPr>
          <p:cNvSpPr>
            <a:spLocks noGrp="1"/>
          </p:cNvSpPr>
          <p:nvPr/>
        </p:nvSpPr>
        <p:spPr>
          <a:xfrm>
            <a:off x="8648700" y="1314450"/>
            <a:ext cx="2857500" cy="1619250"/>
          </a:xfrm>
          <a:prstGeom prst="roundRect">
            <a:avLst>
              <a:gd name="adj" fmla="val 3529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4" name="text-192">
            <a:extLst>
              <a:ext uri="{FF2B5EF4-FFF2-40B4-BE49-F238E27FC236}">
                <a16:creationId xmlns:a16="http://schemas.microsoft.com/office/drawing/2014/main" id="{75B698EF-2B1B-4397-B643-AB9E7EE8AC56}"/>
              </a:ext>
            </a:extLst>
          </p:cNvPr>
          <p:cNvSpPr>
            <a:spLocks noGrp="1"/>
          </p:cNvSpPr>
          <p:nvPr/>
        </p:nvSpPr>
        <p:spPr>
          <a:xfrm>
            <a:off x="8839200" y="1504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Geometry Head</a:t>
            </a:r>
          </a:p>
        </p:txBody>
      </p:sp>
      <p:sp>
        <p:nvSpPr>
          <p:cNvPr id="15" name="text-193">
            <a:extLst>
              <a:ext uri="{FF2B5EF4-FFF2-40B4-BE49-F238E27FC236}">
                <a16:creationId xmlns:a16="http://schemas.microsoft.com/office/drawing/2014/main" id="{30CE9D7E-05BC-445C-8B0B-5C37EE91CBF2}"/>
              </a:ext>
            </a:extLst>
          </p:cNvPr>
          <p:cNvSpPr>
            <a:spLocks noGrp="1"/>
          </p:cNvSpPr>
          <p:nvPr/>
        </p:nvSpPr>
        <p:spPr>
          <a:xfrm>
            <a:off x="8877300" y="1962150"/>
            <a:ext cx="2400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位置 3维</a:t>
            </a:r>
          </a:p>
        </p:txBody>
      </p:sp>
      <p:sp>
        <p:nvSpPr>
          <p:cNvPr id="16" name="box-194">
            <a:extLst>
              <a:ext uri="{FF2B5EF4-FFF2-40B4-BE49-F238E27FC236}">
                <a16:creationId xmlns:a16="http://schemas.microsoft.com/office/drawing/2014/main" id="{AAB9019F-A970-4654-BEE8-2090D3089917}"/>
              </a:ext>
            </a:extLst>
          </p:cNvPr>
          <p:cNvSpPr>
            <a:spLocks noGrp="1"/>
          </p:cNvSpPr>
          <p:nvPr/>
        </p:nvSpPr>
        <p:spPr>
          <a:xfrm>
            <a:off x="8648700" y="3219450"/>
            <a:ext cx="2857500" cy="1619250"/>
          </a:xfrm>
          <a:prstGeom prst="roundRect">
            <a:avLst>
              <a:gd name="adj" fmla="val 3529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7" name="text-195">
            <a:extLst>
              <a:ext uri="{FF2B5EF4-FFF2-40B4-BE49-F238E27FC236}">
                <a16:creationId xmlns:a16="http://schemas.microsoft.com/office/drawing/2014/main" id="{DB6DE346-0B8F-472E-862F-96E4521374A4}"/>
              </a:ext>
            </a:extLst>
          </p:cNvPr>
          <p:cNvSpPr>
            <a:spLocks noGrp="1"/>
          </p:cNvSpPr>
          <p:nvPr/>
        </p:nvSpPr>
        <p:spPr>
          <a:xfrm>
            <a:off x="8839200" y="3409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Texture Head</a:t>
            </a:r>
          </a:p>
        </p:txBody>
      </p:sp>
      <p:sp>
        <p:nvSpPr>
          <p:cNvPr id="18" name="text-196">
            <a:extLst>
              <a:ext uri="{FF2B5EF4-FFF2-40B4-BE49-F238E27FC236}">
                <a16:creationId xmlns:a16="http://schemas.microsoft.com/office/drawing/2014/main" id="{7AE8FE15-2D04-40BB-BB4D-3AACE84DD813}"/>
              </a:ext>
            </a:extLst>
          </p:cNvPr>
          <p:cNvSpPr>
            <a:spLocks noGrp="1"/>
          </p:cNvSpPr>
          <p:nvPr/>
        </p:nvSpPr>
        <p:spPr>
          <a:xfrm>
            <a:off x="8877300" y="3867150"/>
            <a:ext cx="2400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3222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尺度3 + 旋转4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颜色3 + 不透明度1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= 11维</a:t>
            </a:r>
          </a:p>
        </p:txBody>
      </p:sp>
      <p:sp>
        <p:nvSpPr>
          <p:cNvPr id="19" name="text-197">
            <a:extLst>
              <a:ext uri="{FF2B5EF4-FFF2-40B4-BE49-F238E27FC236}">
                <a16:creationId xmlns:a16="http://schemas.microsoft.com/office/drawing/2014/main" id="{2E5C9DD9-58B1-4E57-9D70-27F5D73FD2B4}"/>
              </a:ext>
            </a:extLst>
          </p:cNvPr>
          <p:cNvSpPr>
            <a:spLocks noGrp="1"/>
          </p:cNvSpPr>
          <p:nvPr/>
        </p:nvSpPr>
        <p:spPr>
          <a:xfrm>
            <a:off x="4000500" y="42291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最终输出：[B,14,2,768,768]</a:t>
            </a:r>
          </a:p>
        </p:txBody>
      </p:sp>
      <p:sp>
        <p:nvSpPr>
          <p:cNvPr id="20" name="text-198">
            <a:extLst>
              <a:ext uri="{FF2B5EF4-FFF2-40B4-BE49-F238E27FC236}">
                <a16:creationId xmlns:a16="http://schemas.microsoft.com/office/drawing/2014/main" id="{CF3C4562-E3CC-43EA-9E79-8B363A0FDD4A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依据：本地源码 models/gaussian_decoder.py 与 models/heads.py。</a:t>
            </a:r>
          </a:p>
        </p:txBody>
      </p:sp>
      <p:sp>
        <p:nvSpPr>
          <p:cNvPr id="21" name="box-447">
            <a:extLst>
              <a:ext uri="{FF2B5EF4-FFF2-40B4-BE49-F238E27FC236}">
                <a16:creationId xmlns:a16="http://schemas.microsoft.com/office/drawing/2014/main" id="{B1A2E06D-5E96-40E1-B3EE-81B3426CE820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text-448">
            <a:extLst>
              <a:ext uri="{FF2B5EF4-FFF2-40B4-BE49-F238E27FC236}">
                <a16:creationId xmlns:a16="http://schemas.microsoft.com/office/drawing/2014/main" id="{B165D7AF-702E-4DC6-8925-ED0F671907AC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9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2600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199">
            <a:extLst>
              <a:ext uri="{FF2B5EF4-FFF2-40B4-BE49-F238E27FC236}">
                <a16:creationId xmlns:a16="http://schemas.microsoft.com/office/drawing/2014/main" id="{F20780C6-1C3F-42A0-896D-185553176B59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Base + Delta与Composer</a:t>
            </a:r>
          </a:p>
        </p:txBody>
      </p:sp>
      <p:sp>
        <p:nvSpPr>
          <p:cNvPr id="2" name="text-200">
            <a:extLst>
              <a:ext uri="{FF2B5EF4-FFF2-40B4-BE49-F238E27FC236}">
                <a16:creationId xmlns:a16="http://schemas.microsoft.com/office/drawing/2014/main" id="{8EC47816-30BC-47AD-B6C9-C7F9B6B31230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在各属性的激活空间中叠加残差，再映射回合法参数范围</a:t>
            </a:r>
          </a:p>
        </p:txBody>
      </p:sp>
      <p:sp>
        <p:nvSpPr>
          <p:cNvPr id="3" name="box-201">
            <a:extLst>
              <a:ext uri="{FF2B5EF4-FFF2-40B4-BE49-F238E27FC236}">
                <a16:creationId xmlns:a16="http://schemas.microsoft.com/office/drawing/2014/main" id="{ED10AF36-6FC9-40F1-B106-3A6BA432C2C0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057275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ADCEB"/>
            </a:solidFill>
            <a:prstDash val="solid"/>
          </a:ln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83783" y="1323975"/>
            <a:ext cx="6405383" cy="819150"/>
          </a:xfrm>
          <a:prstGeom prst="rect">
            <a:avLst/>
          </a:prstGeom>
        </p:spPr>
      </p:pic>
      <p:sp>
        <p:nvSpPr>
          <p:cNvPr id="5" name="rule-202">
            <a:extLst>
              <a:ext uri="{FF2B5EF4-FFF2-40B4-BE49-F238E27FC236}">
                <a16:creationId xmlns:a16="http://schemas.microsoft.com/office/drawing/2014/main" id="{A0598BB3-B637-4DCD-AACE-0F1348EA2D4D}"/>
              </a:ext>
            </a:extLst>
          </p:cNvPr>
          <p:cNvSpPr>
            <a:spLocks noGrp="1"/>
          </p:cNvSpPr>
          <p:nvPr/>
        </p:nvSpPr>
        <p:spPr>
          <a:xfrm>
            <a:off x="800100" y="2524125"/>
            <a:ext cx="2362200" cy="381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6" name="text-203">
            <a:extLst>
              <a:ext uri="{FF2B5EF4-FFF2-40B4-BE49-F238E27FC236}">
                <a16:creationId xmlns:a16="http://schemas.microsoft.com/office/drawing/2014/main" id="{D6B33ECD-166E-4608-993D-C5BC4FEA81A2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0D569A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0D569A"/>
                </a:solidFill>
                <a:latin typeface="Cambria Math"/>
                <a:ea typeface="Cambria Math"/>
                <a:cs typeface="Cambria Math"/>
              </a:rPr>
              <a:t>G₀</a:t>
            </a:r>
          </a:p>
        </p:txBody>
      </p:sp>
      <p:sp>
        <p:nvSpPr>
          <p:cNvPr id="7" name="text-204">
            <a:extLst>
              <a:ext uri="{FF2B5EF4-FFF2-40B4-BE49-F238E27FC236}">
                <a16:creationId xmlns:a16="http://schemas.microsoft.com/office/drawing/2014/main" id="{16B79713-06A9-4B3A-8315-8140523E40DE}"/>
              </a:ext>
            </a:extLst>
          </p:cNvPr>
          <p:cNvSpPr>
            <a:spLocks noGrp="1"/>
          </p:cNvSpPr>
          <p:nvPr/>
        </p:nvSpPr>
        <p:spPr>
          <a:xfrm>
            <a:off x="1390650" y="2695575"/>
            <a:ext cx="1771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Base Gaussians</a:t>
            </a:r>
          </a:p>
        </p:txBody>
      </p:sp>
      <p:sp>
        <p:nvSpPr>
          <p:cNvPr id="8" name="rule-205">
            <a:extLst>
              <a:ext uri="{FF2B5EF4-FFF2-40B4-BE49-F238E27FC236}">
                <a16:creationId xmlns:a16="http://schemas.microsoft.com/office/drawing/2014/main" id="{CB5DFD6E-04D7-4BAE-9D00-A93CDCE4D1E2}"/>
              </a:ext>
            </a:extLst>
          </p:cNvPr>
          <p:cNvSpPr>
            <a:spLocks noGrp="1"/>
          </p:cNvSpPr>
          <p:nvPr/>
        </p:nvSpPr>
        <p:spPr>
          <a:xfrm>
            <a:off x="3448050" y="2524125"/>
            <a:ext cx="2362200" cy="38100"/>
          </a:xfrm>
          <a:prstGeom prst="rect">
            <a:avLst/>
          </a:prstGeom>
          <a:solidFill>
            <a:srgbClr val="22C7E2"/>
          </a:solidFill>
          <a:ln w="0">
            <a:noFill/>
            <a:prstDash val="solid"/>
          </a:ln>
        </p:spPr>
      </p:sp>
      <p:sp>
        <p:nvSpPr>
          <p:cNvPr id="9" name="text-206">
            <a:extLst>
              <a:ext uri="{FF2B5EF4-FFF2-40B4-BE49-F238E27FC236}">
                <a16:creationId xmlns:a16="http://schemas.microsoft.com/office/drawing/2014/main" id="{341038BC-9312-404A-B0D6-CD8EF58A7ED1}"/>
              </a:ext>
            </a:extLst>
          </p:cNvPr>
          <p:cNvSpPr>
            <a:spLocks noGrp="1"/>
          </p:cNvSpPr>
          <p:nvPr/>
        </p:nvSpPr>
        <p:spPr>
          <a:xfrm>
            <a:off x="3448050" y="266700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22C7E2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22C7E2"/>
                </a:solidFill>
                <a:latin typeface="Cambria Math"/>
                <a:ea typeface="Cambria Math"/>
                <a:cs typeface="Cambria Math"/>
              </a:rPr>
              <a:t>ΔG</a:t>
            </a:r>
          </a:p>
        </p:txBody>
      </p:sp>
      <p:sp>
        <p:nvSpPr>
          <p:cNvPr id="10" name="text-207">
            <a:extLst>
              <a:ext uri="{FF2B5EF4-FFF2-40B4-BE49-F238E27FC236}">
                <a16:creationId xmlns:a16="http://schemas.microsoft.com/office/drawing/2014/main" id="{5E96AD69-4DA7-4128-9A25-19832EEC9259}"/>
              </a:ext>
            </a:extLst>
          </p:cNvPr>
          <p:cNvSpPr>
            <a:spLocks noGrp="1"/>
          </p:cNvSpPr>
          <p:nvPr/>
        </p:nvSpPr>
        <p:spPr>
          <a:xfrm>
            <a:off x="4038600" y="2695575"/>
            <a:ext cx="1771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Decoder预测的残差</a:t>
            </a:r>
          </a:p>
        </p:txBody>
      </p:sp>
      <p:sp>
        <p:nvSpPr>
          <p:cNvPr id="11" name="rule-208">
            <a:extLst>
              <a:ext uri="{FF2B5EF4-FFF2-40B4-BE49-F238E27FC236}">
                <a16:creationId xmlns:a16="http://schemas.microsoft.com/office/drawing/2014/main" id="{8F39F362-F018-4509-BB22-D7FA283B8C2D}"/>
              </a:ext>
            </a:extLst>
          </p:cNvPr>
          <p:cNvSpPr>
            <a:spLocks noGrp="1"/>
          </p:cNvSpPr>
          <p:nvPr/>
        </p:nvSpPr>
        <p:spPr>
          <a:xfrm>
            <a:off x="6096000" y="2524125"/>
            <a:ext cx="2362200" cy="38100"/>
          </a:xfrm>
          <a:prstGeom prst="rect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12" name="text-209">
            <a:extLst>
              <a:ext uri="{FF2B5EF4-FFF2-40B4-BE49-F238E27FC236}">
                <a16:creationId xmlns:a16="http://schemas.microsoft.com/office/drawing/2014/main" id="{ECBEF0BE-CB6F-406A-BD88-4B61D7BB1B19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0D569A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 dirty="0">
                <a:solidFill>
                  <a:srgbClr val="FFA837"/>
                </a:solidFill>
                <a:latin typeface="Cambria Math"/>
                <a:ea typeface="Cambria Math"/>
                <a:cs typeface="Cambria Math"/>
              </a:rPr>
              <a:t>η</a:t>
            </a:r>
          </a:p>
        </p:txBody>
      </p:sp>
      <p:sp>
        <p:nvSpPr>
          <p:cNvPr id="13" name="text-210">
            <a:extLst>
              <a:ext uri="{FF2B5EF4-FFF2-40B4-BE49-F238E27FC236}">
                <a16:creationId xmlns:a16="http://schemas.microsoft.com/office/drawing/2014/main" id="{0FA86E2C-DE48-41E2-B231-15F182DFB7D4}"/>
              </a:ext>
            </a:extLst>
          </p:cNvPr>
          <p:cNvSpPr>
            <a:spLocks noGrp="1"/>
          </p:cNvSpPr>
          <p:nvPr/>
        </p:nvSpPr>
        <p:spPr>
          <a:xfrm>
            <a:off x="6686550" y="2695575"/>
            <a:ext cx="1771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不同属性的残差倍率</a:t>
            </a:r>
            <a:endParaRPr sz="1275" b="0" dirty="0">
              <a:solidFill>
                <a:srgbClr val="2438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ule-211">
            <a:extLst>
              <a:ext uri="{FF2B5EF4-FFF2-40B4-BE49-F238E27FC236}">
                <a16:creationId xmlns:a16="http://schemas.microsoft.com/office/drawing/2014/main" id="{0F67E855-439B-48C0-803B-153DA26383AF}"/>
              </a:ext>
            </a:extLst>
          </p:cNvPr>
          <p:cNvSpPr>
            <a:spLocks noGrp="1"/>
          </p:cNvSpPr>
          <p:nvPr/>
        </p:nvSpPr>
        <p:spPr>
          <a:xfrm>
            <a:off x="8743950" y="2524125"/>
            <a:ext cx="2362200" cy="38100"/>
          </a:xfrm>
          <a:prstGeom prst="rect">
            <a:avLst/>
          </a:prstGeom>
          <a:solidFill>
            <a:srgbClr val="48DEAB"/>
          </a:solidFill>
          <a:ln w="0">
            <a:noFill/>
            <a:prstDash val="solid"/>
          </a:ln>
        </p:spPr>
      </p:sp>
      <p:sp>
        <p:nvSpPr>
          <p:cNvPr id="15" name="text-212">
            <a:extLst>
              <a:ext uri="{FF2B5EF4-FFF2-40B4-BE49-F238E27FC236}">
                <a16:creationId xmlns:a16="http://schemas.microsoft.com/office/drawing/2014/main" id="{BD9DA3C9-5FA6-4CDB-8483-BE7FBB025698}"/>
              </a:ext>
            </a:extLst>
          </p:cNvPr>
          <p:cNvSpPr>
            <a:spLocks noGrp="1"/>
          </p:cNvSpPr>
          <p:nvPr/>
        </p:nvSpPr>
        <p:spPr>
          <a:xfrm>
            <a:off x="8743950" y="266700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48DEAB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48DEAB"/>
                </a:solidFill>
                <a:latin typeface="Cambria Math"/>
                <a:ea typeface="Cambria Math"/>
                <a:cs typeface="Cambria Math"/>
              </a:rPr>
              <a:t>γ</a:t>
            </a:r>
          </a:p>
        </p:txBody>
      </p:sp>
      <p:sp>
        <p:nvSpPr>
          <p:cNvPr id="16" name="text-213">
            <a:extLst>
              <a:ext uri="{FF2B5EF4-FFF2-40B4-BE49-F238E27FC236}">
                <a16:creationId xmlns:a16="http://schemas.microsoft.com/office/drawing/2014/main" id="{575E4B5F-E649-4FFD-B114-B91BDA4BC66C}"/>
              </a:ext>
            </a:extLst>
          </p:cNvPr>
          <p:cNvSpPr>
            <a:spLocks noGrp="1"/>
          </p:cNvSpPr>
          <p:nvPr/>
        </p:nvSpPr>
        <p:spPr>
          <a:xfrm>
            <a:off x="9334500" y="2695575"/>
            <a:ext cx="1771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映射到合法参数范围</a:t>
            </a:r>
          </a:p>
        </p:txBody>
      </p:sp>
      <p:sp>
        <p:nvSpPr>
          <p:cNvPr id="17" name="text-214">
            <a:extLst>
              <a:ext uri="{FF2B5EF4-FFF2-40B4-BE49-F238E27FC236}">
                <a16:creationId xmlns:a16="http://schemas.microsoft.com/office/drawing/2014/main" id="{F89CB7BC-23FD-4BD8-8A0E-C9AEFDBED6C3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属性</a:t>
            </a:r>
          </a:p>
        </p:txBody>
      </p:sp>
      <p:sp>
        <p:nvSpPr>
          <p:cNvPr id="18" name="text-215">
            <a:extLst>
              <a:ext uri="{FF2B5EF4-FFF2-40B4-BE49-F238E27FC236}">
                <a16:creationId xmlns:a16="http://schemas.microsoft.com/office/drawing/2014/main" id="{022260CC-8E8A-422F-A9F1-59949BDA56D0}"/>
              </a:ext>
            </a:extLst>
          </p:cNvPr>
          <p:cNvSpPr>
            <a:spLocks noGrp="1"/>
          </p:cNvSpPr>
          <p:nvPr/>
        </p:nvSpPr>
        <p:spPr>
          <a:xfrm>
            <a:off x="3067050" y="3333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激活 γ</a:t>
            </a:r>
          </a:p>
        </p:txBody>
      </p:sp>
      <p:sp>
        <p:nvSpPr>
          <p:cNvPr id="19" name="text-216">
            <a:extLst>
              <a:ext uri="{FF2B5EF4-FFF2-40B4-BE49-F238E27FC236}">
                <a16:creationId xmlns:a16="http://schemas.microsoft.com/office/drawing/2014/main" id="{FE4E6E65-DE4C-48C6-A1F6-7A13B84318C0}"/>
              </a:ext>
            </a:extLst>
          </p:cNvPr>
          <p:cNvSpPr>
            <a:spLocks noGrp="1"/>
          </p:cNvSpPr>
          <p:nvPr/>
        </p:nvSpPr>
        <p:spPr>
          <a:xfrm>
            <a:off x="5257800" y="3333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残差倍率 η</a:t>
            </a:r>
          </a:p>
        </p:txBody>
      </p:sp>
      <p:sp>
        <p:nvSpPr>
          <p:cNvPr id="20" name="box-217">
            <a:extLst>
              <a:ext uri="{FF2B5EF4-FFF2-40B4-BE49-F238E27FC236}">
                <a16:creationId xmlns:a16="http://schemas.microsoft.com/office/drawing/2014/main" id="{B2FF9DFA-ABB7-4F6B-AC7A-DDEC09E6BF1A}"/>
              </a:ext>
            </a:extLst>
          </p:cNvPr>
          <p:cNvSpPr>
            <a:spLocks noGrp="1"/>
          </p:cNvSpPr>
          <p:nvPr/>
        </p:nvSpPr>
        <p:spPr>
          <a:xfrm>
            <a:off x="857250" y="3657600"/>
            <a:ext cx="6572250" cy="285750"/>
          </a:xfrm>
          <a:prstGeom prst="rect">
            <a:avLst/>
          </a:prstGeom>
          <a:solidFill>
            <a:srgbClr val="F7FAFD"/>
          </a:solidFill>
          <a:ln w="5715">
            <a:solidFill>
              <a:srgbClr val="CADCEB"/>
            </a:solidFill>
            <a:prstDash val="solid"/>
          </a:ln>
        </p:spPr>
      </p:sp>
      <p:sp>
        <p:nvSpPr>
          <p:cNvPr id="21" name="text-218">
            <a:extLst>
              <a:ext uri="{FF2B5EF4-FFF2-40B4-BE49-F238E27FC236}">
                <a16:creationId xmlns:a16="http://schemas.microsoft.com/office/drawing/2014/main" id="{E855F55E-6762-4545-B8E8-C293BC491993}"/>
              </a:ext>
            </a:extLst>
          </p:cNvPr>
          <p:cNvSpPr>
            <a:spLocks noGrp="1"/>
          </p:cNvSpPr>
          <p:nvPr/>
        </p:nvSpPr>
        <p:spPr>
          <a:xfrm>
            <a:off x="914400" y="36861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位置 x/z,y/z</a:t>
            </a:r>
          </a:p>
        </p:txBody>
      </p:sp>
      <p:sp>
        <p:nvSpPr>
          <p:cNvPr id="22" name="text-219">
            <a:extLst>
              <a:ext uri="{FF2B5EF4-FFF2-40B4-BE49-F238E27FC236}">
                <a16:creationId xmlns:a16="http://schemas.microsoft.com/office/drawing/2014/main" id="{22395D8A-B7F1-404C-AA61-93AE5C2F03B8}"/>
              </a:ext>
            </a:extLst>
          </p:cNvPr>
          <p:cNvSpPr>
            <a:spLocks noGrp="1"/>
          </p:cNvSpPr>
          <p:nvPr/>
        </p:nvSpPr>
        <p:spPr>
          <a:xfrm>
            <a:off x="3105150" y="36861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23" name="text-220">
            <a:extLst>
              <a:ext uri="{FF2B5EF4-FFF2-40B4-BE49-F238E27FC236}">
                <a16:creationId xmlns:a16="http://schemas.microsoft.com/office/drawing/2014/main" id="{67AD4288-D5F0-45B4-9A2E-87470E739B67}"/>
              </a:ext>
            </a:extLst>
          </p:cNvPr>
          <p:cNvSpPr>
            <a:spLocks noGrp="1"/>
          </p:cNvSpPr>
          <p:nvPr/>
        </p:nvSpPr>
        <p:spPr>
          <a:xfrm>
            <a:off x="5295900" y="36861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0.001</a:t>
            </a:r>
            <a:endParaRPr sz="1200" b="0" dirty="0">
              <a:solidFill>
                <a:srgbClr val="2438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box-221">
            <a:extLst>
              <a:ext uri="{FF2B5EF4-FFF2-40B4-BE49-F238E27FC236}">
                <a16:creationId xmlns:a16="http://schemas.microsoft.com/office/drawing/2014/main" id="{17E73F45-7D33-4C53-B5F7-82683A40AA1E}"/>
              </a:ext>
            </a:extLst>
          </p:cNvPr>
          <p:cNvSpPr>
            <a:spLocks noGrp="1"/>
          </p:cNvSpPr>
          <p:nvPr/>
        </p:nvSpPr>
        <p:spPr>
          <a:xfrm>
            <a:off x="857250" y="3981450"/>
            <a:ext cx="6572250" cy="285750"/>
          </a:xfrm>
          <a:prstGeom prst="rect">
            <a:avLst/>
          </a:prstGeom>
          <a:solidFill>
            <a:srgbClr val="FFFFFF"/>
          </a:solidFill>
          <a:ln w="5715">
            <a:solidFill>
              <a:srgbClr val="CADCEB"/>
            </a:solidFill>
            <a:prstDash val="solid"/>
          </a:ln>
        </p:spPr>
      </p:sp>
      <p:sp>
        <p:nvSpPr>
          <p:cNvPr id="25" name="text-222">
            <a:extLst>
              <a:ext uri="{FF2B5EF4-FFF2-40B4-BE49-F238E27FC236}">
                <a16:creationId xmlns:a16="http://schemas.microsoft.com/office/drawing/2014/main" id="{288ADF66-E133-4694-ACCC-7D0E27CC1544}"/>
              </a:ext>
            </a:extLst>
          </p:cNvPr>
          <p:cNvSpPr>
            <a:spLocks noGrp="1"/>
          </p:cNvSpPr>
          <p:nvPr/>
        </p:nvSpPr>
        <p:spPr>
          <a:xfrm>
            <a:off x="914400" y="40100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位置 1/z</a:t>
            </a:r>
          </a:p>
        </p:txBody>
      </p:sp>
      <p:sp>
        <p:nvSpPr>
          <p:cNvPr id="26" name="text-223">
            <a:extLst>
              <a:ext uri="{FF2B5EF4-FFF2-40B4-BE49-F238E27FC236}">
                <a16:creationId xmlns:a16="http://schemas.microsoft.com/office/drawing/2014/main" id="{0EBFA631-4E79-4662-A410-BE44B23F4516}"/>
              </a:ext>
            </a:extLst>
          </p:cNvPr>
          <p:cNvSpPr>
            <a:spLocks noGrp="1"/>
          </p:cNvSpPr>
          <p:nvPr/>
        </p:nvSpPr>
        <p:spPr>
          <a:xfrm>
            <a:off x="3105150" y="40100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softplus</a:t>
            </a:r>
          </a:p>
        </p:txBody>
      </p:sp>
      <p:sp>
        <p:nvSpPr>
          <p:cNvPr id="27" name="text-224">
            <a:extLst>
              <a:ext uri="{FF2B5EF4-FFF2-40B4-BE49-F238E27FC236}">
                <a16:creationId xmlns:a16="http://schemas.microsoft.com/office/drawing/2014/main" id="{81EF21CB-CA01-4634-8C35-E5DEF8414C73}"/>
              </a:ext>
            </a:extLst>
          </p:cNvPr>
          <p:cNvSpPr>
            <a:spLocks noGrp="1"/>
          </p:cNvSpPr>
          <p:nvPr/>
        </p:nvSpPr>
        <p:spPr>
          <a:xfrm>
            <a:off x="5295900" y="40100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0.001</a:t>
            </a:r>
            <a:endParaRPr sz="1200" b="0" dirty="0">
              <a:solidFill>
                <a:srgbClr val="2438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box-225">
            <a:extLst>
              <a:ext uri="{FF2B5EF4-FFF2-40B4-BE49-F238E27FC236}">
                <a16:creationId xmlns:a16="http://schemas.microsoft.com/office/drawing/2014/main" id="{7DA9CAF2-BEE4-48AF-A76E-BACC77D5E8AA}"/>
              </a:ext>
            </a:extLst>
          </p:cNvPr>
          <p:cNvSpPr>
            <a:spLocks noGrp="1"/>
          </p:cNvSpPr>
          <p:nvPr/>
        </p:nvSpPr>
        <p:spPr>
          <a:xfrm>
            <a:off x="857250" y="4305300"/>
            <a:ext cx="6572250" cy="285750"/>
          </a:xfrm>
          <a:prstGeom prst="rect">
            <a:avLst/>
          </a:prstGeom>
          <a:solidFill>
            <a:srgbClr val="F7FAFD"/>
          </a:solidFill>
          <a:ln w="5715">
            <a:solidFill>
              <a:srgbClr val="CADCEB"/>
            </a:solidFill>
            <a:prstDash val="solid"/>
          </a:ln>
        </p:spPr>
      </p:sp>
      <p:sp>
        <p:nvSpPr>
          <p:cNvPr id="29" name="text-226">
            <a:extLst>
              <a:ext uri="{FF2B5EF4-FFF2-40B4-BE49-F238E27FC236}">
                <a16:creationId xmlns:a16="http://schemas.microsoft.com/office/drawing/2014/main" id="{5493F329-3A0A-4AFC-8AC9-50D168F71A40}"/>
              </a:ext>
            </a:extLst>
          </p:cNvPr>
          <p:cNvSpPr>
            <a:spLocks noGrp="1"/>
          </p:cNvSpPr>
          <p:nvPr/>
        </p:nvSpPr>
        <p:spPr>
          <a:xfrm>
            <a:off x="914400" y="43338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尺度</a:t>
            </a:r>
          </a:p>
        </p:txBody>
      </p:sp>
      <p:sp>
        <p:nvSpPr>
          <p:cNvPr id="30" name="text-227">
            <a:extLst>
              <a:ext uri="{FF2B5EF4-FFF2-40B4-BE49-F238E27FC236}">
                <a16:creationId xmlns:a16="http://schemas.microsoft.com/office/drawing/2014/main" id="{F3B7D7BA-A563-4F25-BC70-1DBE4D880FE7}"/>
              </a:ext>
            </a:extLst>
          </p:cNvPr>
          <p:cNvSpPr>
            <a:spLocks noGrp="1"/>
          </p:cNvSpPr>
          <p:nvPr/>
        </p:nvSpPr>
        <p:spPr>
          <a:xfrm>
            <a:off x="3105150" y="43338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sigmoid</a:t>
            </a:r>
          </a:p>
        </p:txBody>
      </p:sp>
      <p:sp>
        <p:nvSpPr>
          <p:cNvPr id="31" name="text-228">
            <a:extLst>
              <a:ext uri="{FF2B5EF4-FFF2-40B4-BE49-F238E27FC236}">
                <a16:creationId xmlns:a16="http://schemas.microsoft.com/office/drawing/2014/main" id="{A17EA567-C06E-4EEB-8B78-370CBFD27780}"/>
              </a:ext>
            </a:extLst>
          </p:cNvPr>
          <p:cNvSpPr>
            <a:spLocks noGrp="1"/>
          </p:cNvSpPr>
          <p:nvPr/>
        </p:nvSpPr>
        <p:spPr>
          <a:xfrm>
            <a:off x="5295900" y="43338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box-229">
            <a:extLst>
              <a:ext uri="{FF2B5EF4-FFF2-40B4-BE49-F238E27FC236}">
                <a16:creationId xmlns:a16="http://schemas.microsoft.com/office/drawing/2014/main" id="{934D6472-B285-47FE-AC15-7BC2EDB79A39}"/>
              </a:ext>
            </a:extLst>
          </p:cNvPr>
          <p:cNvSpPr>
            <a:spLocks noGrp="1"/>
          </p:cNvSpPr>
          <p:nvPr/>
        </p:nvSpPr>
        <p:spPr>
          <a:xfrm>
            <a:off x="857250" y="4629150"/>
            <a:ext cx="6572250" cy="285750"/>
          </a:xfrm>
          <a:prstGeom prst="rect">
            <a:avLst/>
          </a:prstGeom>
          <a:solidFill>
            <a:srgbClr val="FFFFFF"/>
          </a:solidFill>
          <a:ln w="5715">
            <a:solidFill>
              <a:srgbClr val="CADCEB"/>
            </a:solidFill>
            <a:prstDash val="solid"/>
          </a:ln>
        </p:spPr>
      </p:sp>
      <p:sp>
        <p:nvSpPr>
          <p:cNvPr id="33" name="text-230">
            <a:extLst>
              <a:ext uri="{FF2B5EF4-FFF2-40B4-BE49-F238E27FC236}">
                <a16:creationId xmlns:a16="http://schemas.microsoft.com/office/drawing/2014/main" id="{B60E072B-E79C-42FA-AFDA-C9480E03FBD0}"/>
              </a:ext>
            </a:extLst>
          </p:cNvPr>
          <p:cNvSpPr>
            <a:spLocks noGrp="1"/>
          </p:cNvSpPr>
          <p:nvPr/>
        </p:nvSpPr>
        <p:spPr>
          <a:xfrm>
            <a:off x="914400" y="46577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旋转</a:t>
            </a:r>
          </a:p>
        </p:txBody>
      </p:sp>
      <p:sp>
        <p:nvSpPr>
          <p:cNvPr id="34" name="text-231">
            <a:extLst>
              <a:ext uri="{FF2B5EF4-FFF2-40B4-BE49-F238E27FC236}">
                <a16:creationId xmlns:a16="http://schemas.microsoft.com/office/drawing/2014/main" id="{153B7295-8484-48A3-AEEE-F248FC5C9FB0}"/>
              </a:ext>
            </a:extLst>
          </p:cNvPr>
          <p:cNvSpPr>
            <a:spLocks noGrp="1"/>
          </p:cNvSpPr>
          <p:nvPr/>
        </p:nvSpPr>
        <p:spPr>
          <a:xfrm>
            <a:off x="3105150" y="46577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35" name="text-232">
            <a:extLst>
              <a:ext uri="{FF2B5EF4-FFF2-40B4-BE49-F238E27FC236}">
                <a16:creationId xmlns:a16="http://schemas.microsoft.com/office/drawing/2014/main" id="{24D71D3D-20C5-47DF-94A2-6AB5B115D826}"/>
              </a:ext>
            </a:extLst>
          </p:cNvPr>
          <p:cNvSpPr>
            <a:spLocks noGrp="1"/>
          </p:cNvSpPr>
          <p:nvPr/>
        </p:nvSpPr>
        <p:spPr>
          <a:xfrm>
            <a:off x="5295900" y="46577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box-233">
            <a:extLst>
              <a:ext uri="{FF2B5EF4-FFF2-40B4-BE49-F238E27FC236}">
                <a16:creationId xmlns:a16="http://schemas.microsoft.com/office/drawing/2014/main" id="{E72CAEC5-09EB-480C-A11B-B58AE913510F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6572250" cy="285750"/>
          </a:xfrm>
          <a:prstGeom prst="rect">
            <a:avLst/>
          </a:prstGeom>
          <a:solidFill>
            <a:srgbClr val="F7FAFD"/>
          </a:solidFill>
          <a:ln w="5715">
            <a:solidFill>
              <a:srgbClr val="CADCEB"/>
            </a:solidFill>
            <a:prstDash val="solid"/>
          </a:ln>
        </p:spPr>
      </p:sp>
      <p:sp>
        <p:nvSpPr>
          <p:cNvPr id="37" name="text-234">
            <a:extLst>
              <a:ext uri="{FF2B5EF4-FFF2-40B4-BE49-F238E27FC236}">
                <a16:creationId xmlns:a16="http://schemas.microsoft.com/office/drawing/2014/main" id="{6195C8CF-5752-42EB-97F0-FE9E0BBFDB2A}"/>
              </a:ext>
            </a:extLst>
          </p:cNvPr>
          <p:cNvSpPr>
            <a:spLocks noGrp="1"/>
          </p:cNvSpPr>
          <p:nvPr/>
        </p:nvSpPr>
        <p:spPr>
          <a:xfrm>
            <a:off x="914400" y="4981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颜色RGB</a:t>
            </a:r>
          </a:p>
        </p:txBody>
      </p:sp>
      <p:sp>
        <p:nvSpPr>
          <p:cNvPr id="38" name="text-235">
            <a:extLst>
              <a:ext uri="{FF2B5EF4-FFF2-40B4-BE49-F238E27FC236}">
                <a16:creationId xmlns:a16="http://schemas.microsoft.com/office/drawing/2014/main" id="{5117FDA7-2DBD-40FE-A6E0-174375A92C4C}"/>
              </a:ext>
            </a:extLst>
          </p:cNvPr>
          <p:cNvSpPr>
            <a:spLocks noGrp="1"/>
          </p:cNvSpPr>
          <p:nvPr/>
        </p:nvSpPr>
        <p:spPr>
          <a:xfrm>
            <a:off x="3105150" y="4981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sigmoid</a:t>
            </a:r>
          </a:p>
        </p:txBody>
      </p:sp>
      <p:sp>
        <p:nvSpPr>
          <p:cNvPr id="39" name="text-236">
            <a:extLst>
              <a:ext uri="{FF2B5EF4-FFF2-40B4-BE49-F238E27FC236}">
                <a16:creationId xmlns:a16="http://schemas.microsoft.com/office/drawing/2014/main" id="{F7936DAF-9BD6-4417-9FB0-A3F027598E3B}"/>
              </a:ext>
            </a:extLst>
          </p:cNvPr>
          <p:cNvSpPr>
            <a:spLocks noGrp="1"/>
          </p:cNvSpPr>
          <p:nvPr/>
        </p:nvSpPr>
        <p:spPr>
          <a:xfrm>
            <a:off x="5295900" y="4981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0.1</a:t>
            </a:r>
            <a:endParaRPr sz="1200" b="0" dirty="0">
              <a:solidFill>
                <a:srgbClr val="2438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box-237">
            <a:extLst>
              <a:ext uri="{FF2B5EF4-FFF2-40B4-BE49-F238E27FC236}">
                <a16:creationId xmlns:a16="http://schemas.microsoft.com/office/drawing/2014/main" id="{0B7FA681-54E9-460C-8C72-2112A051D7E4}"/>
              </a:ext>
            </a:extLst>
          </p:cNvPr>
          <p:cNvSpPr>
            <a:spLocks noGrp="1"/>
          </p:cNvSpPr>
          <p:nvPr/>
        </p:nvSpPr>
        <p:spPr>
          <a:xfrm>
            <a:off x="857250" y="5276850"/>
            <a:ext cx="6572250" cy="285750"/>
          </a:xfrm>
          <a:prstGeom prst="rect">
            <a:avLst/>
          </a:prstGeom>
          <a:solidFill>
            <a:srgbClr val="FFFFFF"/>
          </a:solidFill>
          <a:ln w="5715">
            <a:solidFill>
              <a:srgbClr val="CADCEB"/>
            </a:solidFill>
            <a:prstDash val="solid"/>
          </a:ln>
        </p:spPr>
      </p:sp>
      <p:sp>
        <p:nvSpPr>
          <p:cNvPr id="41" name="text-238">
            <a:extLst>
              <a:ext uri="{FF2B5EF4-FFF2-40B4-BE49-F238E27FC236}">
                <a16:creationId xmlns:a16="http://schemas.microsoft.com/office/drawing/2014/main" id="{F5E7AC62-F82E-47CC-9A8F-DB232E1C0629}"/>
              </a:ext>
            </a:extLst>
          </p:cNvPr>
          <p:cNvSpPr>
            <a:spLocks noGrp="1"/>
          </p:cNvSpPr>
          <p:nvPr/>
        </p:nvSpPr>
        <p:spPr>
          <a:xfrm>
            <a:off x="914400" y="53054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不透明度</a:t>
            </a:r>
          </a:p>
        </p:txBody>
      </p:sp>
      <p:sp>
        <p:nvSpPr>
          <p:cNvPr id="42" name="text-239">
            <a:extLst>
              <a:ext uri="{FF2B5EF4-FFF2-40B4-BE49-F238E27FC236}">
                <a16:creationId xmlns:a16="http://schemas.microsoft.com/office/drawing/2014/main" id="{67E15359-9271-4656-9C68-A91F752830A2}"/>
              </a:ext>
            </a:extLst>
          </p:cNvPr>
          <p:cNvSpPr>
            <a:spLocks noGrp="1"/>
          </p:cNvSpPr>
          <p:nvPr/>
        </p:nvSpPr>
        <p:spPr>
          <a:xfrm>
            <a:off x="3105150" y="53054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sigmoid</a:t>
            </a:r>
          </a:p>
        </p:txBody>
      </p:sp>
      <p:sp>
        <p:nvSpPr>
          <p:cNvPr id="43" name="text-240">
            <a:extLst>
              <a:ext uri="{FF2B5EF4-FFF2-40B4-BE49-F238E27FC236}">
                <a16:creationId xmlns:a16="http://schemas.microsoft.com/office/drawing/2014/main" id="{31588720-3B95-4674-80D6-1ABEDDDAF36E}"/>
              </a:ext>
            </a:extLst>
          </p:cNvPr>
          <p:cNvSpPr>
            <a:spLocks noGrp="1"/>
          </p:cNvSpPr>
          <p:nvPr/>
        </p:nvSpPr>
        <p:spPr>
          <a:xfrm>
            <a:off x="5295900" y="53054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box-241">
            <a:extLst>
              <a:ext uri="{FF2B5EF4-FFF2-40B4-BE49-F238E27FC236}">
                <a16:creationId xmlns:a16="http://schemas.microsoft.com/office/drawing/2014/main" id="{4B96637D-B7BD-44A1-8686-9CF39176FBDA}"/>
              </a:ext>
            </a:extLst>
          </p:cNvPr>
          <p:cNvSpPr>
            <a:spLocks noGrp="1"/>
          </p:cNvSpPr>
          <p:nvPr/>
        </p:nvSpPr>
        <p:spPr>
          <a:xfrm>
            <a:off x="8020050" y="3638550"/>
            <a:ext cx="3105150" cy="1562100"/>
          </a:xfrm>
          <a:prstGeom prst="roundRect">
            <a:avLst>
              <a:gd name="adj" fmla="val 3659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45" name="text-242">
            <a:extLst>
              <a:ext uri="{FF2B5EF4-FFF2-40B4-BE49-F238E27FC236}">
                <a16:creationId xmlns:a16="http://schemas.microsoft.com/office/drawing/2014/main" id="{6609BFB1-1C33-4CFE-B232-DD5360AE8BFB}"/>
              </a:ext>
            </a:extLst>
          </p:cNvPr>
          <p:cNvSpPr>
            <a:spLocks noGrp="1"/>
          </p:cNvSpPr>
          <p:nvPr/>
        </p:nvSpPr>
        <p:spPr>
          <a:xfrm>
            <a:off x="8248650" y="38671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零残差性质</a:t>
            </a:r>
          </a:p>
        </p:txBody>
      </p:sp>
      <p:sp>
        <p:nvSpPr>
          <p:cNvPr id="46" name="text-243">
            <a:extLst>
              <a:ext uri="{FF2B5EF4-FFF2-40B4-BE49-F238E27FC236}">
                <a16:creationId xmlns:a16="http://schemas.microsoft.com/office/drawing/2014/main" id="{01DDBB51-24AC-4B2C-A67A-51480B02595D}"/>
              </a:ext>
            </a:extLst>
          </p:cNvPr>
          <p:cNvSpPr>
            <a:spLocks noGrp="1"/>
          </p:cNvSpPr>
          <p:nvPr/>
        </p:nvSpPr>
        <p:spPr>
          <a:xfrm>
            <a:off x="8248650" y="4381500"/>
            <a:ext cx="2647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当 ΔG = 0 时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最终高斯严格等于Base</a:t>
            </a:r>
          </a:p>
        </p:txBody>
      </p:sp>
      <p:sp>
        <p:nvSpPr>
          <p:cNvPr id="47" name="text-244">
            <a:extLst>
              <a:ext uri="{FF2B5EF4-FFF2-40B4-BE49-F238E27FC236}">
                <a16:creationId xmlns:a16="http://schemas.microsoft.com/office/drawing/2014/main" id="{925B72DC-CEEF-45D8-A171-3D11FC422773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公式来源：SHARP Eq.3.2。L_delta中的δ=400是原始残差阈值；位置倍率0.001后约对应0.4 NDC，并非400像素。</a:t>
            </a:r>
          </a:p>
        </p:txBody>
      </p:sp>
      <p:sp>
        <p:nvSpPr>
          <p:cNvPr id="48" name="box-449">
            <a:extLst>
              <a:ext uri="{FF2B5EF4-FFF2-40B4-BE49-F238E27FC236}">
                <a16:creationId xmlns:a16="http://schemas.microsoft.com/office/drawing/2014/main" id="{8265CB05-4B84-4372-A316-51BFA7E464AB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9" name="text-450">
            <a:extLst>
              <a:ext uri="{FF2B5EF4-FFF2-40B4-BE49-F238E27FC236}">
                <a16:creationId xmlns:a16="http://schemas.microsoft.com/office/drawing/2014/main" id="{7147F4E6-07BD-441E-BE63-19220154DE2A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10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9380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245">
            <a:extLst>
              <a:ext uri="{FF2B5EF4-FFF2-40B4-BE49-F238E27FC236}">
                <a16:creationId xmlns:a16="http://schemas.microsoft.com/office/drawing/2014/main" id="{58E436F2-6B6E-4724-8D08-1501AB9BBA0F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为什么采用两阶段训练</a:t>
            </a:r>
          </a:p>
        </p:txBody>
      </p:sp>
      <p:sp>
        <p:nvSpPr>
          <p:cNvPr id="2" name="text-246">
            <a:extLst>
              <a:ext uri="{FF2B5EF4-FFF2-40B4-BE49-F238E27FC236}">
                <a16:creationId xmlns:a16="http://schemas.microsoft.com/office/drawing/2014/main" id="{D8EC8854-097B-4C1C-BB5A-11CF6D7B6CD3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先用精确监督建立几何能力，再用真实图像适应复杂外观</a:t>
            </a:r>
          </a:p>
        </p:txBody>
      </p:sp>
      <p:sp>
        <p:nvSpPr>
          <p:cNvPr id="3" name="box-247">
            <a:extLst>
              <a:ext uri="{FF2B5EF4-FFF2-40B4-BE49-F238E27FC236}">
                <a16:creationId xmlns:a16="http://schemas.microsoft.com/office/drawing/2014/main" id="{B553E132-2E36-41E7-A6E9-5602AA65CAE0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4095750" cy="1752600"/>
          </a:xfrm>
          <a:prstGeom prst="roundRect">
            <a:avLst>
              <a:gd name="adj" fmla="val 3261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4" name="text-248">
            <a:extLst>
              <a:ext uri="{FF2B5EF4-FFF2-40B4-BE49-F238E27FC236}">
                <a16:creationId xmlns:a16="http://schemas.microsoft.com/office/drawing/2014/main" id="{728DB410-CA71-4E49-B19A-C36136B0CB04}"/>
              </a:ext>
            </a:extLst>
          </p:cNvPr>
          <p:cNvSpPr>
            <a:spLocks noGrp="1"/>
          </p:cNvSpPr>
          <p:nvPr/>
        </p:nvSpPr>
        <p:spPr>
          <a:xfrm>
            <a:off x="933450" y="14478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Stage 1 · 合成多视图</a:t>
            </a:r>
          </a:p>
        </p:txBody>
      </p:sp>
      <p:sp>
        <p:nvSpPr>
          <p:cNvPr id="5" name="box-249">
            <a:extLst>
              <a:ext uri="{FF2B5EF4-FFF2-40B4-BE49-F238E27FC236}">
                <a16:creationId xmlns:a16="http://schemas.microsoft.com/office/drawing/2014/main" id="{592D941B-3BB4-4632-9FAF-F0345B898C89}"/>
              </a:ext>
            </a:extLst>
          </p:cNvPr>
          <p:cNvSpPr>
            <a:spLocks noGrp="1"/>
          </p:cNvSpPr>
          <p:nvPr/>
        </p:nvSpPr>
        <p:spPr>
          <a:xfrm>
            <a:off x="971550" y="19621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6" name="text-250">
            <a:extLst>
              <a:ext uri="{FF2B5EF4-FFF2-40B4-BE49-F238E27FC236}">
                <a16:creationId xmlns:a16="http://schemas.microsoft.com/office/drawing/2014/main" id="{CBC07CCA-5B38-4CB6-8B91-E0B811F1C0DE}"/>
              </a:ext>
            </a:extLst>
          </p:cNvPr>
          <p:cNvSpPr>
            <a:spLocks noGrp="1"/>
          </p:cNvSpPr>
          <p:nvPr/>
        </p:nvSpPr>
        <p:spPr>
          <a:xfrm>
            <a:off x="1143000" y="1885950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多视图RGB + 精确深度和相机参数</a:t>
            </a:r>
          </a:p>
        </p:txBody>
      </p:sp>
      <p:sp>
        <p:nvSpPr>
          <p:cNvPr id="7" name="box-251">
            <a:extLst>
              <a:ext uri="{FF2B5EF4-FFF2-40B4-BE49-F238E27FC236}">
                <a16:creationId xmlns:a16="http://schemas.microsoft.com/office/drawing/2014/main" id="{DC8C2874-7319-457C-903D-691325086EFD}"/>
              </a:ext>
            </a:extLst>
          </p:cNvPr>
          <p:cNvSpPr>
            <a:spLocks noGrp="1"/>
          </p:cNvSpPr>
          <p:nvPr/>
        </p:nvSpPr>
        <p:spPr>
          <a:xfrm>
            <a:off x="971550" y="23050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8" name="text-252">
            <a:extLst>
              <a:ext uri="{FF2B5EF4-FFF2-40B4-BE49-F238E27FC236}">
                <a16:creationId xmlns:a16="http://schemas.microsoft.com/office/drawing/2014/main" id="{A327C92A-9DCC-4898-9C24-8CD0DE7BD3F6}"/>
              </a:ext>
            </a:extLst>
          </p:cNvPr>
          <p:cNvSpPr>
            <a:spLocks noGrp="1"/>
          </p:cNvSpPr>
          <p:nvPr/>
        </p:nvSpPr>
        <p:spPr>
          <a:xfrm>
            <a:off x="1143000" y="2228850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学习几何、遮挡关系与可微渲染</a:t>
            </a:r>
          </a:p>
        </p:txBody>
      </p:sp>
      <p:sp>
        <p:nvSpPr>
          <p:cNvPr id="9" name="box-253">
            <a:extLst>
              <a:ext uri="{FF2B5EF4-FFF2-40B4-BE49-F238E27FC236}">
                <a16:creationId xmlns:a16="http://schemas.microsoft.com/office/drawing/2014/main" id="{111C4CB2-71D0-4A72-B9DB-710FA3C74027}"/>
              </a:ext>
            </a:extLst>
          </p:cNvPr>
          <p:cNvSpPr>
            <a:spLocks noGrp="1"/>
          </p:cNvSpPr>
          <p:nvPr/>
        </p:nvSpPr>
        <p:spPr>
          <a:xfrm>
            <a:off x="971550" y="26479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0" name="text-254">
            <a:extLst>
              <a:ext uri="{FF2B5EF4-FFF2-40B4-BE49-F238E27FC236}">
                <a16:creationId xmlns:a16="http://schemas.microsoft.com/office/drawing/2014/main" id="{930C005E-646F-4362-9B23-AFF319367977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避免真实单图缺少监督的问题</a:t>
            </a:r>
          </a:p>
        </p:txBody>
      </p:sp>
      <p:sp>
        <p:nvSpPr>
          <p:cNvPr id="11" name="arrow-255">
            <a:extLst>
              <a:ext uri="{FF2B5EF4-FFF2-40B4-BE49-F238E27FC236}">
                <a16:creationId xmlns:a16="http://schemas.microsoft.com/office/drawing/2014/main" id="{BE36962E-38F0-4720-B5B8-216A3AEB0E56}"/>
              </a:ext>
            </a:extLst>
          </p:cNvPr>
          <p:cNvSpPr>
            <a:spLocks noGrp="1"/>
          </p:cNvSpPr>
          <p:nvPr/>
        </p:nvSpPr>
        <p:spPr>
          <a:xfrm>
            <a:off x="4914900" y="2000250"/>
            <a:ext cx="514350" cy="2667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12" name="box-256">
            <a:extLst>
              <a:ext uri="{FF2B5EF4-FFF2-40B4-BE49-F238E27FC236}">
                <a16:creationId xmlns:a16="http://schemas.microsoft.com/office/drawing/2014/main" id="{5A54F252-E503-4A53-92E2-BD4DAA04FE4E}"/>
              </a:ext>
            </a:extLst>
          </p:cNvPr>
          <p:cNvSpPr>
            <a:spLocks noGrp="1"/>
          </p:cNvSpPr>
          <p:nvPr/>
        </p:nvSpPr>
        <p:spPr>
          <a:xfrm>
            <a:off x="5562600" y="1257300"/>
            <a:ext cx="5695950" cy="1752600"/>
          </a:xfrm>
          <a:prstGeom prst="roundRect">
            <a:avLst>
              <a:gd name="adj" fmla="val 3261"/>
            </a:avLst>
          </a:prstGeom>
          <a:solidFill>
            <a:srgbClr val="F7FAFD"/>
          </a:solidFill>
          <a:ln w="14288">
            <a:solidFill>
              <a:srgbClr val="22C7E2"/>
            </a:solidFill>
            <a:prstDash val="solid"/>
          </a:ln>
        </p:spPr>
      </p:sp>
      <p:sp>
        <p:nvSpPr>
          <p:cNvPr id="13" name="text-257">
            <a:extLst>
              <a:ext uri="{FF2B5EF4-FFF2-40B4-BE49-F238E27FC236}">
                <a16:creationId xmlns:a16="http://schemas.microsoft.com/office/drawing/2014/main" id="{130FEC02-1D4A-47BB-BEC4-90F264092E0F}"/>
              </a:ext>
            </a:extLst>
          </p:cNvPr>
          <p:cNvSpPr>
            <a:spLocks noGrp="1"/>
          </p:cNvSpPr>
          <p:nvPr/>
        </p:nvSpPr>
        <p:spPr>
          <a:xfrm>
            <a:off x="5810250" y="1447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Stage 2 · 真实图像SSFT</a:t>
            </a:r>
          </a:p>
        </p:txBody>
      </p:sp>
      <p:sp>
        <p:nvSpPr>
          <p:cNvPr id="14" name="box-258">
            <a:extLst>
              <a:ext uri="{FF2B5EF4-FFF2-40B4-BE49-F238E27FC236}">
                <a16:creationId xmlns:a16="http://schemas.microsoft.com/office/drawing/2014/main" id="{5EB3CDD4-5A6F-47B2-AE01-A8AB758A1618}"/>
              </a:ext>
            </a:extLst>
          </p:cNvPr>
          <p:cNvSpPr>
            <a:spLocks noGrp="1"/>
          </p:cNvSpPr>
          <p:nvPr/>
        </p:nvSpPr>
        <p:spPr>
          <a:xfrm>
            <a:off x="5848350" y="1962150"/>
            <a:ext cx="76200" cy="76200"/>
          </a:xfrm>
          <a:prstGeom prst="ellipse">
            <a:avLst/>
          </a:prstGeom>
          <a:solidFill>
            <a:srgbClr val="22C7E2"/>
          </a:solidFill>
          <a:ln w="0">
            <a:noFill/>
            <a:prstDash val="solid"/>
          </a:ln>
        </p:spPr>
      </p:sp>
      <p:sp>
        <p:nvSpPr>
          <p:cNvPr id="15" name="text-259">
            <a:extLst>
              <a:ext uri="{FF2B5EF4-FFF2-40B4-BE49-F238E27FC236}">
                <a16:creationId xmlns:a16="http://schemas.microsoft.com/office/drawing/2014/main" id="{FE8F68D7-67E3-4121-A3B0-7ADC81A19B3C}"/>
              </a:ext>
            </a:extLst>
          </p:cNvPr>
          <p:cNvSpPr>
            <a:spLocks noGrp="1"/>
          </p:cNvSpPr>
          <p:nvPr/>
        </p:nvSpPr>
        <p:spPr>
          <a:xfrm>
            <a:off x="6019800" y="18859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真实单图没有新视角真值</a:t>
            </a:r>
          </a:p>
        </p:txBody>
      </p:sp>
      <p:sp>
        <p:nvSpPr>
          <p:cNvPr id="16" name="box-260">
            <a:extLst>
              <a:ext uri="{FF2B5EF4-FFF2-40B4-BE49-F238E27FC236}">
                <a16:creationId xmlns:a16="http://schemas.microsoft.com/office/drawing/2014/main" id="{CBE3C16A-8318-4EED-B3C8-D5F1C608476C}"/>
              </a:ext>
            </a:extLst>
          </p:cNvPr>
          <p:cNvSpPr>
            <a:spLocks noGrp="1"/>
          </p:cNvSpPr>
          <p:nvPr/>
        </p:nvSpPr>
        <p:spPr>
          <a:xfrm>
            <a:off x="5848350" y="2305050"/>
            <a:ext cx="76200" cy="76200"/>
          </a:xfrm>
          <a:prstGeom prst="ellipse">
            <a:avLst/>
          </a:prstGeom>
          <a:solidFill>
            <a:srgbClr val="22C7E2"/>
          </a:solidFill>
          <a:ln w="0">
            <a:noFill/>
            <a:prstDash val="solid"/>
          </a:ln>
        </p:spPr>
      </p:sp>
      <p:sp>
        <p:nvSpPr>
          <p:cNvPr id="17" name="text-261">
            <a:extLst>
              <a:ext uri="{FF2B5EF4-FFF2-40B4-BE49-F238E27FC236}">
                <a16:creationId xmlns:a16="http://schemas.microsoft.com/office/drawing/2014/main" id="{5BEB2629-FDCA-47C9-905D-30D8CEDFC4E1}"/>
              </a:ext>
            </a:extLst>
          </p:cNvPr>
          <p:cNvSpPr>
            <a:spLocks noGrp="1"/>
          </p:cNvSpPr>
          <p:nvPr/>
        </p:nvSpPr>
        <p:spPr>
          <a:xfrm>
            <a:off x="6019800" y="22288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先生成伪新视角，再与原图交换输入和目标</a:t>
            </a:r>
          </a:p>
        </p:txBody>
      </p:sp>
      <p:sp>
        <p:nvSpPr>
          <p:cNvPr id="18" name="box-262">
            <a:extLst>
              <a:ext uri="{FF2B5EF4-FFF2-40B4-BE49-F238E27FC236}">
                <a16:creationId xmlns:a16="http://schemas.microsoft.com/office/drawing/2014/main" id="{ECA3995D-B465-4002-AFDC-9E7A4D7CF2C4}"/>
              </a:ext>
            </a:extLst>
          </p:cNvPr>
          <p:cNvSpPr>
            <a:spLocks noGrp="1"/>
          </p:cNvSpPr>
          <p:nvPr/>
        </p:nvSpPr>
        <p:spPr>
          <a:xfrm>
            <a:off x="5848350" y="2647950"/>
            <a:ext cx="76200" cy="76200"/>
          </a:xfrm>
          <a:prstGeom prst="ellipse">
            <a:avLst/>
          </a:prstGeom>
          <a:solidFill>
            <a:srgbClr val="22C7E2"/>
          </a:solidFill>
          <a:ln w="0">
            <a:noFill/>
            <a:prstDash val="solid"/>
          </a:ln>
        </p:spPr>
      </p:sp>
      <p:sp>
        <p:nvSpPr>
          <p:cNvPr id="19" name="text-263">
            <a:extLst>
              <a:ext uri="{FF2B5EF4-FFF2-40B4-BE49-F238E27FC236}">
                <a16:creationId xmlns:a16="http://schemas.microsoft.com/office/drawing/2014/main" id="{F2E31909-F126-4004-9197-2F5E65E45E2E}"/>
              </a:ext>
            </a:extLst>
          </p:cNvPr>
          <p:cNvSpPr>
            <a:spLocks noGrp="1"/>
          </p:cNvSpPr>
          <p:nvPr/>
        </p:nvSpPr>
        <p:spPr>
          <a:xfrm>
            <a:off x="6019800" y="25717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适应真实纹理、反射与视角相关外观</a:t>
            </a:r>
          </a:p>
        </p:txBody>
      </p:sp>
      <p:sp>
        <p:nvSpPr>
          <p:cNvPr id="20" name="text-264">
            <a:extLst>
              <a:ext uri="{FF2B5EF4-FFF2-40B4-BE49-F238E27FC236}">
                <a16:creationId xmlns:a16="http://schemas.microsoft.com/office/drawing/2014/main" id="{EB9A5FFD-BE89-4E6D-8613-B4D6EE8B3D5E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为什么不能只用一个阶段？</a:t>
            </a:r>
          </a:p>
        </p:txBody>
      </p:sp>
      <p:sp>
        <p:nvSpPr>
          <p:cNvPr id="21" name="box-265">
            <a:extLst>
              <a:ext uri="{FF2B5EF4-FFF2-40B4-BE49-F238E27FC236}">
                <a16:creationId xmlns:a16="http://schemas.microsoft.com/office/drawing/2014/main" id="{DF0C9632-265A-44FD-80BF-6A952ECE5ADC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22" name="text-266">
            <a:extLst>
              <a:ext uri="{FF2B5EF4-FFF2-40B4-BE49-F238E27FC236}">
                <a16:creationId xmlns:a16="http://schemas.microsoft.com/office/drawing/2014/main" id="{3271B3CD-5381-41C1-B57E-0E11891EEDAF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4591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只用合成数据：几何监督准确，但真实外观分布不足</a:t>
            </a:r>
          </a:p>
        </p:txBody>
      </p:sp>
      <p:sp>
        <p:nvSpPr>
          <p:cNvPr id="23" name="box-267">
            <a:extLst>
              <a:ext uri="{FF2B5EF4-FFF2-40B4-BE49-F238E27FC236}">
                <a16:creationId xmlns:a16="http://schemas.microsoft.com/office/drawing/2014/main" id="{8B153D83-7144-450E-99CE-156A516E491B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24" name="text-268">
            <a:extLst>
              <a:ext uri="{FF2B5EF4-FFF2-40B4-BE49-F238E27FC236}">
                <a16:creationId xmlns:a16="http://schemas.microsoft.com/office/drawing/2014/main" id="{B95F204D-B43E-4DF4-A11A-4784FB3B0D98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4591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只用真实单图：缺少真实的新视角监督</a:t>
            </a:r>
          </a:p>
        </p:txBody>
      </p:sp>
      <p:sp>
        <p:nvSpPr>
          <p:cNvPr id="25" name="box-269">
            <a:extLst>
              <a:ext uri="{FF2B5EF4-FFF2-40B4-BE49-F238E27FC236}">
                <a16:creationId xmlns:a16="http://schemas.microsoft.com/office/drawing/2014/main" id="{D6D15602-50AE-44AA-9F3A-9BABD7565CC5}"/>
              </a:ext>
            </a:extLst>
          </p:cNvPr>
          <p:cNvSpPr>
            <a:spLocks noGrp="1"/>
          </p:cNvSpPr>
          <p:nvPr/>
        </p:nvSpPr>
        <p:spPr>
          <a:xfrm>
            <a:off x="781050" y="480060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26" name="text-270">
            <a:extLst>
              <a:ext uri="{FF2B5EF4-FFF2-40B4-BE49-F238E27FC236}">
                <a16:creationId xmlns:a16="http://schemas.microsoft.com/office/drawing/2014/main" id="{D93D71D0-2D67-4602-88F2-0AA69308C8BE}"/>
              </a:ext>
            </a:extLst>
          </p:cNvPr>
          <p:cNvSpPr>
            <a:spLocks noGrp="1"/>
          </p:cNvSpPr>
          <p:nvPr/>
        </p:nvSpPr>
        <p:spPr>
          <a:xfrm>
            <a:off x="952500" y="4724400"/>
            <a:ext cx="4591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两阶段组合：几何稳定性与真实感分别解决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17623" y="3295650"/>
            <a:ext cx="5195455" cy="2381250"/>
          </a:xfrm>
          <a:prstGeom prst="rect">
            <a:avLst/>
          </a:prstGeom>
        </p:spPr>
      </p:pic>
      <p:sp>
        <p:nvSpPr>
          <p:cNvPr id="28" name="text-271">
            <a:extLst>
              <a:ext uri="{FF2B5EF4-FFF2-40B4-BE49-F238E27FC236}">
                <a16:creationId xmlns:a16="http://schemas.microsoft.com/office/drawing/2014/main" id="{813F2084-681C-476E-B7EA-D816D81FB69F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图源：SHARP原论文 Fig.11；训练流程根据 Section 3.3 整理。SSFT指标并非一致改善，但主观结果更锐利。</a:t>
            </a:r>
          </a:p>
        </p:txBody>
      </p:sp>
      <p:sp>
        <p:nvSpPr>
          <p:cNvPr id="29" name="box-451">
            <a:extLst>
              <a:ext uri="{FF2B5EF4-FFF2-40B4-BE49-F238E27FC236}">
                <a16:creationId xmlns:a16="http://schemas.microsoft.com/office/drawing/2014/main" id="{DB0A1250-7637-4433-A2E9-456CA47A9430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0" name="text-452">
            <a:extLst>
              <a:ext uri="{FF2B5EF4-FFF2-40B4-BE49-F238E27FC236}">
                <a16:creationId xmlns:a16="http://schemas.microsoft.com/office/drawing/2014/main" id="{710EEEC0-99BB-4306-8C14-9AC48C1E945C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11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9380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272">
            <a:extLst>
              <a:ext uri="{FF2B5EF4-FFF2-40B4-BE49-F238E27FC236}">
                <a16:creationId xmlns:a16="http://schemas.microsoft.com/office/drawing/2014/main" id="{921CF399-D5F6-4C61-81F0-9547BC9A678F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核心损失：分别约束什么问题</a:t>
            </a:r>
          </a:p>
        </p:txBody>
      </p:sp>
      <p:sp>
        <p:nvSpPr>
          <p:cNvPr id="2" name="text-273">
            <a:extLst>
              <a:ext uri="{FF2B5EF4-FFF2-40B4-BE49-F238E27FC236}">
                <a16:creationId xmlns:a16="http://schemas.microsoft.com/office/drawing/2014/main" id="{55016668-82D7-4DB3-9C57-A08D6DF101D5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图像质量、几何稳定性与高斯退化需要由不同损失共同处理</a:t>
            </a:r>
          </a:p>
        </p:txBody>
      </p:sp>
      <p:sp>
        <p:nvSpPr>
          <p:cNvPr id="3" name="rule-274">
            <a:extLst>
              <a:ext uri="{FF2B5EF4-FFF2-40B4-BE49-F238E27FC236}">
                <a16:creationId xmlns:a16="http://schemas.microsoft.com/office/drawing/2014/main" id="{CEAF8C9D-5861-4B28-8F4B-CDF18E35AFF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2571750" cy="47625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4" name="text-275">
            <a:extLst>
              <a:ext uri="{FF2B5EF4-FFF2-40B4-BE49-F238E27FC236}">
                <a16:creationId xmlns:a16="http://schemas.microsoft.com/office/drawing/2014/main" id="{7003BBD6-ED07-4E62-9292-CCB4AD8DE840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渲染重建</a:t>
            </a:r>
          </a:p>
        </p:txBody>
      </p:sp>
      <p:sp>
        <p:nvSpPr>
          <p:cNvPr id="5" name="text-276">
            <a:extLst>
              <a:ext uri="{FF2B5EF4-FFF2-40B4-BE49-F238E27FC236}">
                <a16:creationId xmlns:a16="http://schemas.microsoft.com/office/drawing/2014/main" id="{2E51E4B7-7F30-4B9B-A479-FC66164F859E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L_color · L_alpha · L_percep</a:t>
            </a:r>
          </a:p>
        </p:txBody>
      </p:sp>
      <p:sp>
        <p:nvSpPr>
          <p:cNvPr id="6" name="text-277">
            <a:extLst>
              <a:ext uri="{FF2B5EF4-FFF2-40B4-BE49-F238E27FC236}">
                <a16:creationId xmlns:a16="http://schemas.microsoft.com/office/drawing/2014/main" id="{2D446844-B3B7-4985-B5E2-30333D148D21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颜色、覆盖关系与新视角视觉质量</a:t>
            </a:r>
          </a:p>
        </p:txBody>
      </p:sp>
      <p:sp>
        <p:nvSpPr>
          <p:cNvPr id="7" name="rule-278">
            <a:extLst>
              <a:ext uri="{FF2B5EF4-FFF2-40B4-BE49-F238E27FC236}">
                <a16:creationId xmlns:a16="http://schemas.microsoft.com/office/drawing/2014/main" id="{5FFED2B4-6E6F-41F7-B6D3-664BD3D29419}"/>
              </a:ext>
            </a:extLst>
          </p:cNvPr>
          <p:cNvSpPr>
            <a:spLocks noGrp="1"/>
          </p:cNvSpPr>
          <p:nvPr/>
        </p:nvSpPr>
        <p:spPr>
          <a:xfrm>
            <a:off x="3543300" y="1257300"/>
            <a:ext cx="2571750" cy="47625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8" name="text-279">
            <a:extLst>
              <a:ext uri="{FF2B5EF4-FFF2-40B4-BE49-F238E27FC236}">
                <a16:creationId xmlns:a16="http://schemas.microsoft.com/office/drawing/2014/main" id="{687AB9EB-88D3-4D1A-8F60-B5D2B2FC4044}"/>
              </a:ext>
            </a:extLst>
          </p:cNvPr>
          <p:cNvSpPr>
            <a:spLocks noGrp="1"/>
          </p:cNvSpPr>
          <p:nvPr/>
        </p:nvSpPr>
        <p:spPr>
          <a:xfrm>
            <a:off x="3543300" y="14287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深度约束</a:t>
            </a:r>
          </a:p>
        </p:txBody>
      </p:sp>
      <p:sp>
        <p:nvSpPr>
          <p:cNvPr id="9" name="text-280">
            <a:extLst>
              <a:ext uri="{FF2B5EF4-FFF2-40B4-BE49-F238E27FC236}">
                <a16:creationId xmlns:a16="http://schemas.microsoft.com/office/drawing/2014/main" id="{7A3AF265-0BC9-4F97-928A-BB942568AF06}"/>
              </a:ext>
            </a:extLst>
          </p:cNvPr>
          <p:cNvSpPr>
            <a:spLocks noGrp="1"/>
          </p:cNvSpPr>
          <p:nvPr/>
        </p:nvSpPr>
        <p:spPr>
          <a:xfrm>
            <a:off x="3543300" y="17907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L_depth · L_TV</a:t>
            </a:r>
          </a:p>
        </p:txBody>
      </p:sp>
      <p:sp>
        <p:nvSpPr>
          <p:cNvPr id="10" name="text-281">
            <a:extLst>
              <a:ext uri="{FF2B5EF4-FFF2-40B4-BE49-F238E27FC236}">
                <a16:creationId xmlns:a16="http://schemas.microsoft.com/office/drawing/2014/main" id="{9C8248A0-B46F-46A0-B1BA-5AA0FB154DF7}"/>
              </a:ext>
            </a:extLst>
          </p:cNvPr>
          <p:cNvSpPr>
            <a:spLocks noGrp="1"/>
          </p:cNvSpPr>
          <p:nvPr/>
        </p:nvSpPr>
        <p:spPr>
          <a:xfrm>
            <a:off x="3543300" y="21526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第一层锚定可见表面，第二层保持平滑</a:t>
            </a:r>
          </a:p>
        </p:txBody>
      </p:sp>
      <p:sp>
        <p:nvSpPr>
          <p:cNvPr id="11" name="rule-282">
            <a:extLst>
              <a:ext uri="{FF2B5EF4-FFF2-40B4-BE49-F238E27FC236}">
                <a16:creationId xmlns:a16="http://schemas.microsoft.com/office/drawing/2014/main" id="{B6F3B4C2-311B-43F6-BBF2-6799DA4889A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2571750" cy="47625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2" name="text-283">
            <a:extLst>
              <a:ext uri="{FF2B5EF4-FFF2-40B4-BE49-F238E27FC236}">
                <a16:creationId xmlns:a16="http://schemas.microsoft.com/office/drawing/2014/main" id="{80854804-AE68-48A0-881A-4777B3976180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高斯正则</a:t>
            </a:r>
          </a:p>
        </p:txBody>
      </p:sp>
      <p:sp>
        <p:nvSpPr>
          <p:cNvPr id="13" name="text-284">
            <a:extLst>
              <a:ext uri="{FF2B5EF4-FFF2-40B4-BE49-F238E27FC236}">
                <a16:creationId xmlns:a16="http://schemas.microsoft.com/office/drawing/2014/main" id="{264FB963-284A-4BC4-9657-5CDD9FC320EF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L_grad · L_delta · L_splat</a:t>
            </a:r>
          </a:p>
        </p:txBody>
      </p:sp>
      <p:sp>
        <p:nvSpPr>
          <p:cNvPr id="14" name="text-285">
            <a:extLst>
              <a:ext uri="{FF2B5EF4-FFF2-40B4-BE49-F238E27FC236}">
                <a16:creationId xmlns:a16="http://schemas.microsoft.com/office/drawing/2014/main" id="{A9FE615A-4E71-4569-A585-A3AC1856DCE7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抑制漂浮、过大和退化高斯</a:t>
            </a:r>
          </a:p>
        </p:txBody>
      </p:sp>
      <p:sp>
        <p:nvSpPr>
          <p:cNvPr id="15" name="rule-286">
            <a:extLst>
              <a:ext uri="{FF2B5EF4-FFF2-40B4-BE49-F238E27FC236}">
                <a16:creationId xmlns:a16="http://schemas.microsoft.com/office/drawing/2014/main" id="{5D8B7D9E-BEC4-4786-AAE9-E523BAFEE41F}"/>
              </a:ext>
            </a:extLst>
          </p:cNvPr>
          <p:cNvSpPr>
            <a:spLocks noGrp="1"/>
          </p:cNvSpPr>
          <p:nvPr/>
        </p:nvSpPr>
        <p:spPr>
          <a:xfrm>
            <a:off x="3543300" y="3009900"/>
            <a:ext cx="2571750" cy="47625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6" name="text-287">
            <a:extLst>
              <a:ext uri="{FF2B5EF4-FFF2-40B4-BE49-F238E27FC236}">
                <a16:creationId xmlns:a16="http://schemas.microsoft.com/office/drawing/2014/main" id="{DD0D1867-126D-47EA-9B32-97E7986D5636}"/>
              </a:ext>
            </a:extLst>
          </p:cNvPr>
          <p:cNvSpPr>
            <a:spLocks noGrp="1"/>
          </p:cNvSpPr>
          <p:nvPr/>
        </p:nvSpPr>
        <p:spPr>
          <a:xfrm>
            <a:off x="3543300" y="31813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深度修正瓶颈</a:t>
            </a:r>
          </a:p>
        </p:txBody>
      </p:sp>
      <p:sp>
        <p:nvSpPr>
          <p:cNvPr id="17" name="text-288">
            <a:extLst>
              <a:ext uri="{FF2B5EF4-FFF2-40B4-BE49-F238E27FC236}">
                <a16:creationId xmlns:a16="http://schemas.microsoft.com/office/drawing/2014/main" id="{E2B10410-6412-4EFB-8E40-06A8F53BE8A8}"/>
              </a:ext>
            </a:extLst>
          </p:cNvPr>
          <p:cNvSpPr>
            <a:spLocks noGrp="1"/>
          </p:cNvSpPr>
          <p:nvPr/>
        </p:nvSpPr>
        <p:spPr>
          <a:xfrm>
            <a:off x="3543300" y="3543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L_scale · L_multiscale-TV</a:t>
            </a:r>
          </a:p>
        </p:txBody>
      </p:sp>
      <p:sp>
        <p:nvSpPr>
          <p:cNvPr id="18" name="text-289">
            <a:extLst>
              <a:ext uri="{FF2B5EF4-FFF2-40B4-BE49-F238E27FC236}">
                <a16:creationId xmlns:a16="http://schemas.microsoft.com/office/drawing/2014/main" id="{D44EC612-E50A-440A-A8F3-2603CD5CB187}"/>
              </a:ext>
            </a:extLst>
          </p:cNvPr>
          <p:cNvSpPr>
            <a:spLocks noGrp="1"/>
          </p:cNvSpPr>
          <p:nvPr/>
        </p:nvSpPr>
        <p:spPr>
          <a:xfrm>
            <a:off x="3543300" y="39052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允许必要修正，限制任意改变深度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28012" y="1219200"/>
            <a:ext cx="4336676" cy="4095750"/>
          </a:xfrm>
          <a:prstGeom prst="rect">
            <a:avLst/>
          </a:prstGeom>
        </p:spPr>
      </p:pic>
      <p:sp>
        <p:nvSpPr>
          <p:cNvPr id="20" name="box-290">
            <a:extLst>
              <a:ext uri="{FF2B5EF4-FFF2-40B4-BE49-F238E27FC236}">
                <a16:creationId xmlns:a16="http://schemas.microsoft.com/office/drawing/2014/main" id="{F6593E77-2AE0-4DB2-9E25-6DCC2AA217C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5562600" cy="704850"/>
          </a:xfrm>
          <a:prstGeom prst="roundRect">
            <a:avLst>
              <a:gd name="adj" fmla="val 8108"/>
            </a:avLst>
          </a:prstGeom>
          <a:solidFill>
            <a:srgbClr val="F7FAFD"/>
          </a:solidFill>
          <a:ln w="9525">
            <a:solidFill>
              <a:srgbClr val="CADCEB"/>
            </a:solidFill>
            <a:prstDash val="solid"/>
          </a:ln>
        </p:spPr>
      </p:sp>
      <p:sp>
        <p:nvSpPr>
          <p:cNvPr id="21" name="text-291">
            <a:extLst>
              <a:ext uri="{FF2B5EF4-FFF2-40B4-BE49-F238E27FC236}">
                <a16:creationId xmlns:a16="http://schemas.microsoft.com/office/drawing/2014/main" id="{0DE24D04-A9F9-4A36-B426-F7BB4B12BA33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ScanNet++ DISTS</a:t>
            </a:r>
          </a:p>
        </p:txBody>
      </p:sp>
      <p:sp>
        <p:nvSpPr>
          <p:cNvPr id="22" name="text-292">
            <a:extLst>
              <a:ext uri="{FF2B5EF4-FFF2-40B4-BE49-F238E27FC236}">
                <a16:creationId xmlns:a16="http://schemas.microsoft.com/office/drawing/2014/main" id="{815B621B-5796-408C-90F7-591A66537AB7}"/>
              </a:ext>
            </a:extLst>
          </p:cNvPr>
          <p:cNvSpPr>
            <a:spLocks noGrp="1"/>
          </p:cNvSpPr>
          <p:nvPr/>
        </p:nvSpPr>
        <p:spPr>
          <a:xfrm>
            <a:off x="2571750" y="5076825"/>
            <a:ext cx="340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48DEA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8DEAB"/>
                </a:solidFill>
                <a:latin typeface="Arial"/>
                <a:ea typeface="Arial"/>
                <a:cs typeface="Arial"/>
              </a:rPr>
              <a:t>0.229  →  0.162  →  0.063</a:t>
            </a:r>
          </a:p>
        </p:txBody>
      </p:sp>
      <p:sp>
        <p:nvSpPr>
          <p:cNvPr id="23" name="text-293">
            <a:extLst>
              <a:ext uri="{FF2B5EF4-FFF2-40B4-BE49-F238E27FC236}">
                <a16:creationId xmlns:a16="http://schemas.microsoft.com/office/drawing/2014/main" id="{5187A342-40C2-40F1-A3DF-7EC5B05CD0B5}"/>
              </a:ext>
            </a:extLst>
          </p:cNvPr>
          <p:cNvSpPr>
            <a:spLocks noGrp="1"/>
          </p:cNvSpPr>
          <p:nvPr/>
        </p:nvSpPr>
        <p:spPr>
          <a:xfrm>
            <a:off x="2714625" y="5410200"/>
            <a:ext cx="3162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仅重建损失      +深度      +感知</a:t>
            </a:r>
          </a:p>
        </p:txBody>
      </p:sp>
      <p:sp>
        <p:nvSpPr>
          <p:cNvPr id="24" name="text-294">
            <a:extLst>
              <a:ext uri="{FF2B5EF4-FFF2-40B4-BE49-F238E27FC236}">
                <a16:creationId xmlns:a16="http://schemas.microsoft.com/office/drawing/2014/main" id="{CD2CB3B3-3AF3-482B-860A-F910DE45F956}"/>
              </a:ext>
            </a:extLst>
          </p:cNvPr>
          <p:cNvSpPr>
            <a:spLocks noGrp="1"/>
          </p:cNvSpPr>
          <p:nvPr/>
        </p:nvSpPr>
        <p:spPr>
          <a:xfrm>
            <a:off x="6553200" y="53911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4034"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结论：感知损失带来主要质量提升；正则项主要减少退化高斯并改善渲染速度。</a:t>
            </a:r>
          </a:p>
        </p:txBody>
      </p:sp>
      <p:sp>
        <p:nvSpPr>
          <p:cNvPr id="25" name="text-295">
            <a:extLst>
              <a:ext uri="{FF2B5EF4-FFF2-40B4-BE49-F238E27FC236}">
                <a16:creationId xmlns:a16="http://schemas.microsoft.com/office/drawing/2014/main" id="{9C6DFE6D-25E9-43C4-B077-62181A65D0F6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图源：SHARP原论文 Fig.9；数据来自 Tables 8-10。</a:t>
            </a:r>
          </a:p>
        </p:txBody>
      </p:sp>
      <p:sp>
        <p:nvSpPr>
          <p:cNvPr id="26" name="box-453">
            <a:extLst>
              <a:ext uri="{FF2B5EF4-FFF2-40B4-BE49-F238E27FC236}">
                <a16:creationId xmlns:a16="http://schemas.microsoft.com/office/drawing/2014/main" id="{5A3E60A1-FA0B-4A61-8E18-37FA2DB15C63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text-454">
            <a:extLst>
              <a:ext uri="{FF2B5EF4-FFF2-40B4-BE49-F238E27FC236}">
                <a16:creationId xmlns:a16="http://schemas.microsoft.com/office/drawing/2014/main" id="{0D61A608-5D25-493B-B068-322675533754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12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9380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-296">
            <a:extLst>
              <a:ext uri="{FF2B5EF4-FFF2-40B4-BE49-F238E27FC236}">
                <a16:creationId xmlns:a16="http://schemas.microsoft.com/office/drawing/2014/main" id="{E454FD12-3931-43B4-8733-FB47B569A394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其他消融结论</a:t>
            </a:r>
          </a:p>
        </p:txBody>
      </p:sp>
      <p:sp>
        <p:nvSpPr>
          <p:cNvPr id="2" name="text-297">
            <a:extLst>
              <a:ext uri="{FF2B5EF4-FFF2-40B4-BE49-F238E27FC236}">
                <a16:creationId xmlns:a16="http://schemas.microsoft.com/office/drawing/2014/main" id="{7FCA66FF-A5E4-4694-ABC1-CF4A348B82BB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Depth Adjustment、深度骨干和高斯数量分别影响不同环节</a:t>
            </a:r>
          </a:p>
        </p:txBody>
      </p:sp>
      <p:sp>
        <p:nvSpPr>
          <p:cNvPr id="3" name="text-298">
            <a:extLst>
              <a:ext uri="{FF2B5EF4-FFF2-40B4-BE49-F238E27FC236}">
                <a16:creationId xmlns:a16="http://schemas.microsoft.com/office/drawing/2014/main" id="{FD9FF6E1-6A99-4EAB-9C9D-45E5BE253CB9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Depth Adjustment</a:t>
            </a:r>
          </a:p>
        </p:txBody>
      </p:sp>
      <p:sp>
        <p:nvSpPr>
          <p:cNvPr id="4" name="text-299">
            <a:extLst>
              <a:ext uri="{FF2B5EF4-FFF2-40B4-BE49-F238E27FC236}">
                <a16:creationId xmlns:a16="http://schemas.microsoft.com/office/drawing/2014/main" id="{6637290E-071B-4E40-B0B6-2BE48BA6B34C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未使用</a:t>
            </a:r>
          </a:p>
        </p:txBody>
      </p:sp>
      <p:sp>
        <p:nvSpPr>
          <p:cNvPr id="5" name="box-300">
            <a:extLst>
              <a:ext uri="{FF2B5EF4-FFF2-40B4-BE49-F238E27FC236}">
                <a16:creationId xmlns:a16="http://schemas.microsoft.com/office/drawing/2014/main" id="{63999484-FED3-4BDD-A81A-BF43EEF1E359}"/>
              </a:ext>
            </a:extLst>
          </p:cNvPr>
          <p:cNvSpPr>
            <a:spLocks noGrp="1"/>
          </p:cNvSpPr>
          <p:nvPr/>
        </p:nvSpPr>
        <p:spPr>
          <a:xfrm>
            <a:off x="2457450" y="1771650"/>
            <a:ext cx="2571750" cy="152400"/>
          </a:xfrm>
          <a:prstGeom prst="rect">
            <a:avLst/>
          </a:prstGeom>
          <a:solidFill>
            <a:srgbClr val="E6EEF5"/>
          </a:solidFill>
          <a:ln w="0">
            <a:noFill/>
            <a:prstDash val="solid"/>
          </a:ln>
        </p:spPr>
      </p:sp>
      <p:sp>
        <p:nvSpPr>
          <p:cNvPr id="6" name="box-301">
            <a:extLst>
              <a:ext uri="{FF2B5EF4-FFF2-40B4-BE49-F238E27FC236}">
                <a16:creationId xmlns:a16="http://schemas.microsoft.com/office/drawing/2014/main" id="{9CF85A2E-D1DC-4739-AD1B-45CC60E2C194}"/>
              </a:ext>
            </a:extLst>
          </p:cNvPr>
          <p:cNvSpPr>
            <a:spLocks noGrp="1"/>
          </p:cNvSpPr>
          <p:nvPr/>
        </p:nvSpPr>
        <p:spPr>
          <a:xfrm>
            <a:off x="2457450" y="1771650"/>
            <a:ext cx="1650206" cy="152400"/>
          </a:xfrm>
          <a:prstGeom prst="rect">
            <a:avLst/>
          </a:prstGeom>
          <a:solidFill>
            <a:srgbClr val="667C97"/>
          </a:solidFill>
          <a:ln w="0">
            <a:noFill/>
            <a:prstDash val="solid"/>
          </a:ln>
        </p:spPr>
      </p:sp>
      <p:sp>
        <p:nvSpPr>
          <p:cNvPr id="7" name="text-302">
            <a:extLst>
              <a:ext uri="{FF2B5EF4-FFF2-40B4-BE49-F238E27FC236}">
                <a16:creationId xmlns:a16="http://schemas.microsoft.com/office/drawing/2014/main" id="{C5786856-1BF3-4F58-9238-55411162041A}"/>
              </a:ext>
            </a:extLst>
          </p:cNvPr>
          <p:cNvSpPr>
            <a:spLocks noGrp="1"/>
          </p:cNvSpPr>
          <p:nvPr/>
        </p:nvSpPr>
        <p:spPr>
          <a:xfrm>
            <a:off x="5105400" y="1724025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C97"/>
                </a:solidFill>
                <a:latin typeface="Arial"/>
                <a:ea typeface="Arial"/>
                <a:cs typeface="Arial"/>
              </a:rPr>
              <a:t>0.077</a:t>
            </a:r>
          </a:p>
        </p:txBody>
      </p:sp>
      <p:sp>
        <p:nvSpPr>
          <p:cNvPr id="8" name="text-303">
            <a:extLst>
              <a:ext uri="{FF2B5EF4-FFF2-40B4-BE49-F238E27FC236}">
                <a16:creationId xmlns:a16="http://schemas.microsoft.com/office/drawing/2014/main" id="{1147DCF1-B774-4D6B-93E4-3BC87F3A612E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9" name="box-304">
            <a:extLst>
              <a:ext uri="{FF2B5EF4-FFF2-40B4-BE49-F238E27FC236}">
                <a16:creationId xmlns:a16="http://schemas.microsoft.com/office/drawing/2014/main" id="{76DCE0DB-442C-4379-8FF9-A3A296DDA751}"/>
              </a:ext>
            </a:extLst>
          </p:cNvPr>
          <p:cNvSpPr>
            <a:spLocks noGrp="1"/>
          </p:cNvSpPr>
          <p:nvPr/>
        </p:nvSpPr>
        <p:spPr>
          <a:xfrm>
            <a:off x="2457450" y="2190750"/>
            <a:ext cx="2571750" cy="152400"/>
          </a:xfrm>
          <a:prstGeom prst="rect">
            <a:avLst/>
          </a:prstGeom>
          <a:solidFill>
            <a:srgbClr val="E6EEF5"/>
          </a:solidFill>
          <a:ln w="0">
            <a:noFill/>
            <a:prstDash val="solid"/>
          </a:ln>
        </p:spPr>
      </p:sp>
      <p:sp>
        <p:nvSpPr>
          <p:cNvPr id="10" name="box-305">
            <a:extLst>
              <a:ext uri="{FF2B5EF4-FFF2-40B4-BE49-F238E27FC236}">
                <a16:creationId xmlns:a16="http://schemas.microsoft.com/office/drawing/2014/main" id="{B368982A-DC5A-4B12-B5D5-CF98BA13CDA7}"/>
              </a:ext>
            </a:extLst>
          </p:cNvPr>
          <p:cNvSpPr>
            <a:spLocks noGrp="1"/>
          </p:cNvSpPr>
          <p:nvPr/>
        </p:nvSpPr>
        <p:spPr>
          <a:xfrm>
            <a:off x="2457450" y="2190750"/>
            <a:ext cx="1371600" cy="152400"/>
          </a:xfrm>
          <a:prstGeom prst="rect">
            <a:avLst/>
          </a:prstGeom>
          <a:solidFill>
            <a:srgbClr val="22C7E2"/>
          </a:solidFill>
          <a:ln w="0">
            <a:noFill/>
            <a:prstDash val="solid"/>
          </a:ln>
        </p:spPr>
      </p:sp>
      <p:sp>
        <p:nvSpPr>
          <p:cNvPr id="11" name="text-306">
            <a:extLst>
              <a:ext uri="{FF2B5EF4-FFF2-40B4-BE49-F238E27FC236}">
                <a16:creationId xmlns:a16="http://schemas.microsoft.com/office/drawing/2014/main" id="{316057D9-A8B5-45DA-80A1-45F8E443536A}"/>
              </a:ext>
            </a:extLst>
          </p:cNvPr>
          <p:cNvSpPr>
            <a:spLocks noGrp="1"/>
          </p:cNvSpPr>
          <p:nvPr/>
        </p:nvSpPr>
        <p:spPr>
          <a:xfrm>
            <a:off x="5105400" y="2143125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2C7E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C7E2"/>
                </a:solidFill>
                <a:latin typeface="Arial"/>
                <a:ea typeface="Arial"/>
                <a:cs typeface="Arial"/>
              </a:rPr>
              <a:t>0.064</a:t>
            </a:r>
          </a:p>
        </p:txBody>
      </p:sp>
      <p:sp>
        <p:nvSpPr>
          <p:cNvPr id="12" name="text-307">
            <a:extLst>
              <a:ext uri="{FF2B5EF4-FFF2-40B4-BE49-F238E27FC236}">
                <a16:creationId xmlns:a16="http://schemas.microsoft.com/office/drawing/2014/main" id="{F01764DE-A7E5-4C86-8A64-7B1C49A6EF1E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训练时修正深度后，感知指标稳定改善。</a:t>
            </a:r>
          </a:p>
        </p:txBody>
      </p:sp>
      <p:sp>
        <p:nvSpPr>
          <p:cNvPr id="13" name="text-308">
            <a:extLst>
              <a:ext uri="{FF2B5EF4-FFF2-40B4-BE49-F238E27FC236}">
                <a16:creationId xmlns:a16="http://schemas.microsoft.com/office/drawing/2014/main" id="{BF53E571-73E9-4826-8DFC-ECDF598E0FA4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解冻Depth骨干</a:t>
            </a:r>
          </a:p>
        </p:txBody>
      </p:sp>
      <p:sp>
        <p:nvSpPr>
          <p:cNvPr id="14" name="text-309">
            <a:extLst>
              <a:ext uri="{FF2B5EF4-FFF2-40B4-BE49-F238E27FC236}">
                <a16:creationId xmlns:a16="http://schemas.microsoft.com/office/drawing/2014/main" id="{BBD6B556-8A09-4697-81B2-4625ADC7E499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冻结</a:t>
            </a:r>
          </a:p>
        </p:txBody>
      </p:sp>
      <p:sp>
        <p:nvSpPr>
          <p:cNvPr id="15" name="box-310">
            <a:extLst>
              <a:ext uri="{FF2B5EF4-FFF2-40B4-BE49-F238E27FC236}">
                <a16:creationId xmlns:a16="http://schemas.microsoft.com/office/drawing/2014/main" id="{A739EA8E-FDEF-413D-901D-6FA1E722B4F4}"/>
              </a:ext>
            </a:extLst>
          </p:cNvPr>
          <p:cNvSpPr>
            <a:spLocks noGrp="1"/>
          </p:cNvSpPr>
          <p:nvPr/>
        </p:nvSpPr>
        <p:spPr>
          <a:xfrm>
            <a:off x="2457450" y="3848100"/>
            <a:ext cx="2571750" cy="152400"/>
          </a:xfrm>
          <a:prstGeom prst="rect">
            <a:avLst/>
          </a:prstGeom>
          <a:solidFill>
            <a:srgbClr val="E6EEF5"/>
          </a:solidFill>
          <a:ln w="0">
            <a:noFill/>
            <a:prstDash val="solid"/>
          </a:ln>
        </p:spPr>
      </p:sp>
      <p:sp>
        <p:nvSpPr>
          <p:cNvPr id="16" name="box-311">
            <a:extLst>
              <a:ext uri="{FF2B5EF4-FFF2-40B4-BE49-F238E27FC236}">
                <a16:creationId xmlns:a16="http://schemas.microsoft.com/office/drawing/2014/main" id="{4D3742AA-733E-4510-9FB4-2887BA84E691}"/>
              </a:ext>
            </a:extLst>
          </p:cNvPr>
          <p:cNvSpPr>
            <a:spLocks noGrp="1"/>
          </p:cNvSpPr>
          <p:nvPr/>
        </p:nvSpPr>
        <p:spPr>
          <a:xfrm>
            <a:off x="2457450" y="3848100"/>
            <a:ext cx="1800225" cy="152400"/>
          </a:xfrm>
          <a:prstGeom prst="rect">
            <a:avLst/>
          </a:prstGeom>
          <a:solidFill>
            <a:srgbClr val="667C97"/>
          </a:solidFill>
          <a:ln w="0">
            <a:noFill/>
            <a:prstDash val="solid"/>
          </a:ln>
        </p:spPr>
      </p:sp>
      <p:sp>
        <p:nvSpPr>
          <p:cNvPr id="17" name="text-312">
            <a:extLst>
              <a:ext uri="{FF2B5EF4-FFF2-40B4-BE49-F238E27FC236}">
                <a16:creationId xmlns:a16="http://schemas.microsoft.com/office/drawing/2014/main" id="{FA83BD1B-60A1-419A-BD7E-FCCA232BE9FE}"/>
              </a:ext>
            </a:extLst>
          </p:cNvPr>
          <p:cNvSpPr>
            <a:spLocks noGrp="1"/>
          </p:cNvSpPr>
          <p:nvPr/>
        </p:nvSpPr>
        <p:spPr>
          <a:xfrm>
            <a:off x="5105400" y="3800475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C97"/>
                </a:solidFill>
                <a:latin typeface="Arial"/>
                <a:ea typeface="Arial"/>
                <a:cs typeface="Arial"/>
              </a:rPr>
              <a:t>0.084</a:t>
            </a:r>
          </a:p>
        </p:txBody>
      </p:sp>
      <p:sp>
        <p:nvSpPr>
          <p:cNvPr id="18" name="text-313">
            <a:extLst>
              <a:ext uri="{FF2B5EF4-FFF2-40B4-BE49-F238E27FC236}">
                <a16:creationId xmlns:a16="http://schemas.microsoft.com/office/drawing/2014/main" id="{492C3309-DBDC-4665-8667-11C98AB9C466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解冻</a:t>
            </a:r>
          </a:p>
        </p:txBody>
      </p:sp>
      <p:sp>
        <p:nvSpPr>
          <p:cNvPr id="19" name="box-314">
            <a:extLst>
              <a:ext uri="{FF2B5EF4-FFF2-40B4-BE49-F238E27FC236}">
                <a16:creationId xmlns:a16="http://schemas.microsoft.com/office/drawing/2014/main" id="{6D877E80-93F0-40A0-9595-773AA18370D1}"/>
              </a:ext>
            </a:extLst>
          </p:cNvPr>
          <p:cNvSpPr>
            <a:spLocks noGrp="1"/>
          </p:cNvSpPr>
          <p:nvPr/>
        </p:nvSpPr>
        <p:spPr>
          <a:xfrm>
            <a:off x="2457450" y="4267200"/>
            <a:ext cx="2571750" cy="152400"/>
          </a:xfrm>
          <a:prstGeom prst="rect">
            <a:avLst/>
          </a:prstGeom>
          <a:solidFill>
            <a:srgbClr val="E6EEF5"/>
          </a:solidFill>
          <a:ln w="0">
            <a:noFill/>
            <a:prstDash val="solid"/>
          </a:ln>
        </p:spPr>
      </p:sp>
      <p:sp>
        <p:nvSpPr>
          <p:cNvPr id="20" name="box-315">
            <a:extLst>
              <a:ext uri="{FF2B5EF4-FFF2-40B4-BE49-F238E27FC236}">
                <a16:creationId xmlns:a16="http://schemas.microsoft.com/office/drawing/2014/main" id="{A8E6BCB8-0FA7-4AD7-9547-4E70760EFB18}"/>
              </a:ext>
            </a:extLst>
          </p:cNvPr>
          <p:cNvSpPr>
            <a:spLocks noGrp="1"/>
          </p:cNvSpPr>
          <p:nvPr/>
        </p:nvSpPr>
        <p:spPr>
          <a:xfrm>
            <a:off x="2457450" y="4267200"/>
            <a:ext cx="1371600" cy="1524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21" name="text-316">
            <a:extLst>
              <a:ext uri="{FF2B5EF4-FFF2-40B4-BE49-F238E27FC236}">
                <a16:creationId xmlns:a16="http://schemas.microsoft.com/office/drawing/2014/main" id="{E3E047E3-2CB6-41B3-A381-383E65D29DF3}"/>
              </a:ext>
            </a:extLst>
          </p:cNvPr>
          <p:cNvSpPr>
            <a:spLocks noGrp="1"/>
          </p:cNvSpPr>
          <p:nvPr/>
        </p:nvSpPr>
        <p:spPr>
          <a:xfrm>
            <a:off x="5105400" y="4219575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0.064</a:t>
            </a:r>
          </a:p>
        </p:txBody>
      </p:sp>
      <p:sp>
        <p:nvSpPr>
          <p:cNvPr id="22" name="text-317">
            <a:extLst>
              <a:ext uri="{FF2B5EF4-FFF2-40B4-BE49-F238E27FC236}">
                <a16:creationId xmlns:a16="http://schemas.microsoft.com/office/drawing/2014/main" id="{1853DCA0-007D-4F21-BA73-609DA4CCB489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允许深度特征适应新视角合成目标。</a:t>
            </a:r>
          </a:p>
        </p:txBody>
      </p:sp>
      <p:sp>
        <p:nvSpPr>
          <p:cNvPr id="23" name="rule-318">
            <a:extLst>
              <a:ext uri="{FF2B5EF4-FFF2-40B4-BE49-F238E27FC236}">
                <a16:creationId xmlns:a16="http://schemas.microsoft.com/office/drawing/2014/main" id="{FF103B27-46E0-429C-80CC-27B07D4D5CF4}"/>
              </a:ext>
            </a:extLst>
          </p:cNvPr>
          <p:cNvSpPr>
            <a:spLocks noGrp="1"/>
          </p:cNvSpPr>
          <p:nvPr/>
        </p:nvSpPr>
        <p:spPr>
          <a:xfrm>
            <a:off x="6000750" y="1238250"/>
            <a:ext cx="19050" cy="4095750"/>
          </a:xfrm>
          <a:prstGeom prst="rect">
            <a:avLst/>
          </a:prstGeom>
          <a:solidFill>
            <a:srgbClr val="CADCEB"/>
          </a:solidFill>
          <a:ln w="0">
            <a:noFill/>
            <a:prstDash val="solid"/>
          </a:ln>
        </p:spPr>
      </p:sp>
      <p:sp>
        <p:nvSpPr>
          <p:cNvPr id="24" name="text-319">
            <a:extLst>
              <a:ext uri="{FF2B5EF4-FFF2-40B4-BE49-F238E27FC236}">
                <a16:creationId xmlns:a16="http://schemas.microsoft.com/office/drawing/2014/main" id="{852977E9-2AD2-43C3-B869-62B4F7BA1D70}"/>
              </a:ext>
            </a:extLst>
          </p:cNvPr>
          <p:cNvSpPr>
            <a:spLocks noGrp="1"/>
          </p:cNvSpPr>
          <p:nvPr/>
        </p:nvSpPr>
        <p:spPr>
          <a:xfrm>
            <a:off x="6438900" y="1257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高斯数量</a:t>
            </a:r>
          </a:p>
        </p:txBody>
      </p:sp>
      <p:sp>
        <p:nvSpPr>
          <p:cNvPr id="25" name="text-320">
            <a:extLst>
              <a:ext uri="{FF2B5EF4-FFF2-40B4-BE49-F238E27FC236}">
                <a16:creationId xmlns:a16="http://schemas.microsoft.com/office/drawing/2014/main" id="{D3736722-FC32-4698-9535-A7A9CFB0B10C}"/>
              </a:ext>
            </a:extLst>
          </p:cNvPr>
          <p:cNvSpPr>
            <a:spLocks noGrp="1"/>
          </p:cNvSpPr>
          <p:nvPr/>
        </p:nvSpPr>
        <p:spPr>
          <a:xfrm>
            <a:off x="6457950" y="17335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2×192²</a:t>
            </a:r>
          </a:p>
        </p:txBody>
      </p:sp>
      <p:sp>
        <p:nvSpPr>
          <p:cNvPr id="26" name="box-321">
            <a:extLst>
              <a:ext uri="{FF2B5EF4-FFF2-40B4-BE49-F238E27FC236}">
                <a16:creationId xmlns:a16="http://schemas.microsoft.com/office/drawing/2014/main" id="{350BE58C-77B8-4416-A1E5-DE167355EB6B}"/>
              </a:ext>
            </a:extLst>
          </p:cNvPr>
          <p:cNvSpPr>
            <a:spLocks noGrp="1"/>
          </p:cNvSpPr>
          <p:nvPr/>
        </p:nvSpPr>
        <p:spPr>
          <a:xfrm>
            <a:off x="8172450" y="1771650"/>
            <a:ext cx="2381250" cy="152400"/>
          </a:xfrm>
          <a:prstGeom prst="rect">
            <a:avLst/>
          </a:prstGeom>
          <a:solidFill>
            <a:srgbClr val="E6EEF5"/>
          </a:solidFill>
          <a:ln w="0">
            <a:noFill/>
            <a:prstDash val="solid"/>
          </a:ln>
        </p:spPr>
      </p:sp>
      <p:sp>
        <p:nvSpPr>
          <p:cNvPr id="27" name="box-322">
            <a:extLst>
              <a:ext uri="{FF2B5EF4-FFF2-40B4-BE49-F238E27FC236}">
                <a16:creationId xmlns:a16="http://schemas.microsoft.com/office/drawing/2014/main" id="{C8648F97-3F5F-478C-8676-4DBC1EC70E53}"/>
              </a:ext>
            </a:extLst>
          </p:cNvPr>
          <p:cNvSpPr>
            <a:spLocks noGrp="1"/>
          </p:cNvSpPr>
          <p:nvPr/>
        </p:nvSpPr>
        <p:spPr>
          <a:xfrm>
            <a:off x="8172450" y="1771650"/>
            <a:ext cx="2182813" cy="152400"/>
          </a:xfrm>
          <a:prstGeom prst="rect">
            <a:avLst/>
          </a:prstGeom>
          <a:solidFill>
            <a:srgbClr val="667C97"/>
          </a:solidFill>
          <a:ln w="0">
            <a:noFill/>
            <a:prstDash val="solid"/>
          </a:ln>
        </p:spPr>
      </p:sp>
      <p:sp>
        <p:nvSpPr>
          <p:cNvPr id="28" name="text-323">
            <a:extLst>
              <a:ext uri="{FF2B5EF4-FFF2-40B4-BE49-F238E27FC236}">
                <a16:creationId xmlns:a16="http://schemas.microsoft.com/office/drawing/2014/main" id="{3E4AC481-533B-4CEB-8160-5FABC7626BDF}"/>
              </a:ext>
            </a:extLst>
          </p:cNvPr>
          <p:cNvSpPr>
            <a:spLocks noGrp="1"/>
          </p:cNvSpPr>
          <p:nvPr/>
        </p:nvSpPr>
        <p:spPr>
          <a:xfrm>
            <a:off x="10629900" y="1724025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C97"/>
                </a:solidFill>
                <a:latin typeface="Arial"/>
                <a:ea typeface="Arial"/>
                <a:cs typeface="Arial"/>
              </a:rPr>
              <a:t>0.110</a:t>
            </a:r>
          </a:p>
        </p:txBody>
      </p:sp>
      <p:sp>
        <p:nvSpPr>
          <p:cNvPr id="29" name="text-324">
            <a:extLst>
              <a:ext uri="{FF2B5EF4-FFF2-40B4-BE49-F238E27FC236}">
                <a16:creationId xmlns:a16="http://schemas.microsoft.com/office/drawing/2014/main" id="{4DEC38EF-6206-4B0B-8A56-0A451D4CBB6C}"/>
              </a:ext>
            </a:extLst>
          </p:cNvPr>
          <p:cNvSpPr>
            <a:spLocks noGrp="1"/>
          </p:cNvSpPr>
          <p:nvPr/>
        </p:nvSpPr>
        <p:spPr>
          <a:xfrm>
            <a:off x="6457950" y="21526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2×384²</a:t>
            </a:r>
          </a:p>
        </p:txBody>
      </p:sp>
      <p:sp>
        <p:nvSpPr>
          <p:cNvPr id="30" name="box-325">
            <a:extLst>
              <a:ext uri="{FF2B5EF4-FFF2-40B4-BE49-F238E27FC236}">
                <a16:creationId xmlns:a16="http://schemas.microsoft.com/office/drawing/2014/main" id="{ED5F5DA8-79DA-41D0-BED2-749A70381E77}"/>
              </a:ext>
            </a:extLst>
          </p:cNvPr>
          <p:cNvSpPr>
            <a:spLocks noGrp="1"/>
          </p:cNvSpPr>
          <p:nvPr/>
        </p:nvSpPr>
        <p:spPr>
          <a:xfrm>
            <a:off x="8172450" y="2190750"/>
            <a:ext cx="2381250" cy="152400"/>
          </a:xfrm>
          <a:prstGeom prst="rect">
            <a:avLst/>
          </a:prstGeom>
          <a:solidFill>
            <a:srgbClr val="E6EEF5"/>
          </a:solidFill>
          <a:ln w="0">
            <a:noFill/>
            <a:prstDash val="solid"/>
          </a:ln>
        </p:spPr>
      </p:sp>
      <p:sp>
        <p:nvSpPr>
          <p:cNvPr id="31" name="box-326">
            <a:extLst>
              <a:ext uri="{FF2B5EF4-FFF2-40B4-BE49-F238E27FC236}">
                <a16:creationId xmlns:a16="http://schemas.microsoft.com/office/drawing/2014/main" id="{DD120E1A-B3BE-474A-BC48-599F1895F433}"/>
              </a:ext>
            </a:extLst>
          </p:cNvPr>
          <p:cNvSpPr>
            <a:spLocks noGrp="1"/>
          </p:cNvSpPr>
          <p:nvPr/>
        </p:nvSpPr>
        <p:spPr>
          <a:xfrm>
            <a:off x="8172450" y="2190750"/>
            <a:ext cx="1527969" cy="152400"/>
          </a:xfrm>
          <a:prstGeom prst="rect">
            <a:avLst/>
          </a:prstGeom>
          <a:solidFill>
            <a:srgbClr val="22C7E2"/>
          </a:solidFill>
          <a:ln w="0">
            <a:noFill/>
            <a:prstDash val="solid"/>
          </a:ln>
        </p:spPr>
      </p:sp>
      <p:sp>
        <p:nvSpPr>
          <p:cNvPr id="32" name="text-327">
            <a:extLst>
              <a:ext uri="{FF2B5EF4-FFF2-40B4-BE49-F238E27FC236}">
                <a16:creationId xmlns:a16="http://schemas.microsoft.com/office/drawing/2014/main" id="{52D5C22A-6E4C-432A-B6AF-C7C4473B6C2D}"/>
              </a:ext>
            </a:extLst>
          </p:cNvPr>
          <p:cNvSpPr>
            <a:spLocks noGrp="1"/>
          </p:cNvSpPr>
          <p:nvPr/>
        </p:nvSpPr>
        <p:spPr>
          <a:xfrm>
            <a:off x="10629900" y="2143125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2C7E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C7E2"/>
                </a:solidFill>
                <a:latin typeface="Arial"/>
                <a:ea typeface="Arial"/>
                <a:cs typeface="Arial"/>
              </a:rPr>
              <a:t>0.077</a:t>
            </a:r>
          </a:p>
        </p:txBody>
      </p:sp>
      <p:sp>
        <p:nvSpPr>
          <p:cNvPr id="33" name="text-328">
            <a:extLst>
              <a:ext uri="{FF2B5EF4-FFF2-40B4-BE49-F238E27FC236}">
                <a16:creationId xmlns:a16="http://schemas.microsoft.com/office/drawing/2014/main" id="{27B6A2A4-B1FC-4F6F-8E08-AC2494E14A6D}"/>
              </a:ext>
            </a:extLst>
          </p:cNvPr>
          <p:cNvSpPr>
            <a:spLocks noGrp="1"/>
          </p:cNvSpPr>
          <p:nvPr/>
        </p:nvSpPr>
        <p:spPr>
          <a:xfrm>
            <a:off x="6457950" y="2571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2×768²</a:t>
            </a:r>
          </a:p>
        </p:txBody>
      </p:sp>
      <p:sp>
        <p:nvSpPr>
          <p:cNvPr id="34" name="box-329">
            <a:extLst>
              <a:ext uri="{FF2B5EF4-FFF2-40B4-BE49-F238E27FC236}">
                <a16:creationId xmlns:a16="http://schemas.microsoft.com/office/drawing/2014/main" id="{64CCA3AD-D167-41A9-98F7-12842CB00471}"/>
              </a:ext>
            </a:extLst>
          </p:cNvPr>
          <p:cNvSpPr>
            <a:spLocks noGrp="1"/>
          </p:cNvSpPr>
          <p:nvPr/>
        </p:nvSpPr>
        <p:spPr>
          <a:xfrm>
            <a:off x="8172450" y="2609850"/>
            <a:ext cx="2381250" cy="152400"/>
          </a:xfrm>
          <a:prstGeom prst="rect">
            <a:avLst/>
          </a:prstGeom>
          <a:solidFill>
            <a:srgbClr val="E6EEF5"/>
          </a:solidFill>
          <a:ln w="0">
            <a:noFill/>
            <a:prstDash val="solid"/>
          </a:ln>
        </p:spPr>
      </p:sp>
      <p:sp>
        <p:nvSpPr>
          <p:cNvPr id="35" name="box-330">
            <a:extLst>
              <a:ext uri="{FF2B5EF4-FFF2-40B4-BE49-F238E27FC236}">
                <a16:creationId xmlns:a16="http://schemas.microsoft.com/office/drawing/2014/main" id="{0C5584A2-7967-45DD-B5B9-AC06915CB85F}"/>
              </a:ext>
            </a:extLst>
          </p:cNvPr>
          <p:cNvSpPr>
            <a:spLocks noGrp="1"/>
          </p:cNvSpPr>
          <p:nvPr/>
        </p:nvSpPr>
        <p:spPr>
          <a:xfrm>
            <a:off x="8172450" y="2609850"/>
            <a:ext cx="1270000" cy="152400"/>
          </a:xfrm>
          <a:prstGeom prst="rect">
            <a:avLst/>
          </a:prstGeom>
          <a:solidFill>
            <a:srgbClr val="48DEAB"/>
          </a:solidFill>
          <a:ln w="0">
            <a:noFill/>
            <a:prstDash val="solid"/>
          </a:ln>
        </p:spPr>
      </p:sp>
      <p:sp>
        <p:nvSpPr>
          <p:cNvPr id="36" name="text-331">
            <a:extLst>
              <a:ext uri="{FF2B5EF4-FFF2-40B4-BE49-F238E27FC236}">
                <a16:creationId xmlns:a16="http://schemas.microsoft.com/office/drawing/2014/main" id="{6E82BE8C-075B-470C-ABEB-4F9ADBAB9CB5}"/>
              </a:ext>
            </a:extLst>
          </p:cNvPr>
          <p:cNvSpPr>
            <a:spLocks noGrp="1"/>
          </p:cNvSpPr>
          <p:nvPr/>
        </p:nvSpPr>
        <p:spPr>
          <a:xfrm>
            <a:off x="10629900" y="2562225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48DEA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8DEAB"/>
                </a:solidFill>
                <a:latin typeface="Arial"/>
                <a:ea typeface="Arial"/>
                <a:cs typeface="Arial"/>
              </a:rPr>
              <a:t>0.064</a:t>
            </a:r>
          </a:p>
        </p:txBody>
      </p:sp>
      <p:sp>
        <p:nvSpPr>
          <p:cNvPr id="37" name="text-332">
            <a:extLst>
              <a:ext uri="{FF2B5EF4-FFF2-40B4-BE49-F238E27FC236}">
                <a16:creationId xmlns:a16="http://schemas.microsoft.com/office/drawing/2014/main" id="{4792C226-0691-43E5-B37A-1CBC084B4647}"/>
              </a:ext>
            </a:extLst>
          </p:cNvPr>
          <p:cNvSpPr>
            <a:spLocks noGrp="1"/>
          </p:cNvSpPr>
          <p:nvPr/>
        </p:nvSpPr>
        <p:spPr>
          <a:xfrm>
            <a:off x="6457950" y="30861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更多高斯提升细节表达，但同时增加场景大小。</a:t>
            </a:r>
          </a:p>
        </p:txBody>
      </p:sp>
      <p:sp>
        <p:nvSpPr>
          <p:cNvPr id="38" name="box-333">
            <a:extLst>
              <a:ext uri="{FF2B5EF4-FFF2-40B4-BE49-F238E27FC236}">
                <a16:creationId xmlns:a16="http://schemas.microsoft.com/office/drawing/2014/main" id="{AAF351BD-B9DB-46DE-B025-4853603C047F}"/>
              </a:ext>
            </a:extLst>
          </p:cNvPr>
          <p:cNvSpPr>
            <a:spLocks noGrp="1"/>
          </p:cNvSpPr>
          <p:nvPr/>
        </p:nvSpPr>
        <p:spPr>
          <a:xfrm>
            <a:off x="6457950" y="3752850"/>
            <a:ext cx="4552950" cy="1390650"/>
          </a:xfrm>
          <a:prstGeom prst="roundRect">
            <a:avLst>
              <a:gd name="adj" fmla="val 4110"/>
            </a:avLst>
          </a:prstGeom>
          <a:solidFill>
            <a:srgbClr val="F7FAFD"/>
          </a:solidFill>
          <a:ln w="9525">
            <a:solidFill>
              <a:srgbClr val="CADCEB"/>
            </a:solidFill>
            <a:prstDash val="solid"/>
          </a:ln>
        </p:spPr>
      </p:sp>
      <p:sp>
        <p:nvSpPr>
          <p:cNvPr id="39" name="text-334">
            <a:extLst>
              <a:ext uri="{FF2B5EF4-FFF2-40B4-BE49-F238E27FC236}">
                <a16:creationId xmlns:a16="http://schemas.microsoft.com/office/drawing/2014/main" id="{A5237F48-27C9-4BC5-B9A4-A554AE5CA498}"/>
              </a:ext>
            </a:extLst>
          </p:cNvPr>
          <p:cNvSpPr>
            <a:spLocks noGrp="1"/>
          </p:cNvSpPr>
          <p:nvPr/>
        </p:nvSpPr>
        <p:spPr>
          <a:xfrm>
            <a:off x="6705600" y="39624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48D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8DEAB"/>
                </a:solidFill>
                <a:latin typeface="Microsoft YaHei"/>
                <a:ea typeface="Microsoft YaHei"/>
                <a:cs typeface="Microsoft YaHei"/>
              </a:rPr>
              <a:t>SSFT</a:t>
            </a:r>
          </a:p>
        </p:txBody>
      </p:sp>
      <p:sp>
        <p:nvSpPr>
          <p:cNvPr id="40" name="text-335">
            <a:extLst>
              <a:ext uri="{FF2B5EF4-FFF2-40B4-BE49-F238E27FC236}">
                <a16:creationId xmlns:a16="http://schemas.microsoft.com/office/drawing/2014/main" id="{440539FD-14AA-421A-8F2F-8EA8BAEA7E50}"/>
              </a:ext>
            </a:extLst>
          </p:cNvPr>
          <p:cNvSpPr>
            <a:spLocks noGrp="1"/>
          </p:cNvSpPr>
          <p:nvPr/>
        </p:nvSpPr>
        <p:spPr>
          <a:xfrm>
            <a:off x="6705600" y="4381500"/>
            <a:ext cx="400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ScanNet++指标没有一致改善，Tanks and Temples部分指标改善；Fig.11显示主观结果更锐利。</a:t>
            </a:r>
          </a:p>
        </p:txBody>
      </p:sp>
      <p:sp>
        <p:nvSpPr>
          <p:cNvPr id="41" name="text-336">
            <a:extLst>
              <a:ext uri="{FF2B5EF4-FFF2-40B4-BE49-F238E27FC236}">
                <a16:creationId xmlns:a16="http://schemas.microsoft.com/office/drawing/2014/main" id="{A84C4225-F7A4-41B6-BF94-FB879661DB63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数据：SHARP原论文 Tables 11-14。DISTS均采用ScanNet++口径。</a:t>
            </a:r>
          </a:p>
        </p:txBody>
      </p:sp>
      <p:sp>
        <p:nvSpPr>
          <p:cNvPr id="42" name="box-455">
            <a:extLst>
              <a:ext uri="{FF2B5EF4-FFF2-40B4-BE49-F238E27FC236}">
                <a16:creationId xmlns:a16="http://schemas.microsoft.com/office/drawing/2014/main" id="{7DCCA110-10EB-4CDA-9F92-69A386307B59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text-456">
            <a:extLst>
              <a:ext uri="{FF2B5EF4-FFF2-40B4-BE49-F238E27FC236}">
                <a16:creationId xmlns:a16="http://schemas.microsoft.com/office/drawing/2014/main" id="{235F4251-0EA1-4988-B8D9-0F439A9D677F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13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97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-337">
            <a:extLst>
              <a:ext uri="{FF2B5EF4-FFF2-40B4-BE49-F238E27FC236}">
                <a16:creationId xmlns:a16="http://schemas.microsoft.com/office/drawing/2014/main" id="{30F8C24A-1E62-41DA-94DC-0FB1D171F316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本地复现结果</a:t>
            </a:r>
            <a:endParaRPr sz="285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text-338">
            <a:extLst>
              <a:ext uri="{FF2B5EF4-FFF2-40B4-BE49-F238E27FC236}">
                <a16:creationId xmlns:a16="http://schemas.microsoft.com/office/drawing/2014/main" id="{B2057BED-BE33-452D-863B-0AD7D51B4A6C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已跑通官方预测、PLY导出与新视角渲染流程</a:t>
            </a:r>
          </a:p>
        </p:txBody>
      </p:sp>
      <p:sp>
        <p:nvSpPr>
          <p:cNvPr id="3" name="rule-339">
            <a:extLst>
              <a:ext uri="{FF2B5EF4-FFF2-40B4-BE49-F238E27FC236}">
                <a16:creationId xmlns:a16="http://schemas.microsoft.com/office/drawing/2014/main" id="{3AD3263C-E740-4C71-8666-680A6CAE8913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2000250" cy="381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4" name="text-340">
            <a:extLst>
              <a:ext uri="{FF2B5EF4-FFF2-40B4-BE49-F238E27FC236}">
                <a16:creationId xmlns:a16="http://schemas.microsoft.com/office/drawing/2014/main" id="{6F04A460-5BC3-426A-BEB0-C1873B15C9D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5" name="text-341">
            <a:extLst>
              <a:ext uri="{FF2B5EF4-FFF2-40B4-BE49-F238E27FC236}">
                <a16:creationId xmlns:a16="http://schemas.microsoft.com/office/drawing/2014/main" id="{1DA68D5E-B577-4735-80BA-EA8B9F8F2C10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预测、PLY导出</a:t>
            </a:r>
          </a:p>
          <a:p>
            <a:pPr algn="ctr">
              <a:lnSpc>
                <a:spcPct val="105000"/>
              </a:lnSpc>
              <a:buNone/>
              <a:defRPr sz="1500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与渲染已跑通</a:t>
            </a:r>
          </a:p>
        </p:txBody>
      </p:sp>
      <p:sp>
        <p:nvSpPr>
          <p:cNvPr id="6" name="rule-342">
            <a:extLst>
              <a:ext uri="{FF2B5EF4-FFF2-40B4-BE49-F238E27FC236}">
                <a16:creationId xmlns:a16="http://schemas.microsoft.com/office/drawing/2014/main" id="{FB68B836-E70F-4FF6-90A2-36B8C1E4CA5E}"/>
              </a:ext>
            </a:extLst>
          </p:cNvPr>
          <p:cNvSpPr>
            <a:spLocks noGrp="1"/>
          </p:cNvSpPr>
          <p:nvPr/>
        </p:nvSpPr>
        <p:spPr>
          <a:xfrm>
            <a:off x="2971800" y="1257300"/>
            <a:ext cx="2000250" cy="38100"/>
          </a:xfrm>
          <a:prstGeom prst="rect">
            <a:avLst/>
          </a:prstGeom>
          <a:solidFill>
            <a:srgbClr val="22C7E2"/>
          </a:solidFill>
          <a:ln w="0">
            <a:noFill/>
            <a:prstDash val="solid"/>
          </a:ln>
        </p:spPr>
      </p:sp>
      <p:sp>
        <p:nvSpPr>
          <p:cNvPr id="7" name="text-343">
            <a:extLst>
              <a:ext uri="{FF2B5EF4-FFF2-40B4-BE49-F238E27FC236}">
                <a16:creationId xmlns:a16="http://schemas.microsoft.com/office/drawing/2014/main" id="{881DBBF9-965C-451D-AE73-9793DA14B882}"/>
              </a:ext>
            </a:extLst>
          </p:cNvPr>
          <p:cNvSpPr>
            <a:spLocks noGrp="1"/>
          </p:cNvSpPr>
          <p:nvPr/>
        </p:nvSpPr>
        <p:spPr>
          <a:xfrm>
            <a:off x="2971800" y="1390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8" name="text-344">
            <a:extLst>
              <a:ext uri="{FF2B5EF4-FFF2-40B4-BE49-F238E27FC236}">
                <a16:creationId xmlns:a16="http://schemas.microsoft.com/office/drawing/2014/main" id="{0AC80503-C5DF-4FE9-860B-184F2A682A9D}"/>
              </a:ext>
            </a:extLst>
          </p:cNvPr>
          <p:cNvSpPr>
            <a:spLocks noGrp="1"/>
          </p:cNvSpPr>
          <p:nvPr/>
        </p:nvSpPr>
        <p:spPr>
          <a:xfrm>
            <a:off x="2971800" y="16764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1,179,648个高斯</a:t>
            </a:r>
          </a:p>
        </p:txBody>
      </p:sp>
      <p:sp>
        <p:nvSpPr>
          <p:cNvPr id="9" name="rule-345">
            <a:extLst>
              <a:ext uri="{FF2B5EF4-FFF2-40B4-BE49-F238E27FC236}">
                <a16:creationId xmlns:a16="http://schemas.microsoft.com/office/drawing/2014/main" id="{A5528C13-D7DF-43D0-AE04-B2CDB2A605E3}"/>
              </a:ext>
            </a:extLst>
          </p:cNvPr>
          <p:cNvSpPr>
            <a:spLocks noGrp="1"/>
          </p:cNvSpPr>
          <p:nvPr/>
        </p:nvSpPr>
        <p:spPr>
          <a:xfrm>
            <a:off x="5257800" y="1257300"/>
            <a:ext cx="2000250" cy="381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0" name="text-346">
            <a:extLst>
              <a:ext uri="{FF2B5EF4-FFF2-40B4-BE49-F238E27FC236}">
                <a16:creationId xmlns:a16="http://schemas.microsoft.com/office/drawing/2014/main" id="{12DB2A13-72BF-450C-B3AC-74B96541637E}"/>
              </a:ext>
            </a:extLst>
          </p:cNvPr>
          <p:cNvSpPr>
            <a:spLocks noGrp="1"/>
          </p:cNvSpPr>
          <p:nvPr/>
        </p:nvSpPr>
        <p:spPr>
          <a:xfrm>
            <a:off x="5257800" y="1390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text-347">
            <a:extLst>
              <a:ext uri="{FF2B5EF4-FFF2-40B4-BE49-F238E27FC236}">
                <a16:creationId xmlns:a16="http://schemas.microsoft.com/office/drawing/2014/main" id="{A8A4AF0D-CC66-46AB-A63A-3D6CE7BE991F}"/>
              </a:ext>
            </a:extLst>
          </p:cNvPr>
          <p:cNvSpPr>
            <a:spLocks noGrp="1"/>
          </p:cNvSpPr>
          <p:nvPr/>
        </p:nvSpPr>
        <p:spPr>
          <a:xfrm>
            <a:off x="5257800" y="16764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PLY约64 MB</a:t>
            </a:r>
          </a:p>
        </p:txBody>
      </p:sp>
      <p:sp>
        <p:nvSpPr>
          <p:cNvPr id="12" name="rule-348">
            <a:extLst>
              <a:ext uri="{FF2B5EF4-FFF2-40B4-BE49-F238E27FC236}">
                <a16:creationId xmlns:a16="http://schemas.microsoft.com/office/drawing/2014/main" id="{4433A704-E75A-4D66-B2F6-2354D44A1F93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00250" cy="381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3" name="text-349">
            <a:extLst>
              <a:ext uri="{FF2B5EF4-FFF2-40B4-BE49-F238E27FC236}">
                <a16:creationId xmlns:a16="http://schemas.microsoft.com/office/drawing/2014/main" id="{CB06AF18-7362-4377-8CFF-42EC255BBF45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网络前向</a:t>
            </a:r>
          </a:p>
        </p:txBody>
      </p:sp>
      <p:sp>
        <p:nvSpPr>
          <p:cNvPr id="14" name="text-350">
            <a:extLst>
              <a:ext uri="{FF2B5EF4-FFF2-40B4-BE49-F238E27FC236}">
                <a16:creationId xmlns:a16="http://schemas.microsoft.com/office/drawing/2014/main" id="{08432FA2-4E95-4AE6-8036-1A118572151C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约1.26 s</a:t>
            </a:r>
          </a:p>
        </p:txBody>
      </p:sp>
      <p:sp>
        <p:nvSpPr>
          <p:cNvPr id="15" name="rule-351">
            <a:extLst>
              <a:ext uri="{FF2B5EF4-FFF2-40B4-BE49-F238E27FC236}">
                <a16:creationId xmlns:a16="http://schemas.microsoft.com/office/drawing/2014/main" id="{2EA98298-F04E-4D48-9B7D-8EF44DFF5CD0}"/>
              </a:ext>
            </a:extLst>
          </p:cNvPr>
          <p:cNvSpPr>
            <a:spLocks noGrp="1"/>
          </p:cNvSpPr>
          <p:nvPr/>
        </p:nvSpPr>
        <p:spPr>
          <a:xfrm>
            <a:off x="2971800" y="2324100"/>
            <a:ext cx="2000250" cy="38100"/>
          </a:xfrm>
          <a:prstGeom prst="rect">
            <a:avLst/>
          </a:prstGeom>
          <a:solidFill>
            <a:srgbClr val="22C7E2"/>
          </a:solidFill>
          <a:ln w="0">
            <a:noFill/>
            <a:prstDash val="solid"/>
          </a:ln>
        </p:spPr>
      </p:sp>
      <p:sp>
        <p:nvSpPr>
          <p:cNvPr id="16" name="text-352">
            <a:extLst>
              <a:ext uri="{FF2B5EF4-FFF2-40B4-BE49-F238E27FC236}">
                <a16:creationId xmlns:a16="http://schemas.microsoft.com/office/drawing/2014/main" id="{5C035D8B-5FB9-4657-8677-4C5DBC20511A}"/>
              </a:ext>
            </a:extLst>
          </p:cNvPr>
          <p:cNvSpPr>
            <a:spLocks noGrp="1"/>
          </p:cNvSpPr>
          <p:nvPr/>
        </p:nvSpPr>
        <p:spPr>
          <a:xfrm>
            <a:off x="2971800" y="24574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后处理</a:t>
            </a:r>
          </a:p>
        </p:txBody>
      </p:sp>
      <p:sp>
        <p:nvSpPr>
          <p:cNvPr id="17" name="text-353">
            <a:extLst>
              <a:ext uri="{FF2B5EF4-FFF2-40B4-BE49-F238E27FC236}">
                <a16:creationId xmlns:a16="http://schemas.microsoft.com/office/drawing/2014/main" id="{F41BB4C2-C16E-43CA-AF45-5E36FDF259D6}"/>
              </a:ext>
            </a:extLst>
          </p:cNvPr>
          <p:cNvSpPr>
            <a:spLocks noGrp="1"/>
          </p:cNvSpPr>
          <p:nvPr/>
        </p:nvSpPr>
        <p:spPr>
          <a:xfrm>
            <a:off x="2971800" y="27432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约4.23 s</a:t>
            </a:r>
          </a:p>
        </p:txBody>
      </p:sp>
      <p:sp>
        <p:nvSpPr>
          <p:cNvPr id="18" name="rule-354">
            <a:extLst>
              <a:ext uri="{FF2B5EF4-FFF2-40B4-BE49-F238E27FC236}">
                <a16:creationId xmlns:a16="http://schemas.microsoft.com/office/drawing/2014/main" id="{3EFF86FC-5DB2-468F-AC3A-6E08739AB5E0}"/>
              </a:ext>
            </a:extLst>
          </p:cNvPr>
          <p:cNvSpPr>
            <a:spLocks noGrp="1"/>
          </p:cNvSpPr>
          <p:nvPr/>
        </p:nvSpPr>
        <p:spPr>
          <a:xfrm>
            <a:off x="5257800" y="2324100"/>
            <a:ext cx="2000250" cy="381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9" name="text-355">
            <a:extLst>
              <a:ext uri="{FF2B5EF4-FFF2-40B4-BE49-F238E27FC236}">
                <a16:creationId xmlns:a16="http://schemas.microsoft.com/office/drawing/2014/main" id="{B124CC14-50AF-4B65-9227-E9EA64BFC569}"/>
              </a:ext>
            </a:extLst>
          </p:cNvPr>
          <p:cNvSpPr>
            <a:spLocks noGrp="1"/>
          </p:cNvSpPr>
          <p:nvPr/>
        </p:nvSpPr>
        <p:spPr>
          <a:xfrm>
            <a:off x="5257800" y="24574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冷启动predict</a:t>
            </a:r>
          </a:p>
        </p:txBody>
      </p:sp>
      <p:sp>
        <p:nvSpPr>
          <p:cNvPr id="20" name="text-356">
            <a:extLst>
              <a:ext uri="{FF2B5EF4-FFF2-40B4-BE49-F238E27FC236}">
                <a16:creationId xmlns:a16="http://schemas.microsoft.com/office/drawing/2014/main" id="{E293E025-E01A-4217-8799-12B55E20AC23}"/>
              </a:ext>
            </a:extLst>
          </p:cNvPr>
          <p:cNvSpPr>
            <a:spLocks noGrp="1"/>
          </p:cNvSpPr>
          <p:nvPr/>
        </p:nvSpPr>
        <p:spPr>
          <a:xfrm>
            <a:off x="5257800" y="27432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01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F37"/>
                </a:solidFill>
                <a:latin typeface="Arial"/>
                <a:ea typeface="Arial"/>
                <a:cs typeface="Arial"/>
              </a:rPr>
              <a:t>约28 s</a:t>
            </a:r>
          </a:p>
        </p:txBody>
      </p:sp>
      <p:sp>
        <p:nvSpPr>
          <p:cNvPr id="21" name="box-357">
            <a:extLst>
              <a:ext uri="{FF2B5EF4-FFF2-40B4-BE49-F238E27FC236}">
                <a16:creationId xmlns:a16="http://schemas.microsoft.com/office/drawing/2014/main" id="{EC8724CB-6884-42CB-97AE-B7236F241AA4}"/>
              </a:ext>
            </a:extLst>
          </p:cNvPr>
          <p:cNvSpPr>
            <a:spLocks noGrp="1"/>
          </p:cNvSpPr>
          <p:nvPr/>
        </p:nvSpPr>
        <p:spPr>
          <a:xfrm>
            <a:off x="7620000" y="1257300"/>
            <a:ext cx="3638550" cy="1981200"/>
          </a:xfrm>
          <a:prstGeom prst="roundRect">
            <a:avLst>
              <a:gd name="adj" fmla="val 2885"/>
            </a:avLst>
          </a:prstGeom>
          <a:solidFill>
            <a:srgbClr val="F7FAFD"/>
          </a:solidFill>
          <a:ln w="9525">
            <a:solidFill>
              <a:srgbClr val="CADCEB"/>
            </a:solidFill>
            <a:prstDash val="solid"/>
          </a:ln>
        </p:spPr>
      </p:sp>
      <p:sp>
        <p:nvSpPr>
          <p:cNvPr id="22" name="text-358">
            <a:extLst>
              <a:ext uri="{FF2B5EF4-FFF2-40B4-BE49-F238E27FC236}">
                <a16:creationId xmlns:a16="http://schemas.microsoft.com/office/drawing/2014/main" id="{096ABCF4-161D-4E1D-AE95-238B7D9B759D}"/>
              </a:ext>
            </a:extLst>
          </p:cNvPr>
          <p:cNvSpPr>
            <a:spLocks noGrp="1"/>
          </p:cNvSpPr>
          <p:nvPr/>
        </p:nvSpPr>
        <p:spPr>
          <a:xfrm>
            <a:off x="7867650" y="1466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48D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8DEAB"/>
                </a:solidFill>
                <a:latin typeface="Microsoft YaHei"/>
                <a:ea typeface="Microsoft YaHei"/>
                <a:cs typeface="Microsoft YaHei"/>
              </a:rPr>
              <a:t>渲染端到端记录</a:t>
            </a:r>
          </a:p>
        </p:txBody>
      </p:sp>
      <p:sp>
        <p:nvSpPr>
          <p:cNvPr id="23" name="box-359">
            <a:extLst>
              <a:ext uri="{FF2B5EF4-FFF2-40B4-BE49-F238E27FC236}">
                <a16:creationId xmlns:a16="http://schemas.microsoft.com/office/drawing/2014/main" id="{3B54C611-99DB-4327-B95E-F0B6EB6F54B5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76200" cy="76200"/>
          </a:xfrm>
          <a:prstGeom prst="ellipse">
            <a:avLst/>
          </a:prstGeom>
          <a:solidFill>
            <a:srgbClr val="48DEAB"/>
          </a:solidFill>
          <a:ln w="0">
            <a:noFill/>
            <a:prstDash val="solid"/>
          </a:ln>
        </p:spPr>
      </p:sp>
      <p:sp>
        <p:nvSpPr>
          <p:cNvPr id="24" name="text-360">
            <a:extLst>
              <a:ext uri="{FF2B5EF4-FFF2-40B4-BE49-F238E27FC236}">
                <a16:creationId xmlns:a16="http://schemas.microsoft.com/office/drawing/2014/main" id="{B1C7B45F-7136-459D-9A48-81EBBD98C54D}"/>
              </a:ext>
            </a:extLst>
          </p:cNvPr>
          <p:cNvSpPr>
            <a:spLocks noGrp="1"/>
          </p:cNvSpPr>
          <p:nvPr/>
        </p:nvSpPr>
        <p:spPr>
          <a:xfrm>
            <a:off x="8077200" y="192405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90236"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首次渲染约91 s，其中扩展初始化约77.6 s</a:t>
            </a:r>
          </a:p>
        </p:txBody>
      </p:sp>
      <p:sp>
        <p:nvSpPr>
          <p:cNvPr id="25" name="box-361">
            <a:extLst>
              <a:ext uri="{FF2B5EF4-FFF2-40B4-BE49-F238E27FC236}">
                <a16:creationId xmlns:a16="http://schemas.microsoft.com/office/drawing/2014/main" id="{373B83AF-B5DF-4A34-A384-F572FE1F3359}"/>
              </a:ext>
            </a:extLst>
          </p:cNvPr>
          <p:cNvSpPr>
            <a:spLocks noGrp="1"/>
          </p:cNvSpPr>
          <p:nvPr/>
        </p:nvSpPr>
        <p:spPr>
          <a:xfrm>
            <a:off x="7905750" y="2400300"/>
            <a:ext cx="76200" cy="76200"/>
          </a:xfrm>
          <a:prstGeom prst="ellipse">
            <a:avLst/>
          </a:prstGeom>
          <a:solidFill>
            <a:srgbClr val="48DEAB"/>
          </a:solidFill>
          <a:ln w="0">
            <a:noFill/>
            <a:prstDash val="solid"/>
          </a:ln>
        </p:spPr>
      </p:sp>
      <p:sp>
        <p:nvSpPr>
          <p:cNvPr id="26" name="text-362">
            <a:extLst>
              <a:ext uri="{FF2B5EF4-FFF2-40B4-BE49-F238E27FC236}">
                <a16:creationId xmlns:a16="http://schemas.microsoft.com/office/drawing/2014/main" id="{6A8CB580-1E08-4D8A-B984-1FA9487D858B}"/>
              </a:ext>
            </a:extLst>
          </p:cNvPr>
          <p:cNvSpPr>
            <a:spLocks noGrp="1"/>
          </p:cNvSpPr>
          <p:nvPr/>
        </p:nvSpPr>
        <p:spPr>
          <a:xfrm>
            <a:off x="8077200" y="232410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热启动60帧约13.98 s</a:t>
            </a:r>
          </a:p>
        </p:txBody>
      </p:sp>
      <p:sp>
        <p:nvSpPr>
          <p:cNvPr id="27" name="box-363">
            <a:extLst>
              <a:ext uri="{FF2B5EF4-FFF2-40B4-BE49-F238E27FC236}">
                <a16:creationId xmlns:a16="http://schemas.microsoft.com/office/drawing/2014/main" id="{2C4D1221-2D7D-4457-82FE-EB79E8129F6B}"/>
              </a:ext>
            </a:extLst>
          </p:cNvPr>
          <p:cNvSpPr>
            <a:spLocks noGrp="1"/>
          </p:cNvSpPr>
          <p:nvPr/>
        </p:nvSpPr>
        <p:spPr>
          <a:xfrm>
            <a:off x="7905750" y="2800350"/>
            <a:ext cx="76200" cy="76200"/>
          </a:xfrm>
          <a:prstGeom prst="ellipse">
            <a:avLst/>
          </a:prstGeom>
          <a:solidFill>
            <a:srgbClr val="48DEAB"/>
          </a:solidFill>
          <a:ln w="0">
            <a:noFill/>
            <a:prstDash val="solid"/>
          </a:ln>
        </p:spPr>
      </p:sp>
      <p:sp>
        <p:nvSpPr>
          <p:cNvPr id="28" name="text-364">
            <a:extLst>
              <a:ext uri="{FF2B5EF4-FFF2-40B4-BE49-F238E27FC236}">
                <a16:creationId xmlns:a16="http://schemas.microsoft.com/office/drawing/2014/main" id="{1422CE62-EE48-4FA4-9435-618055E8BE4E}"/>
              </a:ext>
            </a:extLst>
          </p:cNvPr>
          <p:cNvSpPr>
            <a:spLocks noGrp="1"/>
          </p:cNvSpPr>
          <p:nvPr/>
        </p:nvSpPr>
        <p:spPr>
          <a:xfrm>
            <a:off x="8077200" y="272415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CLI端到端约4.29 FPS</a:t>
            </a:r>
          </a:p>
        </p:txBody>
      </p:sp>
      <p:sp>
        <p:nvSpPr>
          <p:cNvPr id="29" name="box-365">
            <a:extLst>
              <a:ext uri="{FF2B5EF4-FFF2-40B4-BE49-F238E27FC236}">
                <a16:creationId xmlns:a16="http://schemas.microsoft.com/office/drawing/2014/main" id="{BFB0B23C-58D3-44B0-8D96-8EDF3F59E458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3181350" cy="1428750"/>
          </a:xfrm>
          <a:prstGeom prst="roundRect">
            <a:avLst>
              <a:gd name="adj" fmla="val 4000"/>
            </a:avLst>
          </a:prstGeom>
          <a:solidFill>
            <a:srgbClr val="F9FBFD"/>
          </a:solidFill>
          <a:ln w="14288">
            <a:solidFill>
              <a:srgbClr val="82B4E0"/>
            </a:solidFill>
            <a:prstDash val="dash"/>
          </a:ln>
        </p:spPr>
      </p:sp>
      <p:sp>
        <p:nvSpPr>
          <p:cNvPr id="30" name="text-366">
            <a:extLst>
              <a:ext uri="{FF2B5EF4-FFF2-40B4-BE49-F238E27FC236}">
                <a16:creationId xmlns:a16="http://schemas.microsoft.com/office/drawing/2014/main" id="{5799384A-46D8-44BA-98C8-EA932730190D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输入图</a:t>
            </a:r>
          </a:p>
        </p:txBody>
      </p:sp>
      <p:sp>
        <p:nvSpPr>
          <p:cNvPr id="31" name="text-367">
            <a:extLst>
              <a:ext uri="{FF2B5EF4-FFF2-40B4-BE49-F238E27FC236}">
                <a16:creationId xmlns:a16="http://schemas.microsoft.com/office/drawing/2014/main" id="{A848408D-A77C-413E-831E-D3E0525EBB27}"/>
              </a:ext>
            </a:extLst>
          </p:cNvPr>
          <p:cNvSpPr>
            <a:spLocks noGrp="1"/>
          </p:cNvSpPr>
          <p:nvPr/>
        </p:nvSpPr>
        <p:spPr>
          <a:xfrm>
            <a:off x="895350" y="4524375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截图待补</a:t>
            </a:r>
          </a:p>
        </p:txBody>
      </p:sp>
      <p:sp>
        <p:nvSpPr>
          <p:cNvPr id="32" name="box-368">
            <a:extLst>
              <a:ext uri="{FF2B5EF4-FFF2-40B4-BE49-F238E27FC236}">
                <a16:creationId xmlns:a16="http://schemas.microsoft.com/office/drawing/2014/main" id="{027FB1C4-D299-402E-9AB4-32041CAA2EAC}"/>
              </a:ext>
            </a:extLst>
          </p:cNvPr>
          <p:cNvSpPr>
            <a:spLocks noGrp="1"/>
          </p:cNvSpPr>
          <p:nvPr/>
        </p:nvSpPr>
        <p:spPr>
          <a:xfrm>
            <a:off x="4229100" y="3714750"/>
            <a:ext cx="3181350" cy="1428750"/>
          </a:xfrm>
          <a:prstGeom prst="roundRect">
            <a:avLst>
              <a:gd name="adj" fmla="val 4000"/>
            </a:avLst>
          </a:prstGeom>
          <a:solidFill>
            <a:srgbClr val="F9FBFD"/>
          </a:solidFill>
          <a:ln w="14288">
            <a:solidFill>
              <a:srgbClr val="82B4E0"/>
            </a:solidFill>
            <a:prstDash val="dash"/>
          </a:ln>
        </p:spPr>
      </p:sp>
      <p:sp>
        <p:nvSpPr>
          <p:cNvPr id="33" name="text-369">
            <a:extLst>
              <a:ext uri="{FF2B5EF4-FFF2-40B4-BE49-F238E27FC236}">
                <a16:creationId xmlns:a16="http://schemas.microsoft.com/office/drawing/2014/main" id="{C8020FD3-FE4C-42C6-A82B-7DF074B03C5A}"/>
              </a:ext>
            </a:extLst>
          </p:cNvPr>
          <p:cNvSpPr>
            <a:spLocks noGrp="1"/>
          </p:cNvSpPr>
          <p:nvPr/>
        </p:nvSpPr>
        <p:spPr>
          <a:xfrm>
            <a:off x="4419600" y="409575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渲染帧 / 视频截图</a:t>
            </a:r>
          </a:p>
        </p:txBody>
      </p:sp>
      <p:sp>
        <p:nvSpPr>
          <p:cNvPr id="34" name="text-370">
            <a:extLst>
              <a:ext uri="{FF2B5EF4-FFF2-40B4-BE49-F238E27FC236}">
                <a16:creationId xmlns:a16="http://schemas.microsoft.com/office/drawing/2014/main" id="{9352EABA-0A1A-4A2A-B347-4BE4C4F03AF3}"/>
              </a:ext>
            </a:extLst>
          </p:cNvPr>
          <p:cNvSpPr>
            <a:spLocks noGrp="1"/>
          </p:cNvSpPr>
          <p:nvPr/>
        </p:nvSpPr>
        <p:spPr>
          <a:xfrm>
            <a:off x="4419600" y="4524375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截图待补</a:t>
            </a:r>
          </a:p>
        </p:txBody>
      </p:sp>
      <p:sp>
        <p:nvSpPr>
          <p:cNvPr id="35" name="box-371">
            <a:extLst>
              <a:ext uri="{FF2B5EF4-FFF2-40B4-BE49-F238E27FC236}">
                <a16:creationId xmlns:a16="http://schemas.microsoft.com/office/drawing/2014/main" id="{D97A93DF-7026-448C-8CA2-D6CCD979D298}"/>
              </a:ext>
            </a:extLst>
          </p:cNvPr>
          <p:cNvSpPr>
            <a:spLocks noGrp="1"/>
          </p:cNvSpPr>
          <p:nvPr/>
        </p:nvSpPr>
        <p:spPr>
          <a:xfrm>
            <a:off x="7753350" y="3714750"/>
            <a:ext cx="3181350" cy="1428750"/>
          </a:xfrm>
          <a:prstGeom prst="roundRect">
            <a:avLst>
              <a:gd name="adj" fmla="val 4000"/>
            </a:avLst>
          </a:prstGeom>
          <a:solidFill>
            <a:srgbClr val="F9FBFD"/>
          </a:solidFill>
          <a:ln w="14288">
            <a:solidFill>
              <a:srgbClr val="82B4E0"/>
            </a:solidFill>
            <a:prstDash val="dash"/>
          </a:ln>
        </p:spPr>
      </p:sp>
      <p:sp>
        <p:nvSpPr>
          <p:cNvPr id="36" name="text-372">
            <a:extLst>
              <a:ext uri="{FF2B5EF4-FFF2-40B4-BE49-F238E27FC236}">
                <a16:creationId xmlns:a16="http://schemas.microsoft.com/office/drawing/2014/main" id="{6D0515BB-DE01-45D4-804D-BFEB422E2DAB}"/>
              </a:ext>
            </a:extLst>
          </p:cNvPr>
          <p:cNvSpPr>
            <a:spLocks noGrp="1"/>
          </p:cNvSpPr>
          <p:nvPr/>
        </p:nvSpPr>
        <p:spPr>
          <a:xfrm>
            <a:off x="7943850" y="409575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深度或PLY检查图</a:t>
            </a:r>
          </a:p>
        </p:txBody>
      </p:sp>
      <p:sp>
        <p:nvSpPr>
          <p:cNvPr id="37" name="text-373">
            <a:extLst>
              <a:ext uri="{FF2B5EF4-FFF2-40B4-BE49-F238E27FC236}">
                <a16:creationId xmlns:a16="http://schemas.microsoft.com/office/drawing/2014/main" id="{F44B97DD-E121-40D5-8844-036AC0105C90}"/>
              </a:ext>
            </a:extLst>
          </p:cNvPr>
          <p:cNvSpPr>
            <a:spLocks noGrp="1"/>
          </p:cNvSpPr>
          <p:nvPr/>
        </p:nvSpPr>
        <p:spPr>
          <a:xfrm>
            <a:off x="7943850" y="4524375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截图待补</a:t>
            </a:r>
          </a:p>
        </p:txBody>
      </p:sp>
      <p:sp>
        <p:nvSpPr>
          <p:cNvPr id="38" name="text-374">
            <a:extLst>
              <a:ext uri="{FF2B5EF4-FFF2-40B4-BE49-F238E27FC236}">
                <a16:creationId xmlns:a16="http://schemas.microsoft.com/office/drawing/2014/main" id="{DDAAAE45-E38D-4C70-8497-6E2FD70D53AE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测试口径：官方CLI端到端，含初始化、数据搬运与文件处理；不可与论文常驻GPU纯渲染约100 </a:t>
            </a:r>
            <a:r>
              <a:rPr sz="975" b="0" dirty="0" err="1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FPS直接比较。截图待补</a:t>
            </a:r>
            <a:r>
              <a:rPr sz="975" b="0" dirty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9" name="box-457">
            <a:extLst>
              <a:ext uri="{FF2B5EF4-FFF2-40B4-BE49-F238E27FC236}">
                <a16:creationId xmlns:a16="http://schemas.microsoft.com/office/drawing/2014/main" id="{BC037DD3-06B1-4203-9E92-17D0478D4C94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0" name="text-458">
            <a:extLst>
              <a:ext uri="{FF2B5EF4-FFF2-40B4-BE49-F238E27FC236}">
                <a16:creationId xmlns:a16="http://schemas.microsoft.com/office/drawing/2014/main" id="{8FEBC270-E882-4697-BDD8-EDD299AB4ED4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14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048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9401DDC4-E8ED-78B6-7229-29DC7AC5DB6D}"/>
              </a:ext>
            </a:extLst>
          </p:cNvPr>
          <p:cNvSpPr/>
          <p:nvPr/>
        </p:nvSpPr>
        <p:spPr>
          <a:xfrm>
            <a:off x="685800" y="1498600"/>
            <a:ext cx="3302000" cy="1778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080D34D-F110-4D3D-0212-80ACAC56C152}"/>
              </a:ext>
            </a:extLst>
          </p:cNvPr>
          <p:cNvSpPr txBox="1"/>
          <p:nvPr/>
        </p:nvSpPr>
        <p:spPr>
          <a:xfrm>
            <a:off x="838200" y="1691789"/>
            <a:ext cx="2997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 </a:t>
            </a:r>
            <a:r>
              <a:rPr lang="en-US" altLang="zh-CN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· </a:t>
            </a:r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输入图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2307775-FD34-C544-F3F9-735EB4CDB979}"/>
              </a:ext>
            </a:extLst>
          </p:cNvPr>
          <p:cNvSpPr txBox="1"/>
          <p:nvPr/>
        </p:nvSpPr>
        <p:spPr>
          <a:xfrm>
            <a:off x="838200" y="2316777"/>
            <a:ext cx="2997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0DA3AC6-E25E-0C51-610E-04BDE0C7E5B7}"/>
              </a:ext>
            </a:extLst>
          </p:cNvPr>
          <p:cNvSpPr/>
          <p:nvPr/>
        </p:nvSpPr>
        <p:spPr>
          <a:xfrm>
            <a:off x="4445000" y="1498600"/>
            <a:ext cx="3302000" cy="1778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B1CCC71-1012-3668-A5B3-65C9C022042B}"/>
              </a:ext>
            </a:extLst>
          </p:cNvPr>
          <p:cNvSpPr txBox="1"/>
          <p:nvPr/>
        </p:nvSpPr>
        <p:spPr>
          <a:xfrm>
            <a:off x="4597400" y="1691789"/>
            <a:ext cx="2997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 </a:t>
            </a:r>
            <a:r>
              <a:rPr lang="en-US" altLang="zh-CN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· </a:t>
            </a:r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预测深度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B40C2AD-FD8B-2B61-1EE3-67029529B0BD}"/>
              </a:ext>
            </a:extLst>
          </p:cNvPr>
          <p:cNvSpPr txBox="1"/>
          <p:nvPr/>
        </p:nvSpPr>
        <p:spPr>
          <a:xfrm>
            <a:off x="4597400" y="2316777"/>
            <a:ext cx="2997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59A1754-EBF6-8C7F-312F-5D9820E690EA}"/>
              </a:ext>
            </a:extLst>
          </p:cNvPr>
          <p:cNvSpPr/>
          <p:nvPr/>
        </p:nvSpPr>
        <p:spPr>
          <a:xfrm>
            <a:off x="8204200" y="1498600"/>
            <a:ext cx="3302000" cy="1778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64B3D7D-07D5-559B-F33D-D3C1BCDC88EE}"/>
              </a:ext>
            </a:extLst>
          </p:cNvPr>
          <p:cNvSpPr txBox="1"/>
          <p:nvPr/>
        </p:nvSpPr>
        <p:spPr>
          <a:xfrm>
            <a:off x="8356600" y="1691789"/>
            <a:ext cx="2997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 </a:t>
            </a:r>
            <a:r>
              <a:rPr lang="en-US" altLang="zh-CN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· </a:t>
            </a:r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新视角渲染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B37D183-8906-E318-23C5-994C37421F52}"/>
              </a:ext>
            </a:extLst>
          </p:cNvPr>
          <p:cNvSpPr txBox="1"/>
          <p:nvPr/>
        </p:nvSpPr>
        <p:spPr>
          <a:xfrm>
            <a:off x="8356600" y="2316777"/>
            <a:ext cx="2997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7096174-F0D0-35A5-EB1B-19D9B75E173E}"/>
              </a:ext>
            </a:extLst>
          </p:cNvPr>
          <p:cNvSpPr/>
          <p:nvPr/>
        </p:nvSpPr>
        <p:spPr>
          <a:xfrm>
            <a:off x="685800" y="3784600"/>
            <a:ext cx="3302000" cy="1778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FAE791B-4E60-FD87-A029-E6B7B2036269}"/>
              </a:ext>
            </a:extLst>
          </p:cNvPr>
          <p:cNvSpPr txBox="1"/>
          <p:nvPr/>
        </p:nvSpPr>
        <p:spPr>
          <a:xfrm>
            <a:off x="838200" y="3977789"/>
            <a:ext cx="2997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 </a:t>
            </a:r>
            <a:r>
              <a:rPr lang="en-US" altLang="zh-CN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· </a:t>
            </a:r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输入图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4983418-1ACA-E5D1-6F10-9A14638976DC}"/>
              </a:ext>
            </a:extLst>
          </p:cNvPr>
          <p:cNvSpPr txBox="1"/>
          <p:nvPr/>
        </p:nvSpPr>
        <p:spPr>
          <a:xfrm>
            <a:off x="838200" y="4602777"/>
            <a:ext cx="2997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C2A0E9B-51B8-46A1-DF36-5DEED6E9FB82}"/>
              </a:ext>
            </a:extLst>
          </p:cNvPr>
          <p:cNvSpPr/>
          <p:nvPr/>
        </p:nvSpPr>
        <p:spPr>
          <a:xfrm>
            <a:off x="4445000" y="3784600"/>
            <a:ext cx="3302000" cy="1778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E2C4D52-D520-42BC-2AA8-DC2F97BB345C}"/>
              </a:ext>
            </a:extLst>
          </p:cNvPr>
          <p:cNvSpPr txBox="1"/>
          <p:nvPr/>
        </p:nvSpPr>
        <p:spPr>
          <a:xfrm>
            <a:off x="4597400" y="3977789"/>
            <a:ext cx="2997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 </a:t>
            </a:r>
            <a:r>
              <a:rPr lang="en-US" altLang="zh-CN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· </a:t>
            </a:r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预测深度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6B98595-625F-8F03-ABAB-7B51EB22F9C4}"/>
              </a:ext>
            </a:extLst>
          </p:cNvPr>
          <p:cNvSpPr txBox="1"/>
          <p:nvPr/>
        </p:nvSpPr>
        <p:spPr>
          <a:xfrm>
            <a:off x="4597400" y="4602777"/>
            <a:ext cx="2997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195AE245-6428-4114-B5C6-9E54A1F973A3}"/>
              </a:ext>
            </a:extLst>
          </p:cNvPr>
          <p:cNvSpPr/>
          <p:nvPr/>
        </p:nvSpPr>
        <p:spPr>
          <a:xfrm>
            <a:off x="8204200" y="3784600"/>
            <a:ext cx="3302000" cy="1778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D91213D-C186-B080-DC55-F17B4725694B}"/>
              </a:ext>
            </a:extLst>
          </p:cNvPr>
          <p:cNvSpPr txBox="1"/>
          <p:nvPr/>
        </p:nvSpPr>
        <p:spPr>
          <a:xfrm>
            <a:off x="8356600" y="3977789"/>
            <a:ext cx="2997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 </a:t>
            </a:r>
            <a:r>
              <a:rPr lang="en-US" altLang="zh-CN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· </a:t>
            </a:r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新视角渲染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2013D29-500A-A40F-FE4A-DE87A338417F}"/>
              </a:ext>
            </a:extLst>
          </p:cNvPr>
          <p:cNvSpPr txBox="1"/>
          <p:nvPr/>
        </p:nvSpPr>
        <p:spPr>
          <a:xfrm>
            <a:off x="8356600" y="4602777"/>
            <a:ext cx="2997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90EADFF-09A4-29BD-FB8F-867211541C04}"/>
              </a:ext>
            </a:extLst>
          </p:cNvPr>
          <p:cNvSpPr txBox="1"/>
          <p:nvPr/>
        </p:nvSpPr>
        <p:spPr>
          <a:xfrm>
            <a:off x="685800" y="5982258"/>
            <a:ext cx="106680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r>
              <a:rPr lang="zh-CN" altLang="en-US" sz="105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本地真实图片测试；后续补充同一输入对应的深度结果和相同轨迹渲染帧。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12BA68B-9E77-0A3B-66C7-B53232A13200}"/>
              </a:ext>
            </a:extLst>
          </p:cNvPr>
          <p:cNvSpPr/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4E8AA33-5147-BFCB-6C75-7678A86129B1}"/>
              </a:ext>
            </a:extLst>
          </p:cNvPr>
          <p:cNvSpPr txBox="1"/>
          <p:nvPr/>
        </p:nvSpPr>
        <p:spPr>
          <a:xfrm>
            <a:off x="5810250" y="6660550"/>
            <a:ext cx="5715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667C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15</a:t>
            </a:r>
            <a:endParaRPr lang="zh-CN" altLang="en-US" sz="900">
              <a:solidFill>
                <a:srgbClr val="667C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-337">
            <a:extLst>
              <a:ext uri="{FF2B5EF4-FFF2-40B4-BE49-F238E27FC236}">
                <a16:creationId xmlns:a16="http://schemas.microsoft.com/office/drawing/2014/main" id="{D7C8E4DC-11C3-84DE-6996-3C490819753B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95219" lnSpcReduction="10000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 dirty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真实图片复现结果</a:t>
            </a:r>
            <a:endParaRPr sz="285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338">
            <a:extLst>
              <a:ext uri="{FF2B5EF4-FFF2-40B4-BE49-F238E27FC236}">
                <a16:creationId xmlns:a16="http://schemas.microsoft.com/office/drawing/2014/main" id="{BB4631BC-DE99-80FB-1D23-2739CE50201F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75" b="0" dirty="0">
                <a:solidFill>
                  <a:srgbClr val="667C97"/>
                </a:solidFill>
                <a:latin typeface="Arial"/>
                <a:ea typeface="Arial"/>
                <a:cs typeface="Arial"/>
              </a:rPr>
              <a:t>使用自行准备的普通单张照片，对比输入、预测深度与新视角渲染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endParaRPr lang="zh-CN" altLang="en-US" sz="1275" b="0" dirty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9608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>
            <a:extLst>
              <a:ext uri="{FF2B5EF4-FFF2-40B4-BE49-F238E27FC236}">
                <a16:creationId xmlns:a16="http://schemas.microsoft.com/office/drawing/2014/main" id="{1D58C707-9A5F-5B46-36EB-9159163A2ABF}"/>
              </a:ext>
            </a:extLst>
          </p:cNvPr>
          <p:cNvSpPr txBox="1"/>
          <p:nvPr/>
        </p:nvSpPr>
        <p:spPr>
          <a:xfrm>
            <a:off x="628650" y="100819"/>
            <a:ext cx="10001250" cy="464230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r>
              <a:rPr lang="zh-CN" altLang="en-US" sz="285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真实图片问题分析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DC410BB-B24F-BE09-36E9-D10E58CB19C6}"/>
              </a:ext>
            </a:extLst>
          </p:cNvPr>
          <p:cNvSpPr txBox="1"/>
          <p:nvPr/>
        </p:nvSpPr>
        <p:spPr>
          <a:xfrm>
            <a:off x="657860" y="669587"/>
            <a:ext cx="10287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r>
              <a:rPr lang="zh-CN" altLang="en-US" sz="1400">
                <a:solidFill>
                  <a:srgbClr val="667C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对照输入、深度与渲染异常，定位空洞、漂浮和错层的可能来源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380FED7-6228-2AA3-1B13-B70402FBEE5F}"/>
              </a:ext>
            </a:extLst>
          </p:cNvPr>
          <p:cNvSpPr/>
          <p:nvPr/>
        </p:nvSpPr>
        <p:spPr>
          <a:xfrm>
            <a:off x="685800" y="1498600"/>
            <a:ext cx="3175000" cy="2159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2FC049E-C3F1-3AF3-246B-2126A17DA024}"/>
              </a:ext>
            </a:extLst>
          </p:cNvPr>
          <p:cNvSpPr txBox="1"/>
          <p:nvPr/>
        </p:nvSpPr>
        <p:spPr>
          <a:xfrm>
            <a:off x="838200" y="1691789"/>
            <a:ext cx="2870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输入图与标注区域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52CB0F8-5933-450B-A2D2-937D2F3E7793}"/>
              </a:ext>
            </a:extLst>
          </p:cNvPr>
          <p:cNvSpPr txBox="1"/>
          <p:nvPr/>
        </p:nvSpPr>
        <p:spPr>
          <a:xfrm>
            <a:off x="838200" y="2316777"/>
            <a:ext cx="2870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E4978FA5-28EA-80B2-1528-03F6A051F25A}"/>
              </a:ext>
            </a:extLst>
          </p:cNvPr>
          <p:cNvSpPr/>
          <p:nvPr/>
        </p:nvSpPr>
        <p:spPr>
          <a:xfrm>
            <a:off x="4508500" y="1498600"/>
            <a:ext cx="3175000" cy="2159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61F2121-C476-690F-B4A2-A1E435B03F88}"/>
              </a:ext>
            </a:extLst>
          </p:cNvPr>
          <p:cNvSpPr txBox="1"/>
          <p:nvPr/>
        </p:nvSpPr>
        <p:spPr>
          <a:xfrm>
            <a:off x="4660900" y="1691789"/>
            <a:ext cx="2870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预测深度 </a:t>
            </a:r>
            <a:r>
              <a:rPr lang="en-US" altLang="zh-CN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双层深度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267FADD-E88F-FAE5-7915-18E1034AAC33}"/>
              </a:ext>
            </a:extLst>
          </p:cNvPr>
          <p:cNvSpPr txBox="1"/>
          <p:nvPr/>
        </p:nvSpPr>
        <p:spPr>
          <a:xfrm>
            <a:off x="4660900" y="2316777"/>
            <a:ext cx="2870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AF9CD119-1CEF-D5C6-F3D7-748BCB24FAF3}"/>
              </a:ext>
            </a:extLst>
          </p:cNvPr>
          <p:cNvSpPr/>
          <p:nvPr/>
        </p:nvSpPr>
        <p:spPr>
          <a:xfrm>
            <a:off x="8331200" y="1498600"/>
            <a:ext cx="3175000" cy="215900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82B4E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4B23957-23F2-33B8-2504-A50FC2908BE1}"/>
              </a:ext>
            </a:extLst>
          </p:cNvPr>
          <p:cNvSpPr txBox="1"/>
          <p:nvPr/>
        </p:nvSpPr>
        <p:spPr>
          <a:xfrm>
            <a:off x="8483600" y="1691789"/>
            <a:ext cx="2870200" cy="271869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渲染异常局部放大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784BCC6-317B-9CDD-CAF3-ADB283407B71}"/>
              </a:ext>
            </a:extLst>
          </p:cNvPr>
          <p:cNvSpPr txBox="1"/>
          <p:nvPr/>
        </p:nvSpPr>
        <p:spPr>
          <a:xfrm>
            <a:off x="8483600" y="2316777"/>
            <a:ext cx="28702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图片待补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701B19E-29E2-79A7-F168-AAA1E2F9D0EE}"/>
              </a:ext>
            </a:extLst>
          </p:cNvPr>
          <p:cNvSpPr/>
          <p:nvPr/>
        </p:nvSpPr>
        <p:spPr>
          <a:xfrm>
            <a:off x="685800" y="4140200"/>
            <a:ext cx="2667000" cy="3810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9D71E4E-41B6-4923-3655-863B6859F0B5}"/>
              </a:ext>
            </a:extLst>
          </p:cNvPr>
          <p:cNvSpPr txBox="1"/>
          <p:nvPr/>
        </p:nvSpPr>
        <p:spPr>
          <a:xfrm>
            <a:off x="685800" y="4209077"/>
            <a:ext cx="2667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观察现象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F6CC52C-8790-F699-8C80-19CE8B48396D}"/>
              </a:ext>
            </a:extLst>
          </p:cNvPr>
          <p:cNvSpPr/>
          <p:nvPr/>
        </p:nvSpPr>
        <p:spPr>
          <a:xfrm>
            <a:off x="3352800" y="4140200"/>
            <a:ext cx="4064000" cy="3810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E290CCD-C9D8-E1E8-6586-492A5BF2E902}"/>
              </a:ext>
            </a:extLst>
          </p:cNvPr>
          <p:cNvSpPr txBox="1"/>
          <p:nvPr/>
        </p:nvSpPr>
        <p:spPr>
          <a:xfrm>
            <a:off x="3352800" y="4209077"/>
            <a:ext cx="40640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可能原因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A7656A7-BA04-B789-E925-06165B6DA442}"/>
              </a:ext>
            </a:extLst>
          </p:cNvPr>
          <p:cNvSpPr/>
          <p:nvPr/>
        </p:nvSpPr>
        <p:spPr>
          <a:xfrm>
            <a:off x="7416800" y="4140200"/>
            <a:ext cx="4089400" cy="3810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BCCDF16-4C56-2C38-8192-1F72F3EBCAB7}"/>
              </a:ext>
            </a:extLst>
          </p:cNvPr>
          <p:cNvSpPr txBox="1"/>
          <p:nvPr/>
        </p:nvSpPr>
        <p:spPr>
          <a:xfrm>
            <a:off x="7416800" y="4209077"/>
            <a:ext cx="4089400" cy="241092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验证方式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C5A17B2-47D7-2C73-0D02-3326486C808F}"/>
              </a:ext>
            </a:extLst>
          </p:cNvPr>
          <p:cNvSpPr/>
          <p:nvPr/>
        </p:nvSpPr>
        <p:spPr>
          <a:xfrm>
            <a:off x="685800" y="4521200"/>
            <a:ext cx="2667000" cy="3937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F980A45-2009-2CFE-891E-4366597FDE99}"/>
              </a:ext>
            </a:extLst>
          </p:cNvPr>
          <p:cNvSpPr txBox="1"/>
          <p:nvPr/>
        </p:nvSpPr>
        <p:spPr>
          <a:xfrm>
            <a:off x="736600" y="4610472"/>
            <a:ext cx="2565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 b="1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空洞或拉伸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965F875-9A1F-E97F-F51E-DE356E1C7341}"/>
              </a:ext>
            </a:extLst>
          </p:cNvPr>
          <p:cNvSpPr/>
          <p:nvPr/>
        </p:nvSpPr>
        <p:spPr>
          <a:xfrm>
            <a:off x="3352800" y="4521200"/>
            <a:ext cx="4064000" cy="3937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BE0385D-A849-DB51-F6C2-A2187192CD27}"/>
              </a:ext>
            </a:extLst>
          </p:cNvPr>
          <p:cNvSpPr txBox="1"/>
          <p:nvPr/>
        </p:nvSpPr>
        <p:spPr>
          <a:xfrm>
            <a:off x="3403600" y="4610472"/>
            <a:ext cx="3962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去遮挡区域缺少可靠内容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9A77127-3104-524C-BB89-AB87FC57A60A}"/>
              </a:ext>
            </a:extLst>
          </p:cNvPr>
          <p:cNvSpPr/>
          <p:nvPr/>
        </p:nvSpPr>
        <p:spPr>
          <a:xfrm>
            <a:off x="7416800" y="4521200"/>
            <a:ext cx="4089400" cy="3937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4B6A305-1E11-AA77-1615-DA4847C76372}"/>
              </a:ext>
            </a:extLst>
          </p:cNvPr>
          <p:cNvSpPr txBox="1"/>
          <p:nvPr/>
        </p:nvSpPr>
        <p:spPr>
          <a:xfrm>
            <a:off x="7467600" y="4610472"/>
            <a:ext cx="39878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对照相机轨迹与深度边界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A9915ED-A6EF-A530-80E2-DF28331FD537}"/>
              </a:ext>
            </a:extLst>
          </p:cNvPr>
          <p:cNvSpPr/>
          <p:nvPr/>
        </p:nvSpPr>
        <p:spPr>
          <a:xfrm>
            <a:off x="685800" y="4914900"/>
            <a:ext cx="2667000" cy="393700"/>
          </a:xfrm>
          <a:prstGeom prst="rect">
            <a:avLst/>
          </a:prstGeom>
          <a:solidFill>
            <a:srgbClr val="FFFFFF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DD1EE45-0E4F-C5DF-7199-0E37E7A73742}"/>
              </a:ext>
            </a:extLst>
          </p:cNvPr>
          <p:cNvSpPr txBox="1"/>
          <p:nvPr/>
        </p:nvSpPr>
        <p:spPr>
          <a:xfrm>
            <a:off x="736600" y="5004172"/>
            <a:ext cx="2565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 b="1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漂浮或错层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A7954CB-0C7E-64E6-C44E-EF4ED2A90FE0}"/>
              </a:ext>
            </a:extLst>
          </p:cNvPr>
          <p:cNvSpPr/>
          <p:nvPr/>
        </p:nvSpPr>
        <p:spPr>
          <a:xfrm>
            <a:off x="3352800" y="4914900"/>
            <a:ext cx="4064000" cy="393700"/>
          </a:xfrm>
          <a:prstGeom prst="rect">
            <a:avLst/>
          </a:prstGeom>
          <a:solidFill>
            <a:srgbClr val="FFFFFF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0C217B1-07CB-E0AA-1053-D0121FCE184E}"/>
              </a:ext>
            </a:extLst>
          </p:cNvPr>
          <p:cNvSpPr txBox="1"/>
          <p:nvPr/>
        </p:nvSpPr>
        <p:spPr>
          <a:xfrm>
            <a:off x="3403600" y="5004172"/>
            <a:ext cx="3962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单目深度或第二层结构错误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CD81EA4-5D37-A6D8-0F4A-99FDA7D596E9}"/>
              </a:ext>
            </a:extLst>
          </p:cNvPr>
          <p:cNvSpPr/>
          <p:nvPr/>
        </p:nvSpPr>
        <p:spPr>
          <a:xfrm>
            <a:off x="7416800" y="4914900"/>
            <a:ext cx="4089400" cy="393700"/>
          </a:xfrm>
          <a:prstGeom prst="rect">
            <a:avLst/>
          </a:prstGeom>
          <a:solidFill>
            <a:srgbClr val="FFFFFF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8D341D2-7A6D-3C15-4BE6-94B4029C2699}"/>
              </a:ext>
            </a:extLst>
          </p:cNvPr>
          <p:cNvSpPr txBox="1"/>
          <p:nvPr/>
        </p:nvSpPr>
        <p:spPr>
          <a:xfrm>
            <a:off x="7467600" y="5004172"/>
            <a:ext cx="39878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检查双层深度与</a:t>
            </a:r>
            <a:r>
              <a:rPr lang="en-US" altLang="zh-CN" sz="13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PLY</a:t>
            </a:r>
            <a:endParaRPr lang="zh-CN" altLang="en-US" sz="1300">
              <a:solidFill>
                <a:srgbClr val="101F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C1ABE0B-5CF3-6868-6696-3BC8EB6C9E88}"/>
              </a:ext>
            </a:extLst>
          </p:cNvPr>
          <p:cNvSpPr/>
          <p:nvPr/>
        </p:nvSpPr>
        <p:spPr>
          <a:xfrm>
            <a:off x="685800" y="5308600"/>
            <a:ext cx="2667000" cy="3937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8DBC945-2090-D8CD-5752-787BFE880B4E}"/>
              </a:ext>
            </a:extLst>
          </p:cNvPr>
          <p:cNvSpPr txBox="1"/>
          <p:nvPr/>
        </p:nvSpPr>
        <p:spPr>
          <a:xfrm>
            <a:off x="736600" y="5397872"/>
            <a:ext cx="2565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 b="1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反射 </a:t>
            </a:r>
            <a:r>
              <a:rPr lang="en-US" altLang="zh-CN" sz="1300" b="1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b="1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透明失真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9D90EBB-5E60-C744-A8F8-1A7686D698AD}"/>
              </a:ext>
            </a:extLst>
          </p:cNvPr>
          <p:cNvSpPr/>
          <p:nvPr/>
        </p:nvSpPr>
        <p:spPr>
          <a:xfrm>
            <a:off x="3352800" y="5308600"/>
            <a:ext cx="4064000" cy="3937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04D9DE4-1245-C057-B927-D0DA592009A2}"/>
              </a:ext>
            </a:extLst>
          </p:cNvPr>
          <p:cNvSpPr txBox="1"/>
          <p:nvPr/>
        </p:nvSpPr>
        <p:spPr>
          <a:xfrm>
            <a:off x="3403600" y="5397872"/>
            <a:ext cx="39624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视角相关外观被解释为几何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5928150-9C16-70CB-317C-DFE416967AC7}"/>
              </a:ext>
            </a:extLst>
          </p:cNvPr>
          <p:cNvSpPr/>
          <p:nvPr/>
        </p:nvSpPr>
        <p:spPr>
          <a:xfrm>
            <a:off x="7416800" y="5308600"/>
            <a:ext cx="4089400" cy="3937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CADA43F-B99F-01B5-30F4-465ACF2E3F70}"/>
              </a:ext>
            </a:extLst>
          </p:cNvPr>
          <p:cNvSpPr txBox="1"/>
          <p:nvPr/>
        </p:nvSpPr>
        <p:spPr>
          <a:xfrm>
            <a:off x="7467600" y="5397872"/>
            <a:ext cx="3987800" cy="225703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zh-CN" altLang="en-US" sz="13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比较不同渲染帧与场景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6BB12E6-915D-ABF5-6DEF-3EB2158F616B}"/>
              </a:ext>
            </a:extLst>
          </p:cNvPr>
          <p:cNvSpPr txBox="1"/>
          <p:nvPr/>
        </p:nvSpPr>
        <p:spPr>
          <a:xfrm>
            <a:off x="685800" y="5982258"/>
            <a:ext cx="10668000" cy="187231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r>
              <a:rPr lang="zh-CN" altLang="en-US" sz="105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分析模板：先记录可见现象，再用深度、</a:t>
            </a:r>
            <a:r>
              <a:rPr lang="en-US" altLang="zh-CN" sz="105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PLY</a:t>
            </a:r>
            <a:r>
              <a:rPr lang="zh-CN" altLang="en-US" sz="1050">
                <a:solidFill>
                  <a:srgbClr val="7087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和相机轨迹验证原因；不提前把所有问题归因于网络。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F22C1B8-0565-8D02-6CE9-C98546591F26}"/>
              </a:ext>
            </a:extLst>
          </p:cNvPr>
          <p:cNvSpPr/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B83E965-90E3-388B-60DA-C90BB455F434}"/>
              </a:ext>
            </a:extLst>
          </p:cNvPr>
          <p:cNvSpPr txBox="1"/>
          <p:nvPr/>
        </p:nvSpPr>
        <p:spPr>
          <a:xfrm>
            <a:off x="5810250" y="6660550"/>
            <a:ext cx="5715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ctr"/>
            <a:r>
              <a:rPr lang="en-US" altLang="zh-CN" sz="900">
                <a:solidFill>
                  <a:srgbClr val="667C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16</a:t>
            </a:r>
            <a:endParaRPr lang="zh-CN" altLang="en-US" sz="900">
              <a:solidFill>
                <a:srgbClr val="667C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3522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-375">
            <a:extLst>
              <a:ext uri="{FF2B5EF4-FFF2-40B4-BE49-F238E27FC236}">
                <a16:creationId xmlns:a16="http://schemas.microsoft.com/office/drawing/2014/main" id="{91111B06-8549-4E8A-BE92-3DAA4BA95A58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局限与失败案例</a:t>
            </a:r>
          </a:p>
        </p:txBody>
      </p:sp>
      <p:sp>
        <p:nvSpPr>
          <p:cNvPr id="2" name="text-376">
            <a:extLst>
              <a:ext uri="{FF2B5EF4-FFF2-40B4-BE49-F238E27FC236}">
                <a16:creationId xmlns:a16="http://schemas.microsoft.com/office/drawing/2014/main" id="{D1BA1EFA-6FBB-4C9F-BE5B-192F4EFE7128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主要风险来自单目深度错误、附近视角范围与当前工程实现成本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0196" y="1257300"/>
            <a:ext cx="6055859" cy="3943350"/>
          </a:xfrm>
          <a:prstGeom prst="rect">
            <a:avLst/>
          </a:prstGeom>
        </p:spPr>
      </p:pic>
      <p:sp>
        <p:nvSpPr>
          <p:cNvPr id="4" name="box-377">
            <a:extLst>
              <a:ext uri="{FF2B5EF4-FFF2-40B4-BE49-F238E27FC236}">
                <a16:creationId xmlns:a16="http://schemas.microsoft.com/office/drawing/2014/main" id="{A42D9CD0-2D84-4431-BA8C-E014AD634795}"/>
              </a:ext>
            </a:extLst>
          </p:cNvPr>
          <p:cNvSpPr>
            <a:spLocks noGrp="1"/>
          </p:cNvSpPr>
          <p:nvPr/>
        </p:nvSpPr>
        <p:spPr>
          <a:xfrm>
            <a:off x="7734300" y="1238250"/>
            <a:ext cx="3524250" cy="3886200"/>
          </a:xfrm>
          <a:prstGeom prst="roundRect">
            <a:avLst>
              <a:gd name="adj" fmla="val 1622"/>
            </a:avLst>
          </a:prstGeom>
          <a:solidFill>
            <a:srgbClr val="F7FAFD"/>
          </a:solidFill>
          <a:ln w="9525">
            <a:solidFill>
              <a:srgbClr val="CADCEB"/>
            </a:solidFill>
            <a:prstDash val="solid"/>
          </a:ln>
        </p:spPr>
      </p:sp>
      <p:sp>
        <p:nvSpPr>
          <p:cNvPr id="5" name="text-378">
            <a:extLst>
              <a:ext uri="{FF2B5EF4-FFF2-40B4-BE49-F238E27FC236}">
                <a16:creationId xmlns:a16="http://schemas.microsoft.com/office/drawing/2014/main" id="{BDF34B2F-428D-4EF6-B119-A5625D2EAD89}"/>
              </a:ext>
            </a:extLst>
          </p:cNvPr>
          <p:cNvSpPr>
            <a:spLocks noGrp="1"/>
          </p:cNvSpPr>
          <p:nvPr/>
        </p:nvSpPr>
        <p:spPr>
          <a:xfrm>
            <a:off x="8001000" y="1447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A837"/>
                </a:solidFill>
                <a:latin typeface="Microsoft YaHei"/>
                <a:ea typeface="Microsoft YaHei"/>
                <a:cs typeface="Microsoft YaHei"/>
              </a:rPr>
              <a:t>论文失败场景</a:t>
            </a:r>
          </a:p>
        </p:txBody>
      </p:sp>
      <p:sp>
        <p:nvSpPr>
          <p:cNvPr id="6" name="box-379">
            <a:extLst>
              <a:ext uri="{FF2B5EF4-FFF2-40B4-BE49-F238E27FC236}">
                <a16:creationId xmlns:a16="http://schemas.microsoft.com/office/drawing/2014/main" id="{AE3C07CF-983F-421B-B645-19B360015503}"/>
              </a:ext>
            </a:extLst>
          </p:cNvPr>
          <p:cNvSpPr>
            <a:spLocks noGrp="1"/>
          </p:cNvSpPr>
          <p:nvPr/>
        </p:nvSpPr>
        <p:spPr>
          <a:xfrm>
            <a:off x="8039100" y="196215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7" name="text-380">
            <a:extLst>
              <a:ext uri="{FF2B5EF4-FFF2-40B4-BE49-F238E27FC236}">
                <a16:creationId xmlns:a16="http://schemas.microsoft.com/office/drawing/2014/main" id="{CE0F3590-E7AA-4E59-99F9-4AF1F9D99446}"/>
              </a:ext>
            </a:extLst>
          </p:cNvPr>
          <p:cNvSpPr>
            <a:spLocks noGrp="1"/>
          </p:cNvSpPr>
          <p:nvPr/>
        </p:nvSpPr>
        <p:spPr>
          <a:xfrm>
            <a:off x="8210550" y="188595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微距景深：前后关系误判</a:t>
            </a:r>
          </a:p>
        </p:txBody>
      </p:sp>
      <p:sp>
        <p:nvSpPr>
          <p:cNvPr id="8" name="box-381">
            <a:extLst>
              <a:ext uri="{FF2B5EF4-FFF2-40B4-BE49-F238E27FC236}">
                <a16:creationId xmlns:a16="http://schemas.microsoft.com/office/drawing/2014/main" id="{5C949281-8BB4-4D33-A8B9-FA1FA148E087}"/>
              </a:ext>
            </a:extLst>
          </p:cNvPr>
          <p:cNvSpPr>
            <a:spLocks noGrp="1"/>
          </p:cNvSpPr>
          <p:nvPr/>
        </p:nvSpPr>
        <p:spPr>
          <a:xfrm>
            <a:off x="8039100" y="240030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9" name="text-382">
            <a:extLst>
              <a:ext uri="{FF2B5EF4-FFF2-40B4-BE49-F238E27FC236}">
                <a16:creationId xmlns:a16="http://schemas.microsoft.com/office/drawing/2014/main" id="{970526B3-4E4E-4EBE-9ADE-57B14430283D}"/>
              </a:ext>
            </a:extLst>
          </p:cNvPr>
          <p:cNvSpPr>
            <a:spLocks noGrp="1"/>
          </p:cNvSpPr>
          <p:nvPr/>
        </p:nvSpPr>
        <p:spPr>
          <a:xfrm>
            <a:off x="8210550" y="232410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星空纹理：远景被解释为弯曲表面</a:t>
            </a:r>
          </a:p>
        </p:txBody>
      </p:sp>
      <p:sp>
        <p:nvSpPr>
          <p:cNvPr id="10" name="box-383">
            <a:extLst>
              <a:ext uri="{FF2B5EF4-FFF2-40B4-BE49-F238E27FC236}">
                <a16:creationId xmlns:a16="http://schemas.microsoft.com/office/drawing/2014/main" id="{7C6BE33E-E139-4086-B561-1F0CC040CA6E}"/>
              </a:ext>
            </a:extLst>
          </p:cNvPr>
          <p:cNvSpPr>
            <a:spLocks noGrp="1"/>
          </p:cNvSpPr>
          <p:nvPr/>
        </p:nvSpPr>
        <p:spPr>
          <a:xfrm>
            <a:off x="8039100" y="2838450"/>
            <a:ext cx="76200" cy="76200"/>
          </a:xfrm>
          <a:prstGeom prst="ellipse">
            <a:avLst/>
          </a:prstGeom>
          <a:solidFill>
            <a:srgbClr val="FFA837"/>
          </a:solidFill>
          <a:ln w="0">
            <a:noFill/>
            <a:prstDash val="solid"/>
          </a:ln>
        </p:spPr>
      </p:sp>
      <p:sp>
        <p:nvSpPr>
          <p:cNvPr id="11" name="text-384">
            <a:extLst>
              <a:ext uri="{FF2B5EF4-FFF2-40B4-BE49-F238E27FC236}">
                <a16:creationId xmlns:a16="http://schemas.microsoft.com/office/drawing/2014/main" id="{FB71B776-91F5-41E6-B9EF-7795C94A5833}"/>
              </a:ext>
            </a:extLst>
          </p:cNvPr>
          <p:cNvSpPr>
            <a:spLocks noGrp="1"/>
          </p:cNvSpPr>
          <p:nvPr/>
        </p:nvSpPr>
        <p:spPr>
          <a:xfrm>
            <a:off x="8210550" y="276225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水面反射：反射被解释为远处几何</a:t>
            </a:r>
          </a:p>
        </p:txBody>
      </p:sp>
      <p:sp>
        <p:nvSpPr>
          <p:cNvPr id="12" name="text-385">
            <a:extLst>
              <a:ext uri="{FF2B5EF4-FFF2-40B4-BE49-F238E27FC236}">
                <a16:creationId xmlns:a16="http://schemas.microsoft.com/office/drawing/2014/main" id="{370447C1-0A01-47F1-9934-2A1C015202EC}"/>
              </a:ext>
            </a:extLst>
          </p:cNvPr>
          <p:cNvSpPr>
            <a:spLocks noGrp="1"/>
          </p:cNvSpPr>
          <p:nvPr/>
        </p:nvSpPr>
        <p:spPr>
          <a:xfrm>
            <a:off x="8001000" y="34290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工程约束</a:t>
            </a:r>
          </a:p>
        </p:txBody>
      </p:sp>
      <p:sp>
        <p:nvSpPr>
          <p:cNvPr id="13" name="box-386">
            <a:extLst>
              <a:ext uri="{FF2B5EF4-FFF2-40B4-BE49-F238E27FC236}">
                <a16:creationId xmlns:a16="http://schemas.microsoft.com/office/drawing/2014/main" id="{48C1CDDA-1860-4747-B94B-F66DDBBC0DBA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4" name="text-387">
            <a:extLst>
              <a:ext uri="{FF2B5EF4-FFF2-40B4-BE49-F238E27FC236}">
                <a16:creationId xmlns:a16="http://schemas.microsoft.com/office/drawing/2014/main" id="{368FCF03-02EB-4339-BED3-1EA617D27056}"/>
              </a:ext>
            </a:extLst>
          </p:cNvPr>
          <p:cNvSpPr>
            <a:spLocks noGrp="1"/>
          </p:cNvSpPr>
          <p:nvPr/>
        </p:nvSpPr>
        <p:spPr>
          <a:xfrm>
            <a:off x="8210550" y="38290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702M总参数，约64 MB/场景</a:t>
            </a:r>
          </a:p>
        </p:txBody>
      </p:sp>
      <p:sp>
        <p:nvSpPr>
          <p:cNvPr id="15" name="box-388">
            <a:extLst>
              <a:ext uri="{FF2B5EF4-FFF2-40B4-BE49-F238E27FC236}">
                <a16:creationId xmlns:a16="http://schemas.microsoft.com/office/drawing/2014/main" id="{A3AADB1B-D49D-4808-A54B-BBF5DAE472B8}"/>
              </a:ext>
            </a:extLst>
          </p:cNvPr>
          <p:cNvSpPr>
            <a:spLocks noGrp="1"/>
          </p:cNvSpPr>
          <p:nvPr/>
        </p:nvSpPr>
        <p:spPr>
          <a:xfrm>
            <a:off x="8039100" y="422910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6" name="text-389">
            <a:extLst>
              <a:ext uri="{FF2B5EF4-FFF2-40B4-BE49-F238E27FC236}">
                <a16:creationId xmlns:a16="http://schemas.microsoft.com/office/drawing/2014/main" id="{0FCA7E44-F50E-401B-B538-480278A1F13B}"/>
              </a:ext>
            </a:extLst>
          </p:cNvPr>
          <p:cNvSpPr>
            <a:spLocks noGrp="1"/>
          </p:cNvSpPr>
          <p:nvPr/>
        </p:nvSpPr>
        <p:spPr>
          <a:xfrm>
            <a:off x="8210550" y="415290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CPU float64 SVD后处理</a:t>
            </a:r>
          </a:p>
        </p:txBody>
      </p:sp>
      <p:sp>
        <p:nvSpPr>
          <p:cNvPr id="17" name="box-390">
            <a:extLst>
              <a:ext uri="{FF2B5EF4-FFF2-40B4-BE49-F238E27FC236}">
                <a16:creationId xmlns:a16="http://schemas.microsoft.com/office/drawing/2014/main" id="{02CD194D-0B1F-4426-A429-07FEB3C1603E}"/>
              </a:ext>
            </a:extLst>
          </p:cNvPr>
          <p:cNvSpPr>
            <a:spLocks noGrp="1"/>
          </p:cNvSpPr>
          <p:nvPr/>
        </p:nvSpPr>
        <p:spPr>
          <a:xfrm>
            <a:off x="8039100" y="455295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18" name="text-391">
            <a:extLst>
              <a:ext uri="{FF2B5EF4-FFF2-40B4-BE49-F238E27FC236}">
                <a16:creationId xmlns:a16="http://schemas.microsoft.com/office/drawing/2014/main" id="{C1154023-B61A-4CA2-BBE8-78EAE2E45AC2}"/>
              </a:ext>
            </a:extLst>
          </p:cNvPr>
          <p:cNvSpPr>
            <a:spLocks noGrp="1"/>
          </p:cNvSpPr>
          <p:nvPr/>
        </p:nvSpPr>
        <p:spPr>
          <a:xfrm>
            <a:off x="8210550" y="44767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官方gsplat实现依赖CUDA</a:t>
            </a:r>
          </a:p>
        </p:txBody>
      </p:sp>
      <p:sp>
        <p:nvSpPr>
          <p:cNvPr id="19" name="box-392">
            <a:extLst>
              <a:ext uri="{FF2B5EF4-FFF2-40B4-BE49-F238E27FC236}">
                <a16:creationId xmlns:a16="http://schemas.microsoft.com/office/drawing/2014/main" id="{1FB27070-98F9-45B3-A442-F6B5C7265B16}"/>
              </a:ext>
            </a:extLst>
          </p:cNvPr>
          <p:cNvSpPr>
            <a:spLocks noGrp="1"/>
          </p:cNvSpPr>
          <p:nvPr/>
        </p:nvSpPr>
        <p:spPr>
          <a:xfrm>
            <a:off x="8039100" y="4876800"/>
            <a:ext cx="76200" cy="76200"/>
          </a:xfrm>
          <a:prstGeom prst="ellipse">
            <a:avLst/>
          </a:prstGeom>
          <a:solidFill>
            <a:srgbClr val="0D569A"/>
          </a:solidFill>
          <a:ln w="0">
            <a:noFill/>
            <a:prstDash val="solid"/>
          </a:ln>
        </p:spPr>
      </p:sp>
      <p:sp>
        <p:nvSpPr>
          <p:cNvPr id="20" name="text-393">
            <a:extLst>
              <a:ext uri="{FF2B5EF4-FFF2-40B4-BE49-F238E27FC236}">
                <a16:creationId xmlns:a16="http://schemas.microsoft.com/office/drawing/2014/main" id="{6FDC9CA4-4D68-44CB-8665-4EB31A099CCC}"/>
              </a:ext>
            </a:extLst>
          </p:cNvPr>
          <p:cNvSpPr>
            <a:spLocks noGrp="1"/>
          </p:cNvSpPr>
          <p:nvPr/>
        </p:nvSpPr>
        <p:spPr>
          <a:xfrm>
            <a:off x="8210550" y="480060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主要面向附近视角</a:t>
            </a:r>
          </a:p>
        </p:txBody>
      </p:sp>
      <p:sp>
        <p:nvSpPr>
          <p:cNvPr id="21" name="text-394">
            <a:extLst>
              <a:ext uri="{FF2B5EF4-FFF2-40B4-BE49-F238E27FC236}">
                <a16:creationId xmlns:a16="http://schemas.microsoft.com/office/drawing/2014/main" id="{B3692A59-F02F-431D-AFAB-D118EB717F33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图源：SHARP原论文 Fig.8；参数与工程行为结合论文 Table 3及本地源码整理。</a:t>
            </a:r>
          </a:p>
        </p:txBody>
      </p:sp>
      <p:sp>
        <p:nvSpPr>
          <p:cNvPr id="22" name="box-459">
            <a:extLst>
              <a:ext uri="{FF2B5EF4-FFF2-40B4-BE49-F238E27FC236}">
                <a16:creationId xmlns:a16="http://schemas.microsoft.com/office/drawing/2014/main" id="{47E1B860-EC6B-4AC7-BF12-E64243F000E2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text-460">
            <a:extLst>
              <a:ext uri="{FF2B5EF4-FFF2-40B4-BE49-F238E27FC236}">
                <a16:creationId xmlns:a16="http://schemas.microsoft.com/office/drawing/2014/main" id="{D962A9C2-10E6-4A45-8FA7-ADFEFE9B68BA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17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5858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-395">
            <a:extLst>
              <a:ext uri="{FF2B5EF4-FFF2-40B4-BE49-F238E27FC236}">
                <a16:creationId xmlns:a16="http://schemas.microsoft.com/office/drawing/2014/main" id="{A38DFE98-FCB1-48FE-A732-0B7CEA2DA6C2}"/>
              </a:ext>
            </a:extLst>
          </p:cNvPr>
          <p:cNvSpPr>
            <a:spLocks noGrp="1"/>
          </p:cNvSpPr>
          <p:nvPr/>
        </p:nvSpPr>
        <p:spPr>
          <a:xfrm>
            <a:off x="628650" y="180975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 fontScale="8771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对课题的启发与下一步</a:t>
            </a:r>
          </a:p>
        </p:txBody>
      </p:sp>
      <p:sp>
        <p:nvSpPr>
          <p:cNvPr id="2" name="text-396">
            <a:extLst>
              <a:ext uri="{FF2B5EF4-FFF2-40B4-BE49-F238E27FC236}">
                <a16:creationId xmlns:a16="http://schemas.microsoft.com/office/drawing/2014/main" id="{3C735B7B-C3AF-42F1-B967-B21E9AC850BA}"/>
              </a:ext>
            </a:extLst>
          </p:cNvPr>
          <p:cNvSpPr>
            <a:spLocks noGrp="1"/>
          </p:cNvSpPr>
          <p:nvPr/>
        </p:nvSpPr>
        <p:spPr>
          <a:xfrm>
            <a:off x="657225" y="6381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75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基于真实图片结果定位误差来源，再评估移动端表示成本</a:t>
            </a:r>
            <a:endParaRPr sz="1275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397">
            <a:extLst>
              <a:ext uri="{FF2B5EF4-FFF2-40B4-BE49-F238E27FC236}">
                <a16:creationId xmlns:a16="http://schemas.microsoft.com/office/drawing/2014/main" id="{FE5D9C2B-CB80-4AD6-8C80-E73FA90D2180}"/>
              </a:ext>
            </a:extLst>
          </p:cNvPr>
          <p:cNvSpPr>
            <a:spLocks noGrp="1"/>
          </p:cNvSpPr>
          <p:nvPr/>
        </p:nvSpPr>
        <p:spPr>
          <a:xfrm>
            <a:off x="657225" y="15144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可直接借鉴的设计</a:t>
            </a:r>
          </a:p>
        </p:txBody>
      </p:sp>
      <p:sp>
        <p:nvSpPr>
          <p:cNvPr id="4" name="box-398">
            <a:extLst>
              <a:ext uri="{FF2B5EF4-FFF2-40B4-BE49-F238E27FC236}">
                <a16:creationId xmlns:a16="http://schemas.microsoft.com/office/drawing/2014/main" id="{BE11C2BE-A510-414A-95FD-E8D84150C949}"/>
              </a:ext>
            </a:extLst>
          </p:cNvPr>
          <p:cNvSpPr>
            <a:spLocks noGrp="1"/>
          </p:cNvSpPr>
          <p:nvPr/>
        </p:nvSpPr>
        <p:spPr>
          <a:xfrm>
            <a:off x="657225" y="1971675"/>
            <a:ext cx="3333750" cy="419100"/>
          </a:xfrm>
          <a:prstGeom prst="roundRect">
            <a:avLst>
              <a:gd name="adj" fmla="val 13636"/>
            </a:avLst>
          </a:prstGeom>
          <a:solidFill>
            <a:srgbClr val="F7FAFD"/>
          </a:solidFill>
          <a:ln w="7620">
            <a:solidFill>
              <a:srgbClr val="CADCEB"/>
            </a:solidFill>
            <a:prstDash val="solid"/>
          </a:ln>
        </p:spPr>
      </p:sp>
      <p:sp>
        <p:nvSpPr>
          <p:cNvPr id="5" name="text-399">
            <a:extLst>
              <a:ext uri="{FF2B5EF4-FFF2-40B4-BE49-F238E27FC236}">
                <a16:creationId xmlns:a16="http://schemas.microsoft.com/office/drawing/2014/main" id="{0CB1A81D-EB7E-41D0-8DB8-948AE31DCFFC}"/>
              </a:ext>
            </a:extLst>
          </p:cNvPr>
          <p:cNvSpPr>
            <a:spLocks noGrp="1"/>
          </p:cNvSpPr>
          <p:nvPr/>
        </p:nvSpPr>
        <p:spPr>
          <a:xfrm>
            <a:off x="790575" y="20574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24384D"/>
                </a:solidFill>
                <a:latin typeface="Microsoft YaHei"/>
                <a:ea typeface="Microsoft YaHei"/>
              </a:rPr>
              <a:t>Base + Delta</a:t>
            </a:r>
          </a:p>
        </p:txBody>
      </p:sp>
      <p:sp>
        <p:nvSpPr>
          <p:cNvPr id="6" name="box-400">
            <a:extLst>
              <a:ext uri="{FF2B5EF4-FFF2-40B4-BE49-F238E27FC236}">
                <a16:creationId xmlns:a16="http://schemas.microsoft.com/office/drawing/2014/main" id="{229C4BCA-08FE-437B-9D0D-753FFA9588A7}"/>
              </a:ext>
            </a:extLst>
          </p:cNvPr>
          <p:cNvSpPr>
            <a:spLocks noGrp="1"/>
          </p:cNvSpPr>
          <p:nvPr/>
        </p:nvSpPr>
        <p:spPr>
          <a:xfrm>
            <a:off x="657225" y="2524125"/>
            <a:ext cx="33337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7620">
            <a:solidFill>
              <a:srgbClr val="CADCEB"/>
            </a:solidFill>
            <a:prstDash val="solid"/>
          </a:ln>
        </p:spPr>
      </p:sp>
      <p:sp>
        <p:nvSpPr>
          <p:cNvPr id="7" name="text-401">
            <a:extLst>
              <a:ext uri="{FF2B5EF4-FFF2-40B4-BE49-F238E27FC236}">
                <a16:creationId xmlns:a16="http://schemas.microsoft.com/office/drawing/2014/main" id="{E08C2B2C-5417-4C3D-ABEC-EDB3A8AC136E}"/>
              </a:ext>
            </a:extLst>
          </p:cNvPr>
          <p:cNvSpPr>
            <a:spLocks noGrp="1"/>
          </p:cNvSpPr>
          <p:nvPr/>
        </p:nvSpPr>
        <p:spPr>
          <a:xfrm>
            <a:off x="790575" y="26098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4384D"/>
                </a:solidFill>
                <a:latin typeface="Microsoft YaHei"/>
                <a:ea typeface="Microsoft YaHei"/>
              </a:rPr>
              <a:t>双层深度</a:t>
            </a:r>
            <a:endParaRPr sz="1500" b="1" dirty="0">
              <a:solidFill>
                <a:srgbClr val="24384D"/>
              </a:solidFill>
              <a:latin typeface="Microsoft YaHei"/>
              <a:ea typeface="Microsoft YaHei"/>
            </a:endParaRPr>
          </a:p>
        </p:txBody>
      </p:sp>
      <p:sp>
        <p:nvSpPr>
          <p:cNvPr id="8" name="box-402">
            <a:extLst>
              <a:ext uri="{FF2B5EF4-FFF2-40B4-BE49-F238E27FC236}">
                <a16:creationId xmlns:a16="http://schemas.microsoft.com/office/drawing/2014/main" id="{C5051B14-1A53-45FE-9432-BF5427C990CD}"/>
              </a:ext>
            </a:extLst>
          </p:cNvPr>
          <p:cNvSpPr>
            <a:spLocks noGrp="1"/>
          </p:cNvSpPr>
          <p:nvPr/>
        </p:nvSpPr>
        <p:spPr>
          <a:xfrm>
            <a:off x="657225" y="3076575"/>
            <a:ext cx="3333750" cy="419100"/>
          </a:xfrm>
          <a:prstGeom prst="roundRect">
            <a:avLst>
              <a:gd name="adj" fmla="val 13636"/>
            </a:avLst>
          </a:prstGeom>
          <a:solidFill>
            <a:srgbClr val="F7FAFD"/>
          </a:solidFill>
          <a:ln w="7620">
            <a:solidFill>
              <a:srgbClr val="CADCEB"/>
            </a:solidFill>
            <a:prstDash val="solid"/>
          </a:ln>
        </p:spPr>
      </p:sp>
      <p:sp>
        <p:nvSpPr>
          <p:cNvPr id="9" name="text-403">
            <a:extLst>
              <a:ext uri="{FF2B5EF4-FFF2-40B4-BE49-F238E27FC236}">
                <a16:creationId xmlns:a16="http://schemas.microsoft.com/office/drawing/2014/main" id="{F4E61ACE-F1CA-4F43-9D7C-55A6D63511B1}"/>
              </a:ext>
            </a:extLst>
          </p:cNvPr>
          <p:cNvSpPr>
            <a:spLocks noGrp="1"/>
          </p:cNvSpPr>
          <p:nvPr/>
        </p:nvSpPr>
        <p:spPr>
          <a:xfrm>
            <a:off x="790575" y="31623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训练专用Depth</a:t>
            </a:r>
            <a:r>
              <a:rPr sz="1500" b="1" dirty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 Adjustment</a:t>
            </a:r>
          </a:p>
        </p:txBody>
      </p:sp>
      <p:sp>
        <p:nvSpPr>
          <p:cNvPr id="10" name="box-404">
            <a:extLst>
              <a:ext uri="{FF2B5EF4-FFF2-40B4-BE49-F238E27FC236}">
                <a16:creationId xmlns:a16="http://schemas.microsoft.com/office/drawing/2014/main" id="{D2E4A234-3EC9-4187-9EBD-7B32D62D9C3E}"/>
              </a:ext>
            </a:extLst>
          </p:cNvPr>
          <p:cNvSpPr>
            <a:spLocks noGrp="1"/>
          </p:cNvSpPr>
          <p:nvPr/>
        </p:nvSpPr>
        <p:spPr>
          <a:xfrm>
            <a:off x="657225" y="3629025"/>
            <a:ext cx="33337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7620">
            <a:solidFill>
              <a:srgbClr val="CADCEB"/>
            </a:solidFill>
            <a:prstDash val="solid"/>
          </a:ln>
        </p:spPr>
      </p:sp>
      <p:sp>
        <p:nvSpPr>
          <p:cNvPr id="11" name="text-405">
            <a:extLst>
              <a:ext uri="{FF2B5EF4-FFF2-40B4-BE49-F238E27FC236}">
                <a16:creationId xmlns:a16="http://schemas.microsoft.com/office/drawing/2014/main" id="{07E8CE1D-AFFF-4F67-80A1-B324A373C029}"/>
              </a:ext>
            </a:extLst>
          </p:cNvPr>
          <p:cNvSpPr>
            <a:spLocks noGrp="1"/>
          </p:cNvSpPr>
          <p:nvPr/>
        </p:nvSpPr>
        <p:spPr>
          <a:xfrm>
            <a:off x="790575" y="3714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感知损失</a:t>
            </a:r>
            <a:endParaRPr sz="1500" b="1" dirty="0">
              <a:solidFill>
                <a:srgbClr val="2438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box-406">
            <a:extLst>
              <a:ext uri="{FF2B5EF4-FFF2-40B4-BE49-F238E27FC236}">
                <a16:creationId xmlns:a16="http://schemas.microsoft.com/office/drawing/2014/main" id="{13067EA7-E663-45CD-A0C1-C0A9DDA6E018}"/>
              </a:ext>
            </a:extLst>
          </p:cNvPr>
          <p:cNvSpPr>
            <a:spLocks noGrp="1"/>
          </p:cNvSpPr>
          <p:nvPr/>
        </p:nvSpPr>
        <p:spPr>
          <a:xfrm>
            <a:off x="657225" y="4181475"/>
            <a:ext cx="3333750" cy="419100"/>
          </a:xfrm>
          <a:prstGeom prst="roundRect">
            <a:avLst>
              <a:gd name="adj" fmla="val 13636"/>
            </a:avLst>
          </a:prstGeom>
          <a:solidFill>
            <a:srgbClr val="F7FAFD"/>
          </a:solidFill>
          <a:ln w="7620">
            <a:solidFill>
              <a:srgbClr val="CADCEB"/>
            </a:solidFill>
            <a:prstDash val="solid"/>
          </a:ln>
        </p:spPr>
      </p:sp>
      <p:sp>
        <p:nvSpPr>
          <p:cNvPr id="13" name="text-407">
            <a:extLst>
              <a:ext uri="{FF2B5EF4-FFF2-40B4-BE49-F238E27FC236}">
                <a16:creationId xmlns:a16="http://schemas.microsoft.com/office/drawing/2014/main" id="{734BB432-B82E-40F1-9720-2058E4642452}"/>
              </a:ext>
            </a:extLst>
          </p:cNvPr>
          <p:cNvSpPr>
            <a:spLocks noGrp="1"/>
          </p:cNvSpPr>
          <p:nvPr/>
        </p:nvSpPr>
        <p:spPr>
          <a:xfrm>
            <a:off x="790575" y="42672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rPr>
              <a:t>合成到真实课程学习</a:t>
            </a:r>
            <a:endParaRPr sz="1500" b="1" dirty="0">
              <a:solidFill>
                <a:srgbClr val="2438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arrow-408">
            <a:extLst>
              <a:ext uri="{FF2B5EF4-FFF2-40B4-BE49-F238E27FC236}">
                <a16:creationId xmlns:a16="http://schemas.microsoft.com/office/drawing/2014/main" id="{B51AD27C-1D23-44CB-B69F-E2B1540ECD24}"/>
              </a:ext>
            </a:extLst>
          </p:cNvPr>
          <p:cNvSpPr>
            <a:spLocks noGrp="1"/>
          </p:cNvSpPr>
          <p:nvPr/>
        </p:nvSpPr>
        <p:spPr>
          <a:xfrm>
            <a:off x="4257675" y="3019425"/>
            <a:ext cx="571500" cy="2667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15" name="text-409">
            <a:extLst>
              <a:ext uri="{FF2B5EF4-FFF2-40B4-BE49-F238E27FC236}">
                <a16:creationId xmlns:a16="http://schemas.microsoft.com/office/drawing/2014/main" id="{1CC87CA8-D4D5-47D8-B562-5062E13E2CB7}"/>
              </a:ext>
            </a:extLst>
          </p:cNvPr>
          <p:cNvSpPr>
            <a:spLocks noGrp="1"/>
          </p:cNvSpPr>
          <p:nvPr/>
        </p:nvSpPr>
        <p:spPr>
          <a:xfrm>
            <a:off x="5076825" y="15144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移动端表示路线</a:t>
            </a:r>
            <a:endParaRPr sz="18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box-410">
            <a:extLst>
              <a:ext uri="{FF2B5EF4-FFF2-40B4-BE49-F238E27FC236}">
                <a16:creationId xmlns:a16="http://schemas.microsoft.com/office/drawing/2014/main" id="{E43DC526-CF92-4CA4-B428-B3F07AB03D8C}"/>
              </a:ext>
            </a:extLst>
          </p:cNvPr>
          <p:cNvSpPr>
            <a:spLocks noGrp="1"/>
          </p:cNvSpPr>
          <p:nvPr/>
        </p:nvSpPr>
        <p:spPr>
          <a:xfrm>
            <a:off x="5076825" y="1990725"/>
            <a:ext cx="2857500" cy="1333500"/>
          </a:xfrm>
          <a:prstGeom prst="roundRect">
            <a:avLst>
              <a:gd name="adj" fmla="val 4286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17" name="text-411">
            <a:extLst>
              <a:ext uri="{FF2B5EF4-FFF2-40B4-BE49-F238E27FC236}">
                <a16:creationId xmlns:a16="http://schemas.microsoft.com/office/drawing/2014/main" id="{A786CAA3-86A4-43CD-9744-0EC6246352B5}"/>
              </a:ext>
            </a:extLst>
          </p:cNvPr>
          <p:cNvSpPr>
            <a:spLocks noGrp="1"/>
          </p:cNvSpPr>
          <p:nvPr/>
        </p:nvSpPr>
        <p:spPr>
          <a:xfrm>
            <a:off x="5286375" y="216217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路线 A</a:t>
            </a:r>
          </a:p>
        </p:txBody>
      </p:sp>
      <p:sp>
        <p:nvSpPr>
          <p:cNvPr id="18" name="text-412">
            <a:extLst>
              <a:ext uri="{FF2B5EF4-FFF2-40B4-BE49-F238E27FC236}">
                <a16:creationId xmlns:a16="http://schemas.microsoft.com/office/drawing/2014/main" id="{A624E13E-6163-425E-A284-77A6D5CC4174}"/>
              </a:ext>
            </a:extLst>
          </p:cNvPr>
          <p:cNvSpPr>
            <a:spLocks noGrp="1"/>
          </p:cNvSpPr>
          <p:nvPr/>
        </p:nvSpPr>
        <p:spPr>
          <a:xfrm>
            <a:off x="5267325" y="2486025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9112" lnSpcReduction="10000"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压缩3DGS</a:t>
            </a:r>
          </a:p>
          <a:p>
            <a:pPr algn="ctr">
              <a:lnSpc>
                <a:spcPct val="105000"/>
              </a:lnSpc>
              <a:buNone/>
              <a:defRPr sz="14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Metal / Vulkan / OpenGL ES / WebGPU</a:t>
            </a:r>
          </a:p>
        </p:txBody>
      </p:sp>
      <p:sp>
        <p:nvSpPr>
          <p:cNvPr id="19" name="box-413">
            <a:extLst>
              <a:ext uri="{FF2B5EF4-FFF2-40B4-BE49-F238E27FC236}">
                <a16:creationId xmlns:a16="http://schemas.microsoft.com/office/drawing/2014/main" id="{96F969F9-36C1-4D3A-962B-D9692D843900}"/>
              </a:ext>
            </a:extLst>
          </p:cNvPr>
          <p:cNvSpPr>
            <a:spLocks noGrp="1"/>
          </p:cNvSpPr>
          <p:nvPr/>
        </p:nvSpPr>
        <p:spPr>
          <a:xfrm>
            <a:off x="5076825" y="3552825"/>
            <a:ext cx="2857500" cy="1333500"/>
          </a:xfrm>
          <a:prstGeom prst="roundRect">
            <a:avLst>
              <a:gd name="adj" fmla="val 4286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solid"/>
          </a:ln>
        </p:spPr>
      </p:sp>
      <p:sp>
        <p:nvSpPr>
          <p:cNvPr id="20" name="text-414">
            <a:extLst>
              <a:ext uri="{FF2B5EF4-FFF2-40B4-BE49-F238E27FC236}">
                <a16:creationId xmlns:a16="http://schemas.microsoft.com/office/drawing/2014/main" id="{ECD299FE-2EEA-4502-9C76-6AF01B1FB045}"/>
              </a:ext>
            </a:extLst>
          </p:cNvPr>
          <p:cNvSpPr>
            <a:spLocks noGrp="1"/>
          </p:cNvSpPr>
          <p:nvPr/>
        </p:nvSpPr>
        <p:spPr>
          <a:xfrm>
            <a:off x="5286375" y="372427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路线 B</a:t>
            </a:r>
          </a:p>
        </p:txBody>
      </p:sp>
      <p:sp>
        <p:nvSpPr>
          <p:cNvPr id="21" name="text-415">
            <a:extLst>
              <a:ext uri="{FF2B5EF4-FFF2-40B4-BE49-F238E27FC236}">
                <a16:creationId xmlns:a16="http://schemas.microsoft.com/office/drawing/2014/main" id="{F318F279-3FEC-42C9-97F0-E0C5A426E944}"/>
              </a:ext>
            </a:extLst>
          </p:cNvPr>
          <p:cNvSpPr>
            <a:spLocks noGrp="1"/>
          </p:cNvSpPr>
          <p:nvPr/>
        </p:nvSpPr>
        <p:spPr>
          <a:xfrm>
            <a:off x="5267325" y="405765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蒸馏或转换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Mesh / LDI</a:t>
            </a:r>
          </a:p>
        </p:txBody>
      </p:sp>
      <p:sp>
        <p:nvSpPr>
          <p:cNvPr id="22" name="text-416">
            <a:extLst>
              <a:ext uri="{FF2B5EF4-FFF2-40B4-BE49-F238E27FC236}">
                <a16:creationId xmlns:a16="http://schemas.microsoft.com/office/drawing/2014/main" id="{85C15D7A-6427-4CE3-93ED-066A8C0CFAE1}"/>
              </a:ext>
            </a:extLst>
          </p:cNvPr>
          <p:cNvSpPr>
            <a:spLocks noGrp="1"/>
          </p:cNvSpPr>
          <p:nvPr/>
        </p:nvSpPr>
        <p:spPr>
          <a:xfrm>
            <a:off x="8353425" y="15144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 err="1">
                <a:solidFill>
                  <a:srgbClr val="0D569A"/>
                </a:solidFill>
                <a:latin typeface="Microsoft YaHei"/>
                <a:ea typeface="Microsoft YaHei"/>
              </a:rPr>
              <a:t>下一步实验</a:t>
            </a:r>
            <a:endParaRPr b="1" dirty="0">
              <a:solidFill>
                <a:srgbClr val="0D569A"/>
              </a:solidFill>
              <a:latin typeface="Microsoft YaHei"/>
              <a:ea typeface="Microsoft YaHei"/>
            </a:endParaRPr>
          </a:p>
        </p:txBody>
      </p:sp>
      <p:sp>
        <p:nvSpPr>
          <p:cNvPr id="23" name="box-417">
            <a:extLst>
              <a:ext uri="{FF2B5EF4-FFF2-40B4-BE49-F238E27FC236}">
                <a16:creationId xmlns:a16="http://schemas.microsoft.com/office/drawing/2014/main" id="{903C26FA-1604-412D-918A-C9E657E5C62F}"/>
              </a:ext>
            </a:extLst>
          </p:cNvPr>
          <p:cNvSpPr>
            <a:spLocks noGrp="1"/>
          </p:cNvSpPr>
          <p:nvPr/>
        </p:nvSpPr>
        <p:spPr>
          <a:xfrm>
            <a:off x="8372475" y="1933575"/>
            <a:ext cx="400050" cy="400050"/>
          </a:xfrm>
          <a:prstGeom prst="ellipse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24" name="text-418">
            <a:extLst>
              <a:ext uri="{FF2B5EF4-FFF2-40B4-BE49-F238E27FC236}">
                <a16:creationId xmlns:a16="http://schemas.microsoft.com/office/drawing/2014/main" id="{D2A112F0-A9EC-45F4-A666-1FC48443F499}"/>
              </a:ext>
            </a:extLst>
          </p:cNvPr>
          <p:cNvSpPr>
            <a:spLocks noGrp="1"/>
          </p:cNvSpPr>
          <p:nvPr/>
        </p:nvSpPr>
        <p:spPr>
          <a:xfrm>
            <a:off x="8410575" y="19716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text-419">
            <a:extLst>
              <a:ext uri="{FF2B5EF4-FFF2-40B4-BE49-F238E27FC236}">
                <a16:creationId xmlns:a16="http://schemas.microsoft.com/office/drawing/2014/main" id="{4A247950-253E-4EC1-9F61-26DD4A9509B7}"/>
              </a:ext>
            </a:extLst>
          </p:cNvPr>
          <p:cNvSpPr>
            <a:spLocks noGrp="1"/>
          </p:cNvSpPr>
          <p:nvPr/>
        </p:nvSpPr>
        <p:spPr>
          <a:xfrm>
            <a:off x="8905875" y="1990725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2438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扩充真实图片测试集</a:t>
            </a:r>
            <a:endParaRPr sz="1425" b="0">
              <a:solidFill>
                <a:srgbClr val="24384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6" name="box-420">
            <a:extLst>
              <a:ext uri="{FF2B5EF4-FFF2-40B4-BE49-F238E27FC236}">
                <a16:creationId xmlns:a16="http://schemas.microsoft.com/office/drawing/2014/main" id="{A90B44CA-55E3-416D-AF2B-0A700C04C22B}"/>
              </a:ext>
            </a:extLst>
          </p:cNvPr>
          <p:cNvSpPr>
            <a:spLocks noGrp="1"/>
          </p:cNvSpPr>
          <p:nvPr/>
        </p:nvSpPr>
        <p:spPr>
          <a:xfrm>
            <a:off x="8372475" y="2562225"/>
            <a:ext cx="400050" cy="400050"/>
          </a:xfrm>
          <a:prstGeom prst="ellipse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27" name="text-421">
            <a:extLst>
              <a:ext uri="{FF2B5EF4-FFF2-40B4-BE49-F238E27FC236}">
                <a16:creationId xmlns:a16="http://schemas.microsoft.com/office/drawing/2014/main" id="{F0A97D76-0713-49D0-953D-D575642091A1}"/>
              </a:ext>
            </a:extLst>
          </p:cNvPr>
          <p:cNvSpPr>
            <a:spLocks noGrp="1"/>
          </p:cNvSpPr>
          <p:nvPr/>
        </p:nvSpPr>
        <p:spPr>
          <a:xfrm>
            <a:off x="8410575" y="26003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text-422">
            <a:extLst>
              <a:ext uri="{FF2B5EF4-FFF2-40B4-BE49-F238E27FC236}">
                <a16:creationId xmlns:a16="http://schemas.microsoft.com/office/drawing/2014/main" id="{BB237F5E-BC0F-474F-991E-D0651ED256E3}"/>
              </a:ext>
            </a:extLst>
          </p:cNvPr>
          <p:cNvSpPr>
            <a:spLocks noGrp="1"/>
          </p:cNvSpPr>
          <p:nvPr/>
        </p:nvSpPr>
        <p:spPr>
          <a:xfrm>
            <a:off x="8905875" y="2619375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2438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归纳空洞、漂浮与深度错误</a:t>
            </a:r>
            <a:endParaRPr sz="1425" b="0">
              <a:solidFill>
                <a:srgbClr val="24384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9" name="box-423">
            <a:extLst>
              <a:ext uri="{FF2B5EF4-FFF2-40B4-BE49-F238E27FC236}">
                <a16:creationId xmlns:a16="http://schemas.microsoft.com/office/drawing/2014/main" id="{0CE0B302-0904-4374-BFA9-C8F5E4EB779B}"/>
              </a:ext>
            </a:extLst>
          </p:cNvPr>
          <p:cNvSpPr>
            <a:spLocks noGrp="1"/>
          </p:cNvSpPr>
          <p:nvPr/>
        </p:nvSpPr>
        <p:spPr>
          <a:xfrm>
            <a:off x="8372475" y="3190875"/>
            <a:ext cx="400050" cy="400050"/>
          </a:xfrm>
          <a:prstGeom prst="ellipse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30" name="text-424">
            <a:extLst>
              <a:ext uri="{FF2B5EF4-FFF2-40B4-BE49-F238E27FC236}">
                <a16:creationId xmlns:a16="http://schemas.microsoft.com/office/drawing/2014/main" id="{511CF03C-F4D8-4764-94E3-30F16B24A04A}"/>
              </a:ext>
            </a:extLst>
          </p:cNvPr>
          <p:cNvSpPr>
            <a:spLocks noGrp="1"/>
          </p:cNvSpPr>
          <p:nvPr/>
        </p:nvSpPr>
        <p:spPr>
          <a:xfrm>
            <a:off x="8410575" y="32289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text-425">
            <a:extLst>
              <a:ext uri="{FF2B5EF4-FFF2-40B4-BE49-F238E27FC236}">
                <a16:creationId xmlns:a16="http://schemas.microsoft.com/office/drawing/2014/main" id="{7ADF1F64-475D-4DD4-A027-C588793FA25D}"/>
              </a:ext>
            </a:extLst>
          </p:cNvPr>
          <p:cNvSpPr>
            <a:spLocks noGrp="1"/>
          </p:cNvSpPr>
          <p:nvPr/>
        </p:nvSpPr>
        <p:spPr>
          <a:xfrm>
            <a:off x="8905875" y="3248025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2438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结合深度图与</a:t>
            </a:r>
            <a:r>
              <a:rPr lang="en-US" altLang="zh-CN" sz="1425" b="0">
                <a:solidFill>
                  <a:srgbClr val="2438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PLY</a:t>
            </a:r>
            <a:r>
              <a:rPr lang="zh-CN" altLang="en-US" sz="1425" b="0">
                <a:solidFill>
                  <a:srgbClr val="2438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定位原因</a:t>
            </a:r>
            <a:endParaRPr sz="1425" b="0">
              <a:solidFill>
                <a:srgbClr val="24384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2" name="box-426">
            <a:extLst>
              <a:ext uri="{FF2B5EF4-FFF2-40B4-BE49-F238E27FC236}">
                <a16:creationId xmlns:a16="http://schemas.microsoft.com/office/drawing/2014/main" id="{F2516AE4-C1E0-42CF-8D63-BD1BD3057B90}"/>
              </a:ext>
            </a:extLst>
          </p:cNvPr>
          <p:cNvSpPr>
            <a:spLocks noGrp="1"/>
          </p:cNvSpPr>
          <p:nvPr/>
        </p:nvSpPr>
        <p:spPr>
          <a:xfrm>
            <a:off x="8372475" y="3819525"/>
            <a:ext cx="400050" cy="400050"/>
          </a:xfrm>
          <a:prstGeom prst="ellipse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33" name="text-427">
            <a:extLst>
              <a:ext uri="{FF2B5EF4-FFF2-40B4-BE49-F238E27FC236}">
                <a16:creationId xmlns:a16="http://schemas.microsoft.com/office/drawing/2014/main" id="{687CDC64-C2DB-4839-893E-B554EB4B0586}"/>
              </a:ext>
            </a:extLst>
          </p:cNvPr>
          <p:cNvSpPr>
            <a:spLocks noGrp="1"/>
          </p:cNvSpPr>
          <p:nvPr/>
        </p:nvSpPr>
        <p:spPr>
          <a:xfrm>
            <a:off x="8410575" y="38576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text-428">
            <a:extLst>
              <a:ext uri="{FF2B5EF4-FFF2-40B4-BE49-F238E27FC236}">
                <a16:creationId xmlns:a16="http://schemas.microsoft.com/office/drawing/2014/main" id="{7B9D7DDA-6DD2-4CD2-A5BC-898967D7A1D2}"/>
              </a:ext>
            </a:extLst>
          </p:cNvPr>
          <p:cNvSpPr>
            <a:spLocks noGrp="1"/>
          </p:cNvSpPr>
          <p:nvPr/>
        </p:nvSpPr>
        <p:spPr>
          <a:xfrm>
            <a:off x="8905875" y="3876675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2438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测试裁剪、量化与场景大小</a:t>
            </a:r>
            <a:endParaRPr sz="1425" b="0">
              <a:solidFill>
                <a:srgbClr val="24384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5" name="box-429">
            <a:extLst>
              <a:ext uri="{FF2B5EF4-FFF2-40B4-BE49-F238E27FC236}">
                <a16:creationId xmlns:a16="http://schemas.microsoft.com/office/drawing/2014/main" id="{5DC80A78-891D-44FF-A1E8-ED612B18D1F1}"/>
              </a:ext>
            </a:extLst>
          </p:cNvPr>
          <p:cNvSpPr>
            <a:spLocks noGrp="1"/>
          </p:cNvSpPr>
          <p:nvPr/>
        </p:nvSpPr>
        <p:spPr>
          <a:xfrm>
            <a:off x="8372475" y="4448175"/>
            <a:ext cx="400050" cy="400050"/>
          </a:xfrm>
          <a:prstGeom prst="ellipse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36" name="text-430">
            <a:extLst>
              <a:ext uri="{FF2B5EF4-FFF2-40B4-BE49-F238E27FC236}">
                <a16:creationId xmlns:a16="http://schemas.microsoft.com/office/drawing/2014/main" id="{99CF7CB1-434D-4E66-96D8-CEB6313AC7D8}"/>
              </a:ext>
            </a:extLst>
          </p:cNvPr>
          <p:cNvSpPr>
            <a:spLocks noGrp="1"/>
          </p:cNvSpPr>
          <p:nvPr/>
        </p:nvSpPr>
        <p:spPr>
          <a:xfrm>
            <a:off x="8410575" y="44862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7" name="text-431">
            <a:extLst>
              <a:ext uri="{FF2B5EF4-FFF2-40B4-BE49-F238E27FC236}">
                <a16:creationId xmlns:a16="http://schemas.microsoft.com/office/drawing/2014/main" id="{689451E2-9F1A-4386-AFB8-172F0128150C}"/>
              </a:ext>
            </a:extLst>
          </p:cNvPr>
          <p:cNvSpPr>
            <a:spLocks noGrp="1"/>
          </p:cNvSpPr>
          <p:nvPr/>
        </p:nvSpPr>
        <p:spPr>
          <a:xfrm>
            <a:off x="8905875" y="4505325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24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2438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依据质量与成本选择路线</a:t>
            </a:r>
            <a:endParaRPr sz="1425" b="0">
              <a:solidFill>
                <a:srgbClr val="24384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8" name="text-432">
            <a:extLst>
              <a:ext uri="{FF2B5EF4-FFF2-40B4-BE49-F238E27FC236}">
                <a16:creationId xmlns:a16="http://schemas.microsoft.com/office/drawing/2014/main" id="{A9F77A65-6811-4A3E-8B5C-FD70DD7CC47D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7E91"/>
                </a:solidFill>
                <a:latin typeface="Microsoft YaHei"/>
                <a:ea typeface="Microsoft YaHei"/>
                <a:cs typeface="Microsoft YaHei"/>
              </a:rPr>
              <a:t>判断原则：3DGS表示本身不限定CUDA；移动端可采用轻量3DGS渲染，也可转换为Mesh/LDI。</a:t>
            </a:r>
          </a:p>
        </p:txBody>
      </p:sp>
      <p:sp>
        <p:nvSpPr>
          <p:cNvPr id="39" name="box-461">
            <a:extLst>
              <a:ext uri="{FF2B5EF4-FFF2-40B4-BE49-F238E27FC236}">
                <a16:creationId xmlns:a16="http://schemas.microsoft.com/office/drawing/2014/main" id="{C58D3FFA-D5FD-4206-94B8-8EF80A33B298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0" name="text-462">
            <a:extLst>
              <a:ext uri="{FF2B5EF4-FFF2-40B4-BE49-F238E27FC236}">
                <a16:creationId xmlns:a16="http://schemas.microsoft.com/office/drawing/2014/main" id="{29221E89-17CE-4392-BE7A-662AFDC50891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0">
                <a:solidFill>
                  <a:srgbClr val="667C97"/>
                </a:solidFill>
                <a:latin typeface="Arial"/>
                <a:ea typeface="Arial"/>
                <a:cs typeface="Arial"/>
              </a:rPr>
              <a:t>18</a:t>
            </a:r>
            <a:endParaRPr sz="900" b="0">
              <a:solidFill>
                <a:srgbClr val="667C9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046626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1692</Words>
  <Application>Microsoft Office PowerPoint</Application>
  <DocSecurity>0</DocSecurity>
  <PresentationFormat>宽屏</PresentationFormat>
  <Paragraphs>378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微软雅黑</vt:lpstr>
      <vt:lpstr>微软雅黑</vt:lpstr>
      <vt:lpstr>微软雅黑 Light</vt:lpstr>
      <vt:lpstr>Arial</vt:lpstr>
      <vt:lpstr>Cambria Math</vt:lpstr>
      <vt:lpstr>WPS</vt:lpstr>
      <vt:lpstr>SHARP论文精读、源码复现 与课题启发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7</cp:revision>
  <dcterms:created xsi:type="dcterms:W3CDTF">2026-07-16T07:06:27Z</dcterms:created>
  <dcterms:modified xsi:type="dcterms:W3CDTF">2026-07-16T08:20:00Z</dcterms:modified>
</cp:coreProperties>
</file>