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93.xml" ContentType="application/vnd.openxmlformats-officedocument.presentationml.tags+xml"/>
  <Override PartName="/ppt/notesSlides/notesSlide25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63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2" r:id="rId29"/>
    <p:sldId id="293" r:id="rId30"/>
    <p:sldId id="294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6" r:id="rId41"/>
    <p:sldId id="307" r:id="rId42"/>
    <p:sldId id="308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380" y="68"/>
      </p:cViewPr>
      <p:guideLst>
        <p:guide orient="horz" pos="2143"/>
        <p:guide pos="386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7C6E9-B76F-4EEB-BC0B-74787FB92CC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2026-07-07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4" name="文本占位符 73"/>
          <p:cNvSpPr>
            <a:spLocks noGrp="1"/>
          </p:cNvSpPr>
          <p:nvPr>
            <p:ph type="body" sz="quarter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 anchorCtr="0"/>
          <a:lstStyle>
            <a:lvl1pPr algn="ctr">
              <a:defRPr sz="18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</a:t>
            </a:r>
          </a:p>
        </p:txBody>
      </p:sp>
      <p:sp>
        <p:nvSpPr>
          <p:cNvPr id="76" name="标题 75"/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defRPr sz="44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kumimoji="1" lang="zh-CN" altLang="en-US" dirty="0"/>
              <a:t>编辑标题样式</a:t>
            </a:r>
          </a:p>
        </p:txBody>
      </p:sp>
      <p:sp>
        <p:nvSpPr>
          <p:cNvPr id="79" name="文本占位符 78"/>
          <p:cNvSpPr>
            <a:spLocks noGrp="1"/>
          </p:cNvSpPr>
          <p:nvPr>
            <p:ph type="body" sz="quarter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defRPr sz="20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zh-CN" altLang="en-US" dirty="0"/>
              <a:t>电子信息与通信学院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8" name="直接连接符 23"/>
          <p:cNvCxnSpPr>
            <a:stCxn id="14" idx="2"/>
            <a:endCxn id="15" idx="2"/>
          </p:cNvCxnSpPr>
          <p:nvPr userDrawn="1"/>
        </p:nvCxnSpPr>
        <p:spPr>
          <a:xfrm>
            <a:off x="455647" y="652498"/>
            <a:ext cx="11280706" cy="0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/>
          <p:cNvSpPr txBox="1"/>
          <p:nvPr userDrawn="1"/>
        </p:nvSpPr>
        <p:spPr>
          <a:xfrm>
            <a:off x="3287688" y="284390"/>
            <a:ext cx="5616624" cy="36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kern="1200" dirty="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明德厚学 求是创新</a:t>
            </a:r>
          </a:p>
        </p:txBody>
      </p:sp>
      <p:sp>
        <p:nvSpPr>
          <p:cNvPr id="25" name="文本占位符 78"/>
          <p:cNvSpPr>
            <a:spLocks noGrp="1"/>
          </p:cNvSpPr>
          <p:nvPr>
            <p:ph type="body" sz="quarter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zh-CN" altLang="en-US" dirty="0"/>
              <a:t>编辑副标题</a:t>
            </a:r>
          </a:p>
        </p:txBody>
      </p:sp>
      <p:sp>
        <p:nvSpPr>
          <p:cNvPr id="26" name="文本占位符 78"/>
          <p:cNvSpPr>
            <a:spLocks noGrp="1"/>
          </p:cNvSpPr>
          <p:nvPr>
            <p:ph type="body" sz="quarter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en-US" altLang="zh-CN" dirty="0"/>
              <a:t>xxx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White markers indicate position of  Drawing Guides</a:t>
            </a: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7.40 cm</a:t>
            </a:r>
          </a:p>
          <a:p>
            <a:pPr algn="r">
              <a:spcAft>
                <a:spcPts val="300"/>
              </a:spcAft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2.91 Inches</a:t>
            </a: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6.00 cm</a:t>
            </a: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2.36 Inches</a:t>
            </a: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8.00 cm</a:t>
            </a: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3.15 Inches</a:t>
            </a:r>
          </a:p>
        </p:txBody>
      </p:sp>
      <p:sp>
        <p:nvSpPr>
          <p:cNvPr id="17" name="TextBox 20"/>
          <p:cNvSpPr txBox="1">
            <a:spLocks noChangeArrowheads="1"/>
          </p:cNvSpPr>
          <p:nvPr/>
        </p:nvSpPr>
        <p:spPr bwMode="auto"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</a:t>
            </a: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11.70 cm</a:t>
            </a: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 4.61 inches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0.50 cm </a:t>
            </a: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</a:t>
            </a: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0.2 inches 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22"/>
          <p:cNvSpPr txBox="1">
            <a:spLocks noChangeArrowheads="1"/>
          </p:cNvSpPr>
          <p:nvPr/>
        </p:nvSpPr>
        <p:spPr bwMode="auto"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  <a:buFont typeface="Wingdings" panose="05000000000000000000" pitchFamily="2" charset="2"/>
              <a:buChar char="ß"/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0.50 cm</a:t>
            </a: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 0.2 inches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23"/>
          <p:cNvSpPr txBox="1">
            <a:spLocks noChangeArrowheads="1"/>
          </p:cNvSpPr>
          <p:nvPr/>
        </p:nvSpPr>
        <p:spPr bwMode="auto"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11.70 cm </a:t>
            </a: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 4.61 inches 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/>
          <p:cNvSpPr/>
          <p:nvPr/>
        </p:nvSpPr>
        <p:spPr bwMode="gray">
          <a:xfrm>
            <a:off x="-2055284" y="0"/>
            <a:ext cx="1871133" cy="692497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To view  drawing guides:</a:t>
            </a:r>
          </a:p>
          <a:p>
            <a:pPr>
              <a:defRPr/>
            </a:pPr>
            <a:endParaRPr lang="en-US" sz="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Right-click on slide and select ’Grid and Guides...’</a:t>
            </a: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Check ’Display drawing guides on screen’</a:t>
            </a: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Select ’OK’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5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2000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79705" marR="0" indent="-179705" algn="l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800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358775" marR="0" indent="-179705" algn="l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539750" marR="0" indent="-179705" algn="l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400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114550" indent="-285750">
              <a:buClr>
                <a:schemeClr val="tx2"/>
              </a:buClr>
              <a:buFont typeface="Wingdings" panose="05000000000000000000" pitchFamily="2" charset="2"/>
              <a:buChar char="n"/>
              <a:defRPr lang="zh-CN" altLang="en-US" sz="1400" b="0" i="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单击此处编辑母版文本样式</a:t>
            </a:r>
          </a:p>
          <a:p>
            <a:pPr marL="179705" marR="0" lvl="1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第二级</a:t>
            </a:r>
          </a:p>
          <a:p>
            <a:pPr marL="358775" marR="0" lvl="2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第三级</a:t>
            </a:r>
          </a:p>
          <a:p>
            <a:pPr marL="539750" marR="0" lvl="3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第四级</a:t>
            </a:r>
            <a:endParaRPr kumimoji="1" lang="zh-CN" altLang="en-US" dirty="0"/>
          </a:p>
        </p:txBody>
      </p:sp>
      <p:sp>
        <p:nvSpPr>
          <p:cNvPr id="42" name="矩形 41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6" name="组合 45"/>
          <p:cNvGrpSpPr>
            <a:grpSpLocks noChangeAspect="1"/>
          </p:cNvGrpSpPr>
          <p:nvPr userDrawn="1"/>
        </p:nvGrpSpPr>
        <p:grpSpPr>
          <a:xfrm>
            <a:off x="11036334" y="371250"/>
            <a:ext cx="971869" cy="537470"/>
            <a:chOff x="10728252" y="116959"/>
            <a:chExt cx="1293558" cy="715373"/>
          </a:xfrm>
          <a:solidFill>
            <a:srgbClr val="005BAD"/>
          </a:solidFill>
        </p:grpSpPr>
        <p:sp>
          <p:nvSpPr>
            <p:cNvPr id="47" name="ïSļíḋe"/>
            <p:cNvSpPr/>
            <p:nvPr userDrawn="1"/>
          </p:nvSpPr>
          <p:spPr bwMode="auto">
            <a:xfrm>
              <a:off x="10844646" y="498022"/>
              <a:ext cx="156074" cy="25047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îSḷîḓé"/>
            <p:cNvSpPr/>
            <p:nvPr userDrawn="1"/>
          </p:nvSpPr>
          <p:spPr bwMode="auto">
            <a:xfrm>
              <a:off x="10963687" y="498022"/>
              <a:ext cx="166655" cy="25047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işļïḑê"/>
            <p:cNvSpPr/>
            <p:nvPr userDrawn="1"/>
          </p:nvSpPr>
          <p:spPr bwMode="auto">
            <a:xfrm>
              <a:off x="10937233" y="650019"/>
              <a:ext cx="66134" cy="3211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iṣḷiḑè"/>
            <p:cNvSpPr/>
            <p:nvPr userDrawn="1"/>
          </p:nvSpPr>
          <p:spPr bwMode="auto">
            <a:xfrm>
              <a:off x="11088015" y="498022"/>
              <a:ext cx="158719" cy="25047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ïṣľídè"/>
            <p:cNvSpPr/>
            <p:nvPr userDrawn="1"/>
          </p:nvSpPr>
          <p:spPr bwMode="auto">
            <a:xfrm>
              <a:off x="11207055" y="498022"/>
              <a:ext cx="156074" cy="25047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íSļîḓé"/>
            <p:cNvSpPr/>
            <p:nvPr userDrawn="1"/>
          </p:nvSpPr>
          <p:spPr bwMode="auto">
            <a:xfrm>
              <a:off x="11170020" y="714243"/>
              <a:ext cx="66134" cy="3425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iṩ1ídè"/>
            <p:cNvSpPr/>
            <p:nvPr userDrawn="1"/>
          </p:nvSpPr>
          <p:spPr bwMode="auto">
            <a:xfrm>
              <a:off x="10728252" y="116959"/>
              <a:ext cx="1293558" cy="700044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ïşľíḑé"/>
            <p:cNvSpPr/>
            <p:nvPr userDrawn="1"/>
          </p:nvSpPr>
          <p:spPr bwMode="auto">
            <a:xfrm>
              <a:off x="11561527" y="472332"/>
              <a:ext cx="185172" cy="360000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9" name="日期占位符 135"/>
          <p:cNvSpPr txBox="1"/>
          <p:nvPr userDrawn="1"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dirty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华中科技大学电子信息与通信学院</a:t>
            </a:r>
          </a:p>
        </p:txBody>
      </p:sp>
      <p:sp>
        <p:nvSpPr>
          <p:cNvPr id="60" name="页脚占位符 136"/>
          <p:cNvSpPr txBox="1"/>
          <p:nvPr userDrawn="1"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明德厚学 求是创新</a:t>
            </a:r>
          </a:p>
        </p:txBody>
      </p:sp>
      <p:sp>
        <p:nvSpPr>
          <p:cNvPr id="61" name="Slide Number Placeholder 5"/>
          <p:cNvSpPr txBox="1"/>
          <p:nvPr userDrawn="1"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0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3DA0BB7-265A-403C-9275-D587AB510EDC}" type="slidenum">
              <a:rPr lang="zh-TW" altLang="en-US" b="0" smtClean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TW" altLang="en-US" b="0" dirty="0">
              <a:solidFill>
                <a:srgbClr val="005BAD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2" name="直接连接符 23"/>
          <p:cNvCxnSpPr/>
          <p:nvPr userDrawn="1"/>
        </p:nvCxnSpPr>
        <p:spPr>
          <a:xfrm>
            <a:off x="0" y="908720"/>
            <a:ext cx="12192000" cy="12363"/>
          </a:xfrm>
          <a:prstGeom prst="line">
            <a:avLst/>
          </a:prstGeom>
          <a:noFill/>
          <a:ln w="6350" cap="flat" cmpd="sng" algn="ctr">
            <a:solidFill>
              <a:srgbClr val="005BAD">
                <a:alpha val="80000"/>
              </a:srgbClr>
            </a:solidFill>
            <a:prstDash val="solid"/>
            <a:miter lim="800000"/>
          </a:ln>
          <a:effectLst/>
        </p:spPr>
      </p:cxnSp>
      <p:cxnSp>
        <p:nvCxnSpPr>
          <p:cNvPr id="63" name="直接连接符 23"/>
          <p:cNvCxnSpPr/>
          <p:nvPr userDrawn="1"/>
        </p:nvCxnSpPr>
        <p:spPr>
          <a:xfrm>
            <a:off x="-2381" y="6512981"/>
            <a:ext cx="12192000" cy="12363"/>
          </a:xfrm>
          <a:prstGeom prst="line">
            <a:avLst/>
          </a:prstGeom>
          <a:noFill/>
          <a:ln w="6350" cap="flat" cmpd="sng" algn="ctr">
            <a:solidFill>
              <a:srgbClr val="005BAD">
                <a:alpha val="75000"/>
              </a:srgbClr>
            </a:solidFill>
            <a:prstDash val="solid"/>
            <a:miter lim="800000"/>
          </a:ln>
          <a:effectLst/>
        </p:spPr>
      </p:cxnSp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defRPr sz="28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0" dirty="0"/>
              <a:t>单击此处编辑母版标题样式</a:t>
            </a:r>
            <a:endParaRPr 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2026-07-07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65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3" Type="http://schemas.openxmlformats.org/officeDocument/2006/relationships/tags" Target="../tags/tag71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3" Type="http://schemas.openxmlformats.org/officeDocument/2006/relationships/tags" Target="../tags/tag77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83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9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3" Type="http://schemas.openxmlformats.org/officeDocument/2006/relationships/tags" Target="../tags/tag89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9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3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3" Type="http://schemas.openxmlformats.org/officeDocument/2006/relationships/tags" Target="../tags/tag96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9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3" Type="http://schemas.openxmlformats.org/officeDocument/2006/relationships/tags" Target="../tags/tag102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9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3" Type="http://schemas.openxmlformats.org/officeDocument/2006/relationships/tags" Target="../tags/tag108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9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3" Type="http://schemas.openxmlformats.org/officeDocument/2006/relationships/tags" Target="../tags/tag114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9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3" Type="http://schemas.openxmlformats.org/officeDocument/2006/relationships/tags" Target="../tags/tag120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1764030"/>
            <a:ext cx="9144000" cy="195961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</a:pPr>
            <a:r>
              <a:rPr lang="zh-CN" altLang="en-US" sz="4800" dirty="0">
                <a:sym typeface="+mn-ea"/>
              </a:rPr>
              <a:t>Review of </a:t>
            </a:r>
            <a:r>
              <a:rPr lang="en-US" altLang="zh-CN" sz="4800" dirty="0">
                <a:sym typeface="+mn-ea"/>
              </a:rPr>
              <a:t>ICCV </a:t>
            </a:r>
            <a:r>
              <a:rPr lang="zh-CN" altLang="en-US" sz="4800" dirty="0">
                <a:sym typeface="+mn-ea"/>
              </a:rPr>
              <a:t>2025 Papers on </a:t>
            </a:r>
            <a:r>
              <a:rPr lang="en-US" altLang="zh-CN" sz="4800" dirty="0">
                <a:sym typeface="+mn-ea"/>
              </a:rPr>
              <a:t>3D Gaussian Splatting</a:t>
            </a:r>
          </a:p>
        </p:txBody>
      </p:sp>
      <p:sp>
        <p:nvSpPr>
          <p:cNvPr id="18" name="Shape 1"/>
          <p:cNvSpPr/>
          <p:nvPr/>
        </p:nvSpPr>
        <p:spPr>
          <a:xfrm>
            <a:off x="33356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159760" y="4580255"/>
            <a:ext cx="2531110" cy="43878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zh-CN" altLang="en-US" sz="2000" dirty="0">
                <a:solidFill>
                  <a:schemeClr val="accent1"/>
                </a:solidFill>
              </a:rPr>
              <a:t>汇报人：郭浩杰</a:t>
            </a:r>
          </a:p>
        </p:txBody>
      </p:sp>
      <p:sp>
        <p:nvSpPr>
          <p:cNvPr id="19" name="Shape 1"/>
          <p:cNvSpPr/>
          <p:nvPr/>
        </p:nvSpPr>
        <p:spPr>
          <a:xfrm>
            <a:off x="63074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" name="文本占位符 6"/>
          <p:cNvSpPr>
            <a:spLocks noGrp="1"/>
          </p:cNvSpPr>
          <p:nvPr/>
        </p:nvSpPr>
        <p:spPr>
          <a:xfrm>
            <a:off x="6131560" y="4580255"/>
            <a:ext cx="2531110" cy="4387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accent1"/>
                </a:solidFill>
              </a:rPr>
              <a:t>时间：</a:t>
            </a:r>
            <a:r>
              <a:rPr lang="en-US" altLang="zh-CN" sz="2000" dirty="0">
                <a:solidFill>
                  <a:schemeClr val="accent1"/>
                </a:solidFill>
              </a:rPr>
              <a:t>2025.8.15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1&amp;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32715" y="1219200"/>
            <a:ext cx="1192657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3DGS-LM: Faster Gaussian-Splatting Optimization with Levenberg-Marquardt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2715" y="1773555"/>
            <a:ext cx="10958830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Lukas Hollein, Aljaz Bozic, Michael Zollhofer, Matthias Nie</a:t>
            </a:r>
            <a:r>
              <a:rPr lang="en-US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ß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ner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from Technical University of Munich  and  Meta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2715" y="2707005"/>
            <a:ext cx="11926570" cy="23647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fontAlgn="auto">
              <a:lnSpc>
                <a:spcPct val="10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现有3DGS的优化方法主要聚焦于减少高斯数量、优化渲染、优化稀疏/表面/大尺度重建，但底层优化器仍依赖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Adam算法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迭代效率比较低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受启发：RGB-D融合领域多采用高斯-牛顿法（或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LM法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），收敛速度比SGD快一个数量级。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547995" y="4778375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3425" y="5563870"/>
            <a:ext cx="1072515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提出：①使用</a:t>
            </a:r>
            <a:r>
              <a:rPr lang="en-US" altLang="zh-CN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LM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替代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Adam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优化器，大幅减少优化迭代次数；</a:t>
            </a:r>
          </a:p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②进行高效的</a:t>
            </a:r>
            <a:r>
              <a:rPr lang="en-US" altLang="zh-CN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并行加速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：使用专门的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CUDA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内核与数据缓存结构。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70510" y="1101090"/>
            <a:ext cx="11788775" cy="1430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3DGS Optimization In Two Stages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ts val="358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阶段一仍使用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Adam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完成初始增密化；阶段二使用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改进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LM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：针对更新方程进入迭代，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PCG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获得参数更新方向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Δ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线搜索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寻找最优缩放因子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γ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，并进行自适应正则化调整。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0510" y="2623820"/>
            <a:ext cx="11788775" cy="16344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Efficient Parallelization Scheme For PCG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采用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单像素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单高斯并行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批次加权缓存机制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策略，使每个线程可独立地完成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[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像素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高斯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对的梯度计算，解决了中间状态（像素颜色对高斯的梯度）容易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被大量重复计算的问题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305" y="4678045"/>
            <a:ext cx="4857115" cy="17411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" y="4197985"/>
            <a:ext cx="7329805" cy="2341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66395" y="4850130"/>
            <a:ext cx="11409045" cy="13252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>
              <a:spcAft>
                <a:spcPts val="300"/>
              </a:spcAft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在Tanks&amp;Temples、Deep Blending、MipNeRF-360三大数据集上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，验证了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多个方法＋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LM”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的广泛适用性。</a:t>
            </a:r>
            <a:endParaRPr lang="en-US" altLang="zh-CN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在保持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同等渲染质量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的前提下（指标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PSNR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平均变动幅度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&lt;0.03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SSIM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LPIPS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平均变动幅度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&lt;0.003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平均加速比达到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1.26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×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6395" y="3850005"/>
            <a:ext cx="11152505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图中为第一阶段迭代次数对比。若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Adam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阶段迭代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K=6000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次再用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LM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，比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baseline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要好；若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K=8000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，则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收敛速度更快、效果更好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3011" t="2933"/>
          <a:stretch>
            <a:fillRect/>
          </a:stretch>
        </p:blipFill>
        <p:spPr>
          <a:xfrm>
            <a:off x="0" y="991235"/>
            <a:ext cx="4014470" cy="25317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726" t="3988" r="710" b="-736"/>
          <a:stretch>
            <a:fillRect/>
          </a:stretch>
        </p:blipFill>
        <p:spPr>
          <a:xfrm>
            <a:off x="4014470" y="1032510"/>
            <a:ext cx="8122285" cy="2620645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/>
        </p:nvGraphicFramePr>
        <p:xfrm>
          <a:off x="854075" y="3284220"/>
          <a:ext cx="10483850" cy="0"/>
        </p:xfrm>
        <a:graphic>
          <a:graphicData uri="http://schemas.openxmlformats.org/drawingml/2006/table">
            <a:tbl>
              <a:tblPr/>
              <a:tblGrid>
                <a:gridCol w="2096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6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6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6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6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1100" b="0" i="0">
                          <a:solidFill>
                            <a:srgbClr val="2A2A2A"/>
                          </a:solidFill>
                          <a:latin typeface="-apple-system"/>
                          <a:ea typeface="-apple-system"/>
                        </a:rPr>
                        <a:t>3DGS + LM</a:t>
                      </a:r>
                    </a:p>
                  </a:txBody>
                  <a:tcPr marL="91757" marR="91757" marT="61277" marB="612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1100" b="0" i="0">
                          <a:solidFill>
                            <a:srgbClr val="2A2A2A"/>
                          </a:solidFill>
                          <a:latin typeface="-apple-system"/>
                          <a:ea typeface="-apple-system"/>
                        </a:rPr>
                        <a:t>1.21x</a:t>
                      </a:r>
                    </a:p>
                  </a:txBody>
                  <a:tcPr marL="91757" marR="91757" marT="61277" marB="612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1100" b="0" i="0">
                          <a:solidFill>
                            <a:srgbClr val="2A2A2A"/>
                          </a:solidFill>
                          <a:latin typeface="-apple-system"/>
                          <a:ea typeface="-apple-system"/>
                        </a:rPr>
                        <a:t>+0.02dB</a:t>
                      </a:r>
                    </a:p>
                  </a:txBody>
                  <a:tcPr marL="91757" marR="91757" marT="61277" marB="612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1100" b="0" i="0">
                          <a:solidFill>
                            <a:srgbClr val="2A2A2A"/>
                          </a:solidFill>
                          <a:latin typeface="-apple-system"/>
                          <a:ea typeface="-apple-system"/>
                        </a:rPr>
                        <a:t>+0.001</a:t>
                      </a:r>
                    </a:p>
                  </a:txBody>
                  <a:tcPr marL="91757" marR="91757" marT="61277" marB="612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altLang="zh-CN" sz="1100" b="0" i="0">
                          <a:solidFill>
                            <a:srgbClr val="2A2A2A"/>
                          </a:solidFill>
                          <a:latin typeface="-apple-system"/>
                          <a:ea typeface="-apple-system"/>
                        </a:rPr>
                        <a:t>-0.002</a:t>
                      </a:r>
                    </a:p>
                  </a:txBody>
                  <a:tcPr marL="91757" marR="91757" marT="61277" marB="612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89355" y="2254250"/>
            <a:ext cx="4224020" cy="3046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使所有数据集和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baseline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收敛速度平均提高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逐像素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的计算模式改为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逐像素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逐高斯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，使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Jacobian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向量乘积的计算速度提升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倍。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依赖同等大小的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batch-size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中的多视图约束，该方法收敛速度极快，仅需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5-10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次迭代。</a:t>
            </a: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224020" cy="2676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由于需要缓存，该方法的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内存占用很高，可通过降低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batch-size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来缓解。</a:t>
            </a:r>
            <a:endParaRPr lang="en-US" altLang="zh-CN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第一阶段仍然依赖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Adam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优化器来进行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增密化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，难以直接被仅有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5-10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次的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LM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迭代所优化。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Jabobian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Hessian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估计会依赖密集的多视图，难以稀疏重建。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2&amp;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32715" y="1029335"/>
            <a:ext cx="12059285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RayGaussX: Accelerating Gaussian-Based Ray Marching for Real-Time and High-Quality Novel View Synthesis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2715" y="1835150"/>
            <a:ext cx="10958830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Hugo Blanc, Jean-Emmanuel Deschaud, Alexis Paljic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from Mines Paris, PSL University, Centre for robotics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2715" y="2520315"/>
            <a:ext cx="11926570" cy="27349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fontAlgn="auto">
              <a:lnSpc>
                <a:spcPct val="12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fontAlgn="auto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基于光栅化的方法（如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）速度极快，但存在部分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问题：易产生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popping伪影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；忽略高斯体积；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难以处理复杂相机模型、模拟复杂光路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fontAlgn="auto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RayGauss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达到的基于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RBF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方法中的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SOTA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效果，实现了物理精确性，尽管使用了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BVH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来加速，但在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真实数据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上的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training &amp; rendering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依旧很慢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，同时体积光线积分求解析解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计算量巨大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548630" y="4761865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3425" y="5332730"/>
            <a:ext cx="1072515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希望结合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RayGauss 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的物理正确性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+ 3DGS 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的速度：</a:t>
            </a:r>
          </a:p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增强空域跳过能力</a:t>
            </a:r>
            <a:r>
              <a:rPr lang="zh-CN" altLang="en-US" sz="2400" b="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使用自适应采样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；②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重排</a:t>
            </a:r>
            <a:r>
              <a:rPr lang="en-US" altLang="zh-CN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GS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基元</a:t>
            </a:r>
            <a:r>
              <a:rPr lang="zh-CN" altLang="en-US" sz="2400" b="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提升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并行效率；</a:t>
            </a:r>
          </a:p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③引入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尺度正则化损失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；④使用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新的增密化准则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，提高远景区域细节质量。</a:t>
            </a:r>
          </a:p>
          <a:p>
            <a:pPr marL="0" indent="0" algn="ctr"/>
            <a:endParaRPr lang="zh-CN" altLang="en-US" sz="2400" b="0" i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01930" y="917575"/>
            <a:ext cx="11857355" cy="29533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fontAlgn="auto">
              <a:lnSpc>
                <a:spcPct val="130000"/>
              </a:lnSpc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Empty Space Skipping and 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Adaptive Sampling:</a:t>
            </a:r>
          </a:p>
          <a:p>
            <a:pPr indent="457200" fontAlgn="auto">
              <a:lnSpc>
                <a:spcPct val="105000"/>
              </a:lnSpc>
              <a:spcAft>
                <a:spcPts val="30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首先，用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自适应采样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计算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区间长度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ΔS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ΔS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由恒定的基础采样步长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Δt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、恒定的最多连续基础采样段数量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经过前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i-1个区间后的透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射率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与原点的距离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四个参数共同决定。</a:t>
            </a:r>
          </a:p>
          <a:p>
            <a:pPr indent="457200" fontAlgn="auto">
              <a:lnSpc>
                <a:spcPct val="105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然后，在体积光线行进中采用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增强的空域跳过技术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：利用BVH计算光线与高斯包围盒的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首次交点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跳过初始空域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随后在各区间的行进中，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动态检测是否存在有效高斯图元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（不存在则跳过空域），仅对存在图元的区间进行色彩与透射率累积计算。</a:t>
            </a:r>
            <a:endParaRPr lang="zh-CN" altLang="en-US" sz="2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>
              <a:spcAft>
                <a:spcPts val="300"/>
              </a:spcAft>
            </a:pPr>
            <a:endParaRPr lang="zh-CN" altLang="en-US" sz="2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endParaRPr lang="zh-CN" altLang="en-US" sz="2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40" y="3429000"/>
            <a:ext cx="9293225" cy="3051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01295" y="981075"/>
            <a:ext cx="11788775" cy="11620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Memory Access Efficiency：</a:t>
            </a:r>
          </a:p>
          <a:p>
            <a:pPr>
              <a:spcAft>
                <a:spcPts val="3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Z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-order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曲线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（多维数据映射到一维索引）对高斯中心位置（需归一化、整数化）进行xyz编码＋重排序，进行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空间局部性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优化，将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相邻高斯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的参数分组存储在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连续内存块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中。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1295" y="2142490"/>
            <a:ext cx="11788775" cy="12166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Optimizing Ray Coherence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>
              <a:spcAft>
                <a:spcPts val="3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为了提升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线程的并行效率，需要提高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光线一致性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。由于同一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tile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中的光线通常会采样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相似的区域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，因此将空间相邻光线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按图像的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tiles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来分组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，可减少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warp divergence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开销。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01295" y="3359785"/>
            <a:ext cx="11788775" cy="14973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Limiting Highly Anisotropic Gaussian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>
              <a:spcAft>
                <a:spcPts val="3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针对部分包围盒过大（严重各向异性）的高斯，提出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体积约束比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（设置最大上界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r_max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：旋转使得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xyz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三轴上的投影长度完全相同）及新的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考虑体积比与阈值之间平均差值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损失函数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L_s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，惩罚那些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包围盒体积远大于椭球体积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（r＞10）的高斯，极大提升训练、渲染效率。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01295" y="4857750"/>
            <a:ext cx="11788775" cy="15487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 Novel Densification Criterion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>
              <a:spcAft>
                <a:spcPts val="3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RayGauss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使用世界空间梯度，受深度影响很大（梯度反比于距离），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远处高斯难以被有效增密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。而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RayGaussX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在增密条件公式中，引入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距离归一化因子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α_i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= ∥</a:t>
            </a:r>
            <a:r>
              <a:rPr lang="en-US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µ_l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−o_i∥/ f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，忽略距离带来的径向梯度变化，只考虑切向梯度，将不同距离的梯度按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α=z/f 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归一化到以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为半径的标准球面上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66395" y="5012690"/>
            <a:ext cx="11409045" cy="14408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白背景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合成数据集上，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视觉效果达到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SOTA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，且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FPS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均为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RayGauss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倍。</a:t>
            </a:r>
            <a:endParaRPr lang="en-US" altLang="zh-CN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三大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real-world数据集上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，实现了比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3DGS-based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系列方法更高的渲染质量；与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RayGauss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相比，训练速度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加速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5.4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倍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，渲染速度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FPS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加速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48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倍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。特别地，得益于新的增密化策略，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RayGaussX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户外数据集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上的表现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全面优于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RayGauss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6395" y="4157980"/>
            <a:ext cx="11152505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图中为内存索引方式的效果对比。与默认索引相比，用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Z-order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曲线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优化后，成功地将相似区域高斯放入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连续内存分配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l="1439" t="9172" r="50409" b="2897"/>
          <a:stretch>
            <a:fillRect/>
          </a:stretch>
        </p:blipFill>
        <p:spPr>
          <a:xfrm>
            <a:off x="64770" y="917575"/>
            <a:ext cx="2166620" cy="16192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t="2471" r="2667" b="1216"/>
          <a:stretch>
            <a:fillRect/>
          </a:stretch>
        </p:blipFill>
        <p:spPr>
          <a:xfrm>
            <a:off x="64770" y="2491740"/>
            <a:ext cx="2166620" cy="16529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rcRect l="1505" t="1056" r="1489"/>
          <a:stretch>
            <a:fillRect/>
          </a:stretch>
        </p:blipFill>
        <p:spPr>
          <a:xfrm>
            <a:off x="2231390" y="1139825"/>
            <a:ext cx="3929380" cy="27959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994410"/>
            <a:ext cx="6089015" cy="25800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89355" y="2254250"/>
            <a:ext cx="4224020" cy="2306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通过空域跳过、自适应采样、各向同性损失函数三个策略，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大幅加速 RayGauss。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修复了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远距离增密化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问题，支持大场景的效果显著提升。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引入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Z-order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曲线，优化索引模式，提升内存访问效率。</a:t>
            </a:r>
            <a:endParaRPr lang="en-US" altLang="zh-CN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224020" cy="2306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由于仍需求交点（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BVHClosestHit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开销大）、解析地求射线积分，渲染速度仍然比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慢很多。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每个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gaussian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依旧包括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SG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SH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（为了解析地求体积积分）、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AABB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BVH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包围盒），模型复杂度较高。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3&amp;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32715" y="1029335"/>
            <a:ext cx="12059285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Quadratic Gaussian Splatting: High Quality Surface Reconstruction with Second-order Geometric Primitives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2715" y="1774825"/>
            <a:ext cx="11754485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Ziyu Zhang, Binbin Huang, Hanqing Jiang, Liyang Zhou, Xiaojun Xiang, Shuhan Shen 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from CASIA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UCAS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The University of Hong Kong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SenseTime Research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2715" y="2477135"/>
            <a:ext cx="11926570" cy="23304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fontAlgn="auto">
              <a:lnSpc>
                <a:spcPct val="12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fontAlgn="auto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现有的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改进技术往往侧重高质量的外观渲染，一定程度上忽略了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几何重建精度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在表面重建上，现有方法如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2DGS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平面高斯圆盘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，与物体表面实现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一阶近似对齐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，然而面对高曲率表面时需密集采样，导致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内存爆炸和渲染延迟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fontAlgn="auto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曲面可变形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时，若仍用传统的欧几里得距离来计算密度，会忽略弯曲的表面。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547995" y="4761865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3425" y="5332730"/>
            <a:ext cx="1072515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①使用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抛物面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（椭圆、双曲）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或平面圆盘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作为二次曲面表示，实现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自适应曲率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②使用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测地线距离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来计算表面点的高斯权重，从而沿弯曲表面测量密度。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385" y="4956175"/>
            <a:ext cx="4113530" cy="15328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l="26570" t="4506" r="26599" b="32764"/>
          <a:stretch>
            <a:fillRect/>
          </a:stretch>
        </p:blipFill>
        <p:spPr>
          <a:xfrm>
            <a:off x="894715" y="4920615"/>
            <a:ext cx="2303145" cy="15684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70510" y="1003300"/>
            <a:ext cx="11788775" cy="15227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Quadratic Gaussian Model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定义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隐式二次型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f(x,y,z)=0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，通过合同变换、坐标变换得到一般抛物面形式：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                    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，其中符号函数用于在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不同曲面类型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之间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平滑可微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过渡。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0510" y="2406015"/>
            <a:ext cx="11788775" cy="13881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Gaussian Density Distribution on Quadric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对柱坐标使用曲线积分计算测地线距离，基于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测地线距离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方向标准差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定义密度分布函数：</a:t>
            </a:r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510" y="1856740"/>
            <a:ext cx="4229100" cy="617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025" y="3210560"/>
            <a:ext cx="3452495" cy="5835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1295" y="3758565"/>
            <a:ext cx="11788775" cy="11620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Curvature Guided Normal Consistency：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针对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2DGS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原有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法线一致性损失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易导致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边缘处过于平滑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的问题，引入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曲率图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α-blending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计算得出）作为权重，在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高曲率区域减弱损失惩罚：</a:t>
            </a:r>
            <a:endParaRPr lang="zh-CN" altLang="en-US" sz="2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rcRect l="4603" b="-1897"/>
          <a:stretch>
            <a:fillRect/>
          </a:stretch>
        </p:blipFill>
        <p:spPr>
          <a:xfrm>
            <a:off x="8308340" y="4660265"/>
            <a:ext cx="3877945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66395" y="4787900"/>
            <a:ext cx="11409045" cy="9029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Table2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在真实场景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TNT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数据集上，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F1-Score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达到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0.50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，超越了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2DGS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Geo-NeuS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，追平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N-angelo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（仅用其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1/128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的时间）。即使无多视图正则化损失，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F1-Score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也有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0.46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6395" y="3938905"/>
            <a:ext cx="11152505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在经典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DTU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数据集上，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QGS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0.54mm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Chamfer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距离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刷新记录，较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0.80mm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）提升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33%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，较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GOF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0.74mm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）提升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27%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2534" t="4236" r="2035" b="2581"/>
          <a:stretch>
            <a:fillRect/>
          </a:stretch>
        </p:blipFill>
        <p:spPr>
          <a:xfrm>
            <a:off x="2972435" y="1353185"/>
            <a:ext cx="4786630" cy="2360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3130"/>
            <a:ext cx="1589405" cy="3030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l="4512" r="6153"/>
          <a:stretch>
            <a:fillRect/>
          </a:stretch>
        </p:blipFill>
        <p:spPr>
          <a:xfrm>
            <a:off x="1589405" y="913130"/>
            <a:ext cx="1383030" cy="30257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0965" y="982980"/>
            <a:ext cx="4471035" cy="31019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66395" y="5622290"/>
            <a:ext cx="11152505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图中为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无多视图一致性损失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QGS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Meetingroom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低纹理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区域）与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kitchen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高曲率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区域）上的对比。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QGS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能保留更加精确的几何细节。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89355" y="2254250"/>
            <a:ext cx="4224020" cy="2676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将二次曲面作为基元，更精确地拟合复杂的表面曲率，提供更丰富的几何细节。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使用测地线距离定义高斯密度分布，确保曲面变形时密度权重保持一致性。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解析曲率指导法线一致性损失，解决了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2DGS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在边缘区域的模糊问题。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屏幕空间渲染能力强大，益于新视角合成。</a:t>
            </a: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224020" cy="3046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在户外数据集上的渲染质量较差，白幕伪影较严重。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求测地线距离、曲率等计算较为复杂；高斯有法线、曲率等参数。使训练时间延长。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存在凹曲面，使得包围盒需要的边界判断更复杂；同时测地线逆函数不可闭式求解，需要使用近似多项式估计测地线公式，而近似误差使包围盒变松，降低渲染效率。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4&amp;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32715" y="1029335"/>
            <a:ext cx="993648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RegGS: Unposed Sparse Views Gaussian Splatting with 3DGS Registration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2715" y="1480185"/>
            <a:ext cx="11857355" cy="715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Chong Cheng, Yu Hu, Sicheng Yu, Beizhen Zhao, Zijian Wang, Hao Wang</a:t>
            </a:r>
          </a:p>
          <a:p>
            <a:pPr>
              <a:spcAft>
                <a:spcPts val="300"/>
              </a:spcAft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from The Hong Kong University of Science and Technology (Guangzhou)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2715" y="2200275"/>
            <a:ext cx="11926570" cy="23304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fontAlgn="auto">
              <a:lnSpc>
                <a:spcPct val="12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fontAlgn="auto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传统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NeRF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方法的场景初始化（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colmap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）均需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已知的相机姿态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fontAlgn="auto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其他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NeRF-based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3DGS-based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方法虽然均实现了无姿态重建，但前者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训练缓慢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，且极端视角变化下效果不佳；后者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难以处理稀疏视图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fontAlgn="auto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前馈方法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利用几何先验实现了无姿态重建，但通常只能处理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有限数量的输入图像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868035" y="4535805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57860" y="5240655"/>
            <a:ext cx="1080643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①将前馈方法</a:t>
            </a:r>
            <a:r>
              <a:rPr lang="zh-CN" altLang="en-US" sz="240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初始化的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场景表示为统一的概率分布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GMM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②定义可微的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Gaussian-to-Gaussian </a:t>
            </a:r>
            <a:r>
              <a:rPr lang="en-US" altLang="zh-CN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MW2 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距离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，实现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GMM 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间的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可微对齐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③使用</a:t>
            </a:r>
            <a:r>
              <a:rPr lang="en-US" altLang="zh-CN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MW2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全局对齐损失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、光度损失、深度损失进行联合优化。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10820" y="1003300"/>
            <a:ext cx="11788775" cy="19672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Registration Problem Modeling and aligning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图像经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前馈网络重建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场景后（scale-normalization以保持尺度一致），用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高斯混合模型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GMM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表示成独立的概率分布，再使用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Sim(3)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变换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（包括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R,t,s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）将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场景与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main map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对齐。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0820" y="2383790"/>
            <a:ext cx="11788775" cy="13881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Diffrentiable MW2 Distance Between GMMs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利用运输问题与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Sinkhorn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近似，将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高斯对的W2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距离加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权求和得到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GMM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间的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MW2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距离，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以衡量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GMM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对齐损失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，并提供一个支持Sim(3)对齐的可微梯度优化路径。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1845" t="3243" r="1429" b="2323"/>
          <a:stretch>
            <a:fillRect/>
          </a:stretch>
        </p:blipFill>
        <p:spPr>
          <a:xfrm>
            <a:off x="1076325" y="3611245"/>
            <a:ext cx="10038715" cy="28879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58445" y="4011930"/>
            <a:ext cx="7538085" cy="14351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室内数据集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及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景观航拍数据集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（如表）中，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新视角合成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的质量远胜现有方法，特别是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×视图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main map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场景下，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RegGS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相比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NoPoSplat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PSNR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提升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1.02dB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SSIM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提升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0.021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LPIPS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降低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0.037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58445" y="5243830"/>
            <a:ext cx="11152505" cy="11798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图中为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RE10K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数据集上的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×视图的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相机位姿估计对比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，RegGS的估计轨迹与相机真实轨迹几乎完全重合，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绝对轨迹均方根误差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ATE RSME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）远低于其他方法。在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×视图和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×视图的场景下，相比于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VideoLifter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NoPeNeRF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，实现了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数量级的提升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" y="1255395"/>
            <a:ext cx="7700645" cy="26650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220" y="1020445"/>
            <a:ext cx="4257040" cy="44850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03630" y="2254250"/>
            <a:ext cx="4343400" cy="3415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Colmap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sparse-view 3DGS pipeline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，实现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相机位姿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重建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的联合优化。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极稀疏视图的重建质量仍然较好，相机位姿估计的精度实现突破。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Sinkhorn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算法、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MW2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距离、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Cholesky 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分解都以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batch tensors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实现，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效率极高。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联合优化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MW2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、光度、深度损失，实现了相机姿态和场景结构的渐进式粗到细注册。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224020" cy="3415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仍然依赖上游的前馈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模型的表现，表现差时可能导致注册失败。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随着视图数量的增加，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MW2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距离的计算时间呈平方级增长，远超其他方法；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GPU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存储空间占用也较高。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从视频中采样视图时，大幅度的帧间运动可能导致优化过程发散。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仍然存在少量噪声伪影。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5&amp;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218440" y="1184275"/>
            <a:ext cx="10748010" cy="381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StochasticSplats: Stochastic Rasterization for Sorting-Free 3D Gaussian Splatting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8440" y="1798955"/>
            <a:ext cx="11857355" cy="715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Shakiba Kheradmand, Delio Vicini, George Kopanas, Dmitry Lagun, Kwang Moo Yi2  ...  </a:t>
            </a:r>
          </a:p>
          <a:p>
            <a:pPr>
              <a:spcAft>
                <a:spcPts val="300"/>
              </a:spcAft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from Google DeepMind, University of British Columbia, Google, Runway ML, ...)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8440" y="2590800"/>
            <a:ext cx="11926570" cy="2438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fontAlgn="auto">
              <a:lnSpc>
                <a:spcPct val="12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fontAlgn="auto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S依赖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深度排序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α混合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计算开销巨大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，且相机微小扰动时易产生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popping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伪影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fontAlgn="auto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现有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改进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引入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近似的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非随机方法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来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消除伪影，但都存在代价：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Stopthepop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逐像素排序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EVER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连续体积渲染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计算成本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很高；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Hybrid Transparency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可同时消除伪影、减少计算成本，但由于使用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GPGPU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可移植性较低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868035" y="5106035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1815" y="5814060"/>
            <a:ext cx="110883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/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引入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随机透明度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方法，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使用无偏的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蒙特卡洛估计器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，将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α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混合转化为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多重概率采样。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315" y="4670425"/>
            <a:ext cx="3251200" cy="17856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2219" t="4077" r="2345" b="1912"/>
          <a:stretch>
            <a:fillRect/>
          </a:stretch>
        </p:blipFill>
        <p:spPr>
          <a:xfrm>
            <a:off x="536575" y="4721860"/>
            <a:ext cx="2696210" cy="179006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1440" y="998855"/>
            <a:ext cx="12099925" cy="21539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Stochastic Transparency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15000"/>
              </a:lnSpc>
              <a:spcAft>
                <a:spcPts val="30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对α混合构造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无偏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重要性采样Monte Carlo估计器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P(i)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用于表示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高斯被抽取到且作为最小深度高斯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的概率分布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被定义为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权重项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αi * Π (1-αk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实现零方差估计。将所有接受的高斯中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深度最小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的样本颜色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ci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直接作为采样结果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多样本平均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后得到对原始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alpha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混合的估计。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440" y="3093720"/>
            <a:ext cx="12099925" cy="17449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Gradient Estimator and Path Replay Backprop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由于二元随机采样无法反向传播，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不能对采样过程求导，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因此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对采样路径（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c_i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α_1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至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α_i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）求梯度。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构造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蒙特卡洛梯度估计器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用采样估计梯度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。此外，引入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三阶段路径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replay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，将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∂L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∂θ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​≈(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∂L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∂C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​)*​(∇_θ​[f(i​)]/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P(i))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分为两个不相关样本计算，避免由于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噪声相关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而产生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偏差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4745355"/>
            <a:ext cx="4903470" cy="17106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rcRect l="3779"/>
          <a:stretch>
            <a:fillRect/>
          </a:stretch>
        </p:blipFill>
        <p:spPr>
          <a:xfrm>
            <a:off x="6785610" y="1370965"/>
            <a:ext cx="2409190" cy="603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230" y="3646170"/>
            <a:ext cx="5014595" cy="7943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b="7919"/>
          <a:stretch>
            <a:fillRect/>
          </a:stretch>
        </p:blipFill>
        <p:spPr>
          <a:xfrm>
            <a:off x="6987540" y="2663825"/>
            <a:ext cx="5074285" cy="103378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14960" y="5787390"/>
            <a:ext cx="11152505" cy="6737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表一、表二为前向传播、反向传播时间，当单像素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SPP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较小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时，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StochasticSplats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计算时间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极具竞争力。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14960" y="4221480"/>
            <a:ext cx="11152505" cy="9137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Mip-NeRF360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数据集上，将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StochasticSplats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的不同采样数与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α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混合的渲染质量进行比较。每像素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16SPP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时渲染质量已经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α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混合非常接近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" y="2630170"/>
            <a:ext cx="7094855" cy="16078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53160"/>
            <a:ext cx="7106285" cy="14770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545" y="917575"/>
            <a:ext cx="4403725" cy="185039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14960" y="5135245"/>
            <a:ext cx="11152505" cy="6521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Figure2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该图为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StochasticSplats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语义定位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中的表现，虽然平均准确率下降了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2.3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％，但实现了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×的渲染速度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03630" y="2254250"/>
            <a:ext cx="4343400" cy="3046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单样本随机采样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蒙特卡洛估计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取代排序，显著降低渲染复杂度、提升渲染效率。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实现了可微、可逆渲染的随机梯度估计。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通过改进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Stopthepop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的最大密度面算法，在保持低计算成本的同时消除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popping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伪影。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可轻松调整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性能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质量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间的权衡，如调整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SPP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、引入其他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popping-free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方法、引入完全体积渲染等。</a:t>
            </a: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224020" cy="3046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单像素采样过少（如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次）时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锯齿噪声严重，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渲染质量差；采样过多（如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次）时前向、反向传播的计算时间较长。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蒙特卡洛梯度估计器使得梯度比较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noisy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，收敛速度慢。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三阶段路径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replay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导致渲染次数增多，超过普通渲染的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倍次数。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渲染的质量高度依赖随机性的质量。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6&amp;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218440" y="1128395"/>
            <a:ext cx="10748010" cy="381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ResGS: Residual Densification of 3D Gaussian for Efficient Detail Recovery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8440" y="1737995"/>
            <a:ext cx="11857355" cy="1022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Yanzhe Lyu    Kai Cheng    Xin Kang    Xuejin Chen</a:t>
            </a:r>
          </a:p>
          <a:p>
            <a:pPr>
              <a:spcAft>
                <a:spcPts val="300"/>
              </a:spcAft>
            </a:pP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( from MoE Key Laboratory of Brain-inspired Intelligent Perception and Cognition, University of Science and Technology of China 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8440" y="2808605"/>
            <a:ext cx="11926570" cy="1958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fontAlgn="auto">
              <a:lnSpc>
                <a:spcPct val="12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3DGS的增密策略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（分裂、克隆）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通过固定阈值进行二元选择，难以同时兼顾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几何重建与细节精度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。此外，容易出现大量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相近尺度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的gaussians，产生冗余。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训练早期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，高斯需要同时处理over-reconstruction和under-reconstruction两个问题。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868035" y="4814570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49580" y="5445760"/>
            <a:ext cx="11088370" cy="1050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①结合分裂与克隆，提出</a:t>
            </a:r>
            <a:r>
              <a:rPr lang="en-US" altLang="zh-CN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residual split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策略，避免选择增密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克隆的困境。</a:t>
            </a:r>
          </a:p>
          <a:p>
            <a:pPr indent="0" algn="ctr" fontAlgn="auto">
              <a:lnSpc>
                <a:spcPct val="130000"/>
              </a:lnSpc>
            </a:pP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②引入由粗到精的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渐进式训练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647" t="1398" r="765" b="1996"/>
          <a:stretch>
            <a:fillRect/>
          </a:stretch>
        </p:blipFill>
        <p:spPr>
          <a:xfrm>
            <a:off x="0" y="3716020"/>
            <a:ext cx="9152255" cy="27654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0330" y="979170"/>
            <a:ext cx="12091670" cy="1430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Residual Split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生成小尺度（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λ∈[1.55, 2]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较稳定，代码设为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1.6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下采样高斯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，位置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μ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满足原始高斯的概率分布；并通过系数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β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β∈[0.005, 0.4]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效果较好，代码设置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0.3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降低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原高斯的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不透明度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α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0330" y="2298700"/>
            <a:ext cx="11866245" cy="19424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  <a:buClrTx/>
              <a:buSzTx/>
              <a:buFontTx/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Revolution-Based Stages And Fineness-Based Substages：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buClrTx/>
              <a:buSzTx/>
              <a:buFontTx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将训练分L个阶段，每阶段使用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不同分辨率图像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来监督；每阶段又分K个子阶段，随着子阶段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的推进，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允许的精细层级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不断提升，通过阈值的调整，倾向于增密那些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精细层级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l_i</a:t>
            </a:r>
          </a:p>
          <a:p>
            <a:pPr algn="r">
              <a:lnSpc>
                <a:spcPct val="120000"/>
              </a:lnSpc>
              <a:spcAft>
                <a:spcPts val="300"/>
              </a:spcAft>
              <a:buClrTx/>
              <a:buSzTx/>
              <a:buFontTx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差距大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的高斯。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585" y="4420870"/>
            <a:ext cx="2948940" cy="18472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66395" y="5029835"/>
            <a:ext cx="11409045" cy="9658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Table2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该表为将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Residual Splat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及其他变体，在三大数据集上的平均指标提升，展现了其技术的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延伸通用性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6395" y="4055110"/>
            <a:ext cx="11152505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该表为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ResGS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与其他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GS-based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NeRF-based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方法的指标对比。其中在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Mip-NeRF360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数据集上，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Residual Splat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（基于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AbsGS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达到了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SOTA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效果。而模型的小型版本在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内存优化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上有强大的竞争力。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88060"/>
            <a:ext cx="7992745" cy="2753995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8005445" y="1237615"/>
          <a:ext cx="4168775" cy="2213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4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LPIPS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3DGS+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600"/>
                        <a:t>Resiual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+0.39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-0.002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-20.3%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AbsGS+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600"/>
                        <a:t>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+0.15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-0.003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-4.02%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Pixel-GS+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600"/>
                        <a:t>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+0.15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-0.001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-6.40%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03630" y="2254250"/>
            <a:ext cx="4343400" cy="3415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residual split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实现自适应增密化，同时提升几何重建质量与细节恢复精度（特别是在低纹理平滑区域）。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引入精细层级𝑙𝑖与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coarse-to-fine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渐进式训练，使得训练稳定性进一步提高。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能与多种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 pipelines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结合（如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AbsGS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Pixel-GS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），且性能显著提升。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对随机初始化点云的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robustness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较好。</a:t>
            </a: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369435" cy="3046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Deep Blending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数据集上表现较差：训练早期被强烈下采样（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[H/8, W/8]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）时很难恢复几何结构；未专门处理遮挡错误的问题。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重建质量过于依赖大量超参数（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λ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β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）的调整。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缺少显式正则化：主要靠增密阈值与不透明度的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隐式约束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，损失函数没有直接惩罚项。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7&amp;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81280" y="991870"/>
            <a:ext cx="10748010" cy="3816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AAA-Gaussians: Anti-Aliased and Artifact-Free 3D Gaussian Rendering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1280" y="1447800"/>
            <a:ext cx="11857355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Michael Steiner, Thomas K</a:t>
            </a:r>
            <a:r>
              <a:rPr lang="en-US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ö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hler*  ( from Graz University of Technology, University of Stuttgart, Huawei Technologies 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1280" y="2167255"/>
            <a:ext cx="12110720" cy="2438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fontAlgn="auto">
              <a:lnSpc>
                <a:spcPct val="12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3DGS存在的核心问题：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混叠伪影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(渲染时的采样频率无法表达高频细节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投影误差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由于对非线性透视投影进行的线性化近似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弹出伪影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(由于深度排序、边界计算不稳定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过往工作有：①更精确的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投影或混合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2D/3D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方法，但在边界、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out-of-distribution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时依然会出错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②光线行进替代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splat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，但计算量巨大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 Mip filter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，但无法用于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评估。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868035" y="4605655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1815" y="5123815"/>
            <a:ext cx="11088370" cy="1420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 fontAlgn="auto"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①提出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自适应</a:t>
            </a:r>
            <a:r>
              <a:rPr lang="en-US" altLang="zh-CN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平滑滤波器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，以去除弹出和投影伪影；</a:t>
            </a:r>
          </a:p>
          <a:p>
            <a:pPr indent="0" algn="ctr" fontAlgn="auto"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②提出新的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视图空间边界计算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方法，防止视锥外的高斯弹出；</a:t>
            </a:r>
          </a:p>
          <a:p>
            <a:pPr indent="0" algn="ctr" fontAlgn="auto"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③提出新的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视锥体裁剪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方法，提高计算效率。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2904" t="5538" r="3232" b="3531"/>
          <a:stretch>
            <a:fillRect/>
          </a:stretch>
        </p:blipFill>
        <p:spPr>
          <a:xfrm>
            <a:off x="5328920" y="1322705"/>
            <a:ext cx="1139825" cy="644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600" y="969010"/>
            <a:ext cx="11788775" cy="15227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Adaptive 3D Smoothing Filter to Anti-Aliasing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 smoothing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时用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垂直截面尺度变化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代替总体积变化作为幅度因子，仅对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与视线垂直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的协方差分量进行卷积膨胀，转为低频信息，并给出避免求逆的高效计算方法。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r="1967" b="6185"/>
          <a:stretch>
            <a:fillRect/>
          </a:stretch>
        </p:blipFill>
        <p:spPr>
          <a:xfrm>
            <a:off x="1509395" y="4967605"/>
            <a:ext cx="3983355" cy="15278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rcRect b="2571"/>
          <a:stretch>
            <a:fillRect/>
          </a:stretch>
        </p:blipFill>
        <p:spPr>
          <a:xfrm>
            <a:off x="6468745" y="5033645"/>
            <a:ext cx="4232275" cy="146177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1600" y="3551555"/>
            <a:ext cx="11925935" cy="15665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Frustum-Based Culling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每个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tile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构建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个平面组成的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视锥体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求高斯在视锥体内的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最小马氏距离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加速计算策略：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使用高斯位置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μ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作先验以筛选近平面、变换回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高斯局部空间使得概率密度仅与到原点的欧氏距离有关）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，若仍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大于阈值𝜏𝜌则丢弃该高斯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1600" y="2266950"/>
            <a:ext cx="11990070" cy="12846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Perspective Correct Bounding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弃用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AABB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与在屏幕空间的不稳定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bounding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相机空间求高斯切平面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方向上的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极值角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θ_1,2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φ_1,2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（已给出完整闭式解），投射到屏幕形成紧密边界，并处理特殊情况。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55270" y="4678680"/>
            <a:ext cx="11717655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Table2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该表测试在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广角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(out-of-distribution)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情况下的鲁棒性。在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视场角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Fov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扩大三倍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的前提下，相比于其他方法，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AAA-gaussians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仍然保持高质量的渲染。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5270" y="3413125"/>
            <a:ext cx="7505065" cy="1265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在三大标准数据集上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in-distribution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的表现，基本持平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3DGS-MCMC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的同时，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全面超越其他方法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。优化了视图一致性，同时避免了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依赖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popping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补偿曝光变化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而伪造出的高分指标。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" y="917575"/>
            <a:ext cx="7852410" cy="24142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710" y="989965"/>
            <a:ext cx="3914140" cy="18300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3710" y="2892425"/>
            <a:ext cx="3958590" cy="2103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5270" y="5601335"/>
            <a:ext cx="11454765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Table3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该表测试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Mip-NeRF360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数据集中，在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不同分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辨率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(out-of-distribution)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情况下的鲁棒性。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×分辨率下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AAA-gaussians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3DGS-MCMC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质量基本持平；但在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1/2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×和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×分辨率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下仍然能保持较好的渲染图像质量。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03630" y="2254250"/>
            <a:ext cx="4403725" cy="3046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解决了采样率不匹配导致的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aliasing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、近似投影导致的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popping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，避免了传统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 filter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导致的透明高斯问题，提升渲染图像质量。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提出在相机空间中正确透视的包围盒方法，替代过去的数值平面拟合。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StopThePop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的分层光栅化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Culling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方法，使性能明显提升。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369435" cy="3046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 smoothing filter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使用各向同性高斯来对原高斯卷积，协方差均匀膨胀，这种近似可能会降低渲染质量。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相比过往方法（如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MCMC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），在标准图像（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in-distribution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）上的质量指标没有特别显著的提高。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虽然使用了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hierarchical rasterizer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，但仍然依赖每射线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排序。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8&amp;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203200" y="1137285"/>
            <a:ext cx="10748010" cy="4578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EVER: Exact Volumetric Ellipsoid Rendering for Real-time View Synthesis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3200" y="1696720"/>
            <a:ext cx="11785600" cy="676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Alexander Mai, Peter Hedman, George Kopanas, Dor Verbin, David Futschik, Qiangeng Xu  ( from University of California, Google. work done while at Google 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3200" y="2373630"/>
            <a:ext cx="11785600" cy="30251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fontAlgn="auto">
              <a:lnSpc>
                <a:spcPct val="13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神经体渲染模型使用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真正的体积积分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，渲染质量高，但计算量大，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训练与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渲染很慢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渲染速度快，但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缺乏一致的密度场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，只能做近似体渲染。同时由于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按中心点排序＋不重叠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两条假设的存在，也产生了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popping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不一致性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的问题。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部分工作将高斯引入体渲染框架进行体积积分，如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RayGauss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，却需要数值求积、速度极慢，同时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限制了高斯重叠程度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868035" y="4929505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492885" y="5500370"/>
            <a:ext cx="9206865" cy="958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ctr" fontAlgn="auto"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将场景中的基元表示为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常量密度高斯椭球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，并用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光线追踪双面交点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进行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精确的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基元体积渲染。</a:t>
            </a:r>
            <a:endParaRPr lang="zh-CN" altLang="en-US" sz="2400" b="0" i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ct val="120000"/>
              </a:lnSpc>
            </a:pPr>
            <a:endParaRPr lang="zh-CN" altLang="en-US" sz="2400" b="0" i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l="1327" t="2772" r="1162" b="994"/>
          <a:stretch>
            <a:fillRect/>
          </a:stretch>
        </p:blipFill>
        <p:spPr>
          <a:xfrm>
            <a:off x="4664075" y="4527550"/>
            <a:ext cx="3955415" cy="1972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1605" y="1038225"/>
            <a:ext cx="11905615" cy="17252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Exact Primitive-based Rendering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将场景表示为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恒定密度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（为了获得积分闭式解）椭球集合，通过光线追踪交点精确地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划分存在混合高斯的区间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，区间内密度和、颜色贡献和均累加，到区间外则减去相应高斯的密度、颜色贡献，从而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恢复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ray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上所有区间的确切密度与颜色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，进而进行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解析体积积分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41605" y="2814955"/>
            <a:ext cx="8423275" cy="34982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Optimization：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①若直接优化密度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σ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，当密度不断增加导致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峰值不透明度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接近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时，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梯度会几乎消失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。因此引入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新的可学习参数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α_k∈[0, 1]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，来控制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σ(α_k)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使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最短轴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对应的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峰值不透明度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0.99α_k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②增加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额外的split条件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：沿着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长轴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视角的区间累积不透明度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1−exp(−σi*∆ti) &gt;= 0.99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，若达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到则进行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split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操作。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3408" t="2932" r="1681" b="1828"/>
          <a:stretch>
            <a:fillRect/>
          </a:stretch>
        </p:blipFill>
        <p:spPr>
          <a:xfrm>
            <a:off x="8688705" y="2952115"/>
            <a:ext cx="3409315" cy="336169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55270" y="3819525"/>
            <a:ext cx="11717655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该表展示各数据集上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EVER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的新视角合成质量，其中在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SSIM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LPIPS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指标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上均超越了过往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3DGS-based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方法，特别是在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Zip-NeRF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数据集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，超越了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Zip-NeRF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方法（目前非实时渲染方法的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SOTA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5270" y="5601335"/>
            <a:ext cx="11854180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Table2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该表引入了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StopThePop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popping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数量的指标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FLIP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（扭曲帧与渲染帧间的平均FLIP误差）。相比于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StP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EVER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step=1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时达到了更好的效果，在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step=7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达到了最好的效果，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完全消除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popping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伪影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7575"/>
            <a:ext cx="5774690" cy="29019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915" y="2646045"/>
            <a:ext cx="5922645" cy="11804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t="3859"/>
          <a:stretch>
            <a:fillRect/>
          </a:stretch>
        </p:blipFill>
        <p:spPr>
          <a:xfrm>
            <a:off x="6050915" y="994410"/>
            <a:ext cx="5980430" cy="16770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55270" y="4678680"/>
            <a:ext cx="11907520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该图展示了同一场景下相机运动时捕捉的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极平面图像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，从而可视化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跨视角的颜色、几何一致性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3DGS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StopThePop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在视角移动时均存在明显断层突变，而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EVER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能做到红蓝轨迹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平滑交错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，并实现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正确的颜色混合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紫色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03630" y="2254250"/>
            <a:ext cx="4403725" cy="3415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在实时渲染、物理精确性上达到了平衡。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将精确基元混合与光线追踪（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BVH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加速）结合，完全消除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popping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，实现平滑视角变化。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调整了增密化策略（如增加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split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条件、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split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体积变小的同时密度减半），更加稳定。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相对于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3D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高斯永远平滑的不透明度投影面，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EVER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可通过改变密度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σ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的大小，来调整平滑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尖锐，有利于边缘重建。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369435" cy="3046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训练计算时间比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稍长。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椭球基元数量剧增（如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bicycle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户外场景的高斯数量达到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6m-8m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），内存占用极高。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增密化策略过于依赖启发式，如可学习参数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α_k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对应公式、额外的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split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条件、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radii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的计算（由于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ever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没有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2D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投影半径，需要经验性公式估算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radii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9&amp;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203200" y="1078230"/>
            <a:ext cx="10748010" cy="4578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QuickSplat: Fast 3D Surface Reconstruction via Learned Gaussian Initialization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3200" y="1598295"/>
            <a:ext cx="11785600" cy="715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Yueh-Cheng Liu,  Lukas Hollein,  Matthias Nie</a:t>
            </a:r>
            <a:r>
              <a:rPr lang="en-US" altLang="en-US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ß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ner,  Angela Dai</a:t>
            </a:r>
          </a:p>
          <a:p>
            <a:pPr>
              <a:spcAft>
                <a:spcPts val="300"/>
              </a:spcAft>
            </a:pP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            ( from Technical University of Munich 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3200" y="2313305"/>
            <a:ext cx="11785600" cy="2555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fontAlgn="auto">
              <a:lnSpc>
                <a:spcPct val="13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2DGS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表面重建方法需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对每个场景单独优化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（大量梯度下降迭代），从而降低效率。此外，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大规模场景中难以获取充分多样的视角，使得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高度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依赖观测输入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的表面重建方法容易在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欠观测或无纹理区域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出现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几何缺失或变形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部分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3DGS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优化方法聚焦学习先验知识，用前馈网络进行稀疏重建。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868035" y="4869180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7550" y="5448935"/>
            <a:ext cx="10756900" cy="958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ctr" fontAlgn="auto"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提出学习的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初始化网络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，利用场景先验有效地初始化</a:t>
            </a:r>
            <a:r>
              <a:rPr lang="en-US" altLang="zh-CN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2D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高斯；</a:t>
            </a:r>
          </a:p>
          <a:p>
            <a:pPr indent="0" algn="ctr" fontAlgn="auto"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优化网络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，预测参数的更新向量；用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密集化器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生成新高斯。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680" y="4356100"/>
            <a:ext cx="3030855" cy="21285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325" y="4356100"/>
            <a:ext cx="5628005" cy="21323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880" y="977900"/>
            <a:ext cx="12136120" cy="17633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Initialization Prior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SfM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点云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voxelize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occupied voxel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64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维特征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，作为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稀疏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3D-CNN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encoder-decoder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架构）的输入。对于被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decoder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occupancy head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预测将要增密的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voxel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decoder-MLP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解码为高斯参数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，并作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reparameterization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。以及使用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多项监督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参与训练。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5880" y="2707005"/>
            <a:ext cx="12135485" cy="34620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Densification - Optimization ( jointly training loop)：</a:t>
            </a:r>
          </a:p>
          <a:p>
            <a:pPr indent="0" algn="l" fontAlgn="auto">
              <a:lnSpc>
                <a:spcPct val="110000"/>
              </a:lnSpc>
              <a:spcAft>
                <a:spcPts val="30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MLP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解码高斯参数，计算损失与参数梯度。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循环：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densifier(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需要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梯度信息指导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)预测新高斯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梯度初始化为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0)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occupancy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重要性采样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、与原高斯拼接为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voxel grid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。然后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optimizer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 UNet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，输入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∇Gt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与步数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，输出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预测更新向量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ΔGt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）进行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多步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latent refine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，解</a:t>
            </a:r>
          </a:p>
          <a:p>
            <a:pPr indent="0" algn="r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码为高斯后计算损失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(L_c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</a:p>
          <a:p>
            <a:pPr indent="0" algn="r" fontAlgn="auto">
              <a:lnSpc>
                <a:spcPct val="110000"/>
              </a:lnSpc>
              <a:spcAft>
                <a:spcPts val="30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L_d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L_dist)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，反向传播</a:t>
            </a:r>
          </a:p>
          <a:p>
            <a:pPr indent="0" algn="r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梯度用于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更新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densifier</a:t>
            </a:r>
          </a:p>
          <a:p>
            <a:pPr indent="0" algn="r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optimizer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40" y="1212850"/>
            <a:ext cx="5033010" cy="2663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2086" t="5294" r="1495" b="2973"/>
          <a:stretch>
            <a:fillRect/>
          </a:stretch>
        </p:blipFill>
        <p:spPr>
          <a:xfrm>
            <a:off x="906780" y="2358390"/>
            <a:ext cx="4872355" cy="151828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55270" y="3824605"/>
            <a:ext cx="11717655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该表展示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ScanNet++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室内数据集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表现（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w/opt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表示增加额外的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SGD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迭代，有助于优化细节）。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QuickSplat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的深度误差与精度与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MonoSDF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相当，但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优化速度大幅领先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5270" y="5601335"/>
            <a:ext cx="11854180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Figure2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该图展示了不同方法的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mesh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重建与真实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mesh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的对比。从数据中学习的几何先验在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室内大面积无纹理区域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（如地板、墙面）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上表现十分优异，而其他仅依赖光度误差的方法容易在这些区域产生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曲面、漂浮伪影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55270" y="4678680"/>
            <a:ext cx="11907520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该图为消融实验可视化结果。若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optimizer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仅依赖稀疏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SfM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，无法正确表达表面；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densifier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有助于进一步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增强几何细节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initializer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预测的高斯属性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color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opacity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scale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rotation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越多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，表面重建的质量越好。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988" t="3170" r="934" b="3272"/>
          <a:stretch>
            <a:fillRect/>
          </a:stretch>
        </p:blipFill>
        <p:spPr>
          <a:xfrm>
            <a:off x="323850" y="917575"/>
            <a:ext cx="6037580" cy="1441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640" y="956310"/>
            <a:ext cx="4829810" cy="2178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03630" y="2254250"/>
            <a:ext cx="4403725" cy="3046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通过从数据中学习几何先验，实现更加稳定的初始化，在室内数据集上表现优异。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重要性采样专注于关键区域优化，实现速度与质量的平衡。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用小型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MLP decode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输出高斯参数，有效约束高斯位置、其他参数。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optimizer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meta learning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思想，实现在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latent voxel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中用网络预测下一步优化更新。</a:t>
            </a: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369435" cy="3046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依赖光度误差引导导致难以处理镜面反射，会把镜中影像当成真实几何去拟合，出现噪声与伪影。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voxel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分类的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occupancy head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，若其预测准确性不高，容易导致局部高斯过密。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训练时间长，且无法实时渲染。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标题</a:t>
            </a:r>
            <a:r>
              <a:rPr lang="en-US" altLang="zh-CN" dirty="0"/>
              <a:t>10&amp;</a:t>
            </a:r>
            <a:r>
              <a:rPr lang="zh-CN" altLang="en-US" dirty="0"/>
              <a:t>作者</a:t>
            </a:r>
            <a:r>
              <a:rPr lang="en-US" altLang="zh-CN" dirty="0"/>
              <a:t>&amp;</a:t>
            </a:r>
            <a:r>
              <a:rPr lang="zh-CN" altLang="en-US" dirty="0"/>
              <a:t>动机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32715" y="1160780"/>
            <a:ext cx="1192657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标题：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No Pose at All: Self-Supervised Pose-Free 3D Gaussian Splatting from Sparse Views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2715" y="1717040"/>
            <a:ext cx="1095883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作者：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Ranran Huang, Krystian Mikolajczyk ( from Imperial College London 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2715" y="2273300"/>
            <a:ext cx="11926570" cy="24028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fontAlgn="auto">
              <a:lnSpc>
                <a:spcPct val="10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动机：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传统方法（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pose-required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）依赖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SfM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进行密集视角的精确姿态标注，且计算开销大。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部分无姿态工作（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supervised pose-free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）在训练时仍需输入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GT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姿态来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监督损失优化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342900" indent="-342900" algn="l" fontAlgn="auto">
              <a:lnSpc>
                <a:spcPct val="130000"/>
              </a:lnSpc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一些真正的无姿态工作（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self-supervised pose-free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）却又因将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重建和姿态估计分为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独立模块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，从而容易陷入负反馈循环，几何对齐质量较差。</a:t>
            </a:r>
          </a:p>
        </p:txBody>
      </p:sp>
      <p:sp>
        <p:nvSpPr>
          <p:cNvPr id="8" name="下箭头 7"/>
          <p:cNvSpPr/>
          <p:nvPr/>
        </p:nvSpPr>
        <p:spPr>
          <a:xfrm>
            <a:off x="5867400" y="4703445"/>
            <a:ext cx="455930" cy="631190"/>
          </a:xfrm>
          <a:prstGeom prst="downArrow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351280" y="5361305"/>
            <a:ext cx="9488170" cy="977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>
              <a:lnSpc>
                <a:spcPct val="120000"/>
              </a:lnSpc>
              <a:buClrTx/>
              <a:buSzTx/>
              <a:buNone/>
            </a:pP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提出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SPFSplat框架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训练与推理阶段均无需姿态标注）：</a:t>
            </a:r>
          </a:p>
          <a:p>
            <a:pPr marL="0" algn="ctr">
              <a:lnSpc>
                <a:spcPct val="120000"/>
              </a:lnSpc>
              <a:buClrTx/>
              <a:buSzTx/>
              <a:buNone/>
            </a:pP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同时预测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高斯点和相机姿态，并实现</a:t>
            </a:r>
            <a:r>
              <a:rPr lang="zh-CN" altLang="en-US" sz="2400" b="0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自监督的几何与位姿联合优化</a:t>
            </a:r>
            <a:r>
              <a:rPr lang="zh-CN" altLang="en-US" sz="2400" b="0" i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1647" t="5072" r="489" b="2281"/>
          <a:stretch>
            <a:fillRect/>
          </a:stretch>
        </p:blipFill>
        <p:spPr>
          <a:xfrm>
            <a:off x="1438275" y="4681220"/>
            <a:ext cx="9041765" cy="17830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1605" y="917575"/>
            <a:ext cx="12050395" cy="2212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Pipeline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共享权重的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ViT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架构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decoder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cross-attention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建立跨视角关系）处理多视角输入，输出的特征被并行送入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高斯预测头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pixel-aligned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）和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姿态预测头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（轻量级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MLP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第一个输入视角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作为全局参考坐标系预测相对位姿）。训练时引入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目标视角图片作为分支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，通过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decoder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聚合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context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与自身特征，仅预测相对位姿用于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渲染损失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，实现自监督训练。</a:t>
            </a:r>
            <a:endParaRPr lang="en-US" altLang="zh-CN" sz="2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Method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41605" y="2980690"/>
            <a:ext cx="11950065" cy="17005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Loss Function Setting：</a:t>
            </a:r>
          </a:p>
          <a:p>
            <a:pPr indent="0" fontAlgn="auto"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target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的真实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RGB图像与预测的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相对位姿下渲染合成图像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，设置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渲染损失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（像素级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L2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损失与感知级LPIPS损失）、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重投影误差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（为了约束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pixel-3D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对齐，将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context view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每个像素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对应的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canonical space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高斯中心点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，通过估计的姿态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投影回原视角）。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Experimental Results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55270" y="3794125"/>
            <a:ext cx="11717655" cy="8547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该表展示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新视角合成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任务。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SPFSplat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在所有重叠度（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small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medium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large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）场景下均显著优于过去方法，在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视角重叠度低、弱纹理区域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等情况下的优势更明显。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5270" y="5601335"/>
            <a:ext cx="11854180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Figure1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该图展示模型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跨数据集的泛化能力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，在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RE10K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（室内）训练的模型直接应用于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ACID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户外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DTU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（航拍）数据集，视角合成质量依然远超其他方法。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55270" y="4678680"/>
            <a:ext cx="11907520" cy="9226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Table2</a:t>
            </a:r>
            <a:r>
              <a:rPr lang="zh-CN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</a:p>
          <a:p>
            <a:pPr marL="342900" indent="-342900">
              <a:spcAft>
                <a:spcPts val="300"/>
              </a:spcAft>
              <a:buFont typeface="Wingdings" panose="05000000000000000000" charset="0"/>
              <a:buChar char="n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该表展示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相对位姿的估计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精度，指标为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累计位姿误差曲线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（阈值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°、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°、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°）下的面积，位姿误差取旋转误差和平移误差中的更大值。直接通过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 head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预测出的相对位姿精度，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远超其他依赖几何先验的方法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（如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MASt3R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7575"/>
            <a:ext cx="1098550" cy="28473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50" y="917575"/>
            <a:ext cx="2174875" cy="28473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l="2179"/>
          <a:stretch>
            <a:fillRect/>
          </a:stretch>
        </p:blipFill>
        <p:spPr>
          <a:xfrm>
            <a:off x="3248025" y="917575"/>
            <a:ext cx="3784600" cy="24123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770" y="982980"/>
            <a:ext cx="5264785" cy="244665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521970"/>
          </a:xfrm>
        </p:spPr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Summary</a:t>
            </a:r>
            <a:endParaRPr lang="en-US" dirty="0"/>
          </a:p>
        </p:txBody>
      </p:sp>
      <p:pic>
        <p:nvPicPr>
          <p:cNvPr id="5" name="Image 0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65595" y="1623060"/>
            <a:ext cx="4681855" cy="3897630"/>
          </a:xfrm>
          <a:prstGeom prst="rect">
            <a:avLst/>
          </a:prstGeom>
        </p:spPr>
      </p:pic>
      <p:pic>
        <p:nvPicPr>
          <p:cNvPr id="6" name="Image 1" descr="https://test-kimi-img.moonshot.cn/pub/slides/slides_tmpl/image/25-07-25-14:44:20-d21ifh1ko24jgc4nm1u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0755" y="1623060"/>
            <a:ext cx="4681855" cy="389763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3"/>
            </p:custDataLst>
          </p:nvPr>
        </p:nvSpPr>
        <p:spPr>
          <a:xfrm>
            <a:off x="2372360" y="1800225"/>
            <a:ext cx="18573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Advantages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1"/>
          <p:cNvSpPr/>
          <p:nvPr>
            <p:custDataLst>
              <p:tags r:id="rId4"/>
            </p:custDataLst>
          </p:nvPr>
        </p:nvSpPr>
        <p:spPr>
          <a:xfrm>
            <a:off x="1103630" y="2254250"/>
            <a:ext cx="4403725" cy="3046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实现了稀疏视图下自监督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pose-free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的新视角合成。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通过几何与位姿的联合优化，避免过去分模块单独优化时导致的负反馈循环。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reprojection loss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提供显式几何约束，显著提升训练稳定性与重建质量。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训练时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target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分支不参与高斯重建，推理时完全抛弃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target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分支，避免数据泄露。</a:t>
            </a:r>
          </a:p>
        </p:txBody>
      </p:sp>
      <p:sp>
        <p:nvSpPr>
          <p:cNvPr id="9" name="Text 2"/>
          <p:cNvSpPr/>
          <p:nvPr>
            <p:custDataLst>
              <p:tags r:id="rId5"/>
            </p:custDataLst>
          </p:nvPr>
        </p:nvSpPr>
        <p:spPr>
          <a:xfrm>
            <a:off x="6764655" y="1800225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Limitations</a:t>
            </a:r>
          </a:p>
        </p:txBody>
      </p:sp>
      <p:sp>
        <p:nvSpPr>
          <p:cNvPr id="10" name="Text 3"/>
          <p:cNvSpPr/>
          <p:nvPr>
            <p:custDataLst>
              <p:tags r:id="rId6"/>
            </p:custDataLst>
          </p:nvPr>
        </p:nvSpPr>
        <p:spPr>
          <a:xfrm>
            <a:off x="6764655" y="2254250"/>
            <a:ext cx="4369435" cy="3046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canonical space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固定在第一张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context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视角，容易受到该视角限制（如遮挡等）。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对光照变化大等影响外观一致性的场景仍然敏感。</a:t>
            </a:r>
          </a:p>
          <a:p>
            <a:pPr marL="285750" indent="-285750" algn="just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由于不是生成式方法，因而对看不见的精细纹理区域无法重建。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8*167"/>
  <p:tag name="TABLE_ENDDRAG_RECT" val="630*97*328*16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3.75,&quot;left&quot;:75.65,&quot;top&quot;:91.2,&quot;width&quot;:817.8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6024</Words>
  <Application>Microsoft Office PowerPoint</Application>
  <PresentationFormat>宽屏</PresentationFormat>
  <Paragraphs>351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-apple-system</vt:lpstr>
      <vt:lpstr>等线</vt:lpstr>
      <vt:lpstr>微软雅黑</vt:lpstr>
      <vt:lpstr>微软雅黑 Light</vt:lpstr>
      <vt:lpstr>Arial</vt:lpstr>
      <vt:lpstr>Calibri</vt:lpstr>
      <vt:lpstr>Wingdings</vt:lpstr>
      <vt:lpstr>WPS</vt:lpstr>
      <vt:lpstr>Review of ICCV 2025 Papers on 3D Gaussian Splatting</vt:lpstr>
      <vt:lpstr>标题1&amp;作者&amp;动机</vt:lpstr>
      <vt:lpstr>Method</vt:lpstr>
      <vt:lpstr>Experimental Results</vt:lpstr>
      <vt:lpstr>Summary</vt:lpstr>
      <vt:lpstr>标题2&amp;作者&amp;动机</vt:lpstr>
      <vt:lpstr>Method</vt:lpstr>
      <vt:lpstr>Method</vt:lpstr>
      <vt:lpstr>Experimental Results</vt:lpstr>
      <vt:lpstr>Summary</vt:lpstr>
      <vt:lpstr>标题3&amp;作者&amp;动机</vt:lpstr>
      <vt:lpstr>Method</vt:lpstr>
      <vt:lpstr>Experimental Results</vt:lpstr>
      <vt:lpstr>Summary</vt:lpstr>
      <vt:lpstr>标题4&amp;作者&amp;动机</vt:lpstr>
      <vt:lpstr>Method</vt:lpstr>
      <vt:lpstr>Experimental Results</vt:lpstr>
      <vt:lpstr>Summary</vt:lpstr>
      <vt:lpstr>标题5&amp;作者&amp;动机</vt:lpstr>
      <vt:lpstr>Method</vt:lpstr>
      <vt:lpstr>Experimental Results</vt:lpstr>
      <vt:lpstr>Summary</vt:lpstr>
      <vt:lpstr>标题6&amp;作者&amp;动机</vt:lpstr>
      <vt:lpstr>Method</vt:lpstr>
      <vt:lpstr>Experimental Results</vt:lpstr>
      <vt:lpstr>Summary</vt:lpstr>
      <vt:lpstr>标题7&amp;作者&amp;动机</vt:lpstr>
      <vt:lpstr>Method</vt:lpstr>
      <vt:lpstr>Experimental Results</vt:lpstr>
      <vt:lpstr>Summary</vt:lpstr>
      <vt:lpstr>标题8&amp;作者&amp;动机</vt:lpstr>
      <vt:lpstr>Method</vt:lpstr>
      <vt:lpstr>Experimental Results</vt:lpstr>
      <vt:lpstr>Summary</vt:lpstr>
      <vt:lpstr>标题9&amp;作者&amp;动机</vt:lpstr>
      <vt:lpstr>Method</vt:lpstr>
      <vt:lpstr>Experimental Results</vt:lpstr>
      <vt:lpstr>Summary</vt:lpstr>
      <vt:lpstr>标题10&amp;作者&amp;动机</vt:lpstr>
      <vt:lpstr>Method</vt:lpstr>
      <vt:lpstr>Experimental Results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MCY</dc:creator>
  <cp:lastModifiedBy>辰洋 孟</cp:lastModifiedBy>
  <cp:revision>192</cp:revision>
  <dcterms:created xsi:type="dcterms:W3CDTF">2019-06-19T02:08:00Z</dcterms:created>
  <dcterms:modified xsi:type="dcterms:W3CDTF">2026-07-07T12:49:46Z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60DE83EF02A44C94BD9238CB09B28B06_11</vt:lpwstr>
  </property>
</Properties>
</file>