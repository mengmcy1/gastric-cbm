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151da6b12d4d8f" /><Relationship Type="http://schemas.openxmlformats.org/officeDocument/2006/relationships/extended-properties" Target="/docProps/app.xml" Id="R9a7c367df95c4f2f" /><Relationship Type="http://schemas.openxmlformats.org/officeDocument/2006/relationships/officeDocument" Target="/ppt/presentation.xml" Id="R18a7bc6d826444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3b59f5cb4f49ab"/>
  </p:sldMasterIdLst>
  <p:notesMasterIdLst>
    <p:notesMasterId xmlns:r="http://schemas.openxmlformats.org/officeDocument/2006/relationships" r:id="Rc04d7601d809436c"/>
  </p:notesMasterIdLst>
  <p:sldIdLst>
    <p:sldId xmlns:r="http://schemas.openxmlformats.org/officeDocument/2006/relationships" id="256" r:id="R315630e2316d4187"/>
    <p:sldId xmlns:r="http://schemas.openxmlformats.org/officeDocument/2006/relationships" id="257" r:id="Rb84eeca3c0134d96"/>
    <p:sldId xmlns:r="http://schemas.openxmlformats.org/officeDocument/2006/relationships" id="258" r:id="Re729f55677c84783"/>
    <p:sldId xmlns:r="http://schemas.openxmlformats.org/officeDocument/2006/relationships" id="259" r:id="Rb377e8a758b94986"/>
    <p:sldId xmlns:r="http://schemas.openxmlformats.org/officeDocument/2006/relationships" id="260" r:id="R62721db4f7db49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c936abd7534929" /><Relationship Type="http://schemas.openxmlformats.org/officeDocument/2006/relationships/slideMaster" Target="/ppt/slideMasters/slideMaster1.xml" Id="R4b3b59f5cb4f49ab" /><Relationship Type="http://schemas.openxmlformats.org/officeDocument/2006/relationships/notesMaster" Target="/ppt/notesMasters/notesMaster1.xml" Id="Rc04d7601d809436c" /><Relationship Type="http://schemas.openxmlformats.org/officeDocument/2006/relationships/presProps" Target="/ppt/presProps.xml" Id="Rf445c41d12d54c3a" /><Relationship Type="http://schemas.openxmlformats.org/officeDocument/2006/relationships/viewProps" Target="/ppt/viewProps.xml" Id="R51187a9fddcd4951" /><Relationship Type="http://schemas.openxmlformats.org/officeDocument/2006/relationships/tableStyles" Target="/ppt/tableStyles.xml" Id="R8ca29b4a0f5f4c3f" /><Relationship Type="http://schemas.openxmlformats.org/officeDocument/2006/relationships/slide" Target="/ppt/slides/slide1.xml" Id="R315630e2316d4187" /><Relationship Type="http://schemas.openxmlformats.org/officeDocument/2006/relationships/slide" Target="/ppt/slides/slide2.xml" Id="Rb84eeca3c0134d96" /><Relationship Type="http://schemas.openxmlformats.org/officeDocument/2006/relationships/slide" Target="/ppt/slides/slide3.xml" Id="Re729f55677c84783" /><Relationship Type="http://schemas.openxmlformats.org/officeDocument/2006/relationships/slide" Target="/ppt/slides/slide4.xml" Id="Rb377e8a758b94986" /><Relationship Type="http://schemas.openxmlformats.org/officeDocument/2006/relationships/slide" Target="/ppt/slides/slide5.xml" Id="R62721db4f7db49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87f0056c73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12938b71e04be1" /><Relationship Type="http://schemas.openxmlformats.org/officeDocument/2006/relationships/notesMaster" Target="/ppt/notesMasters/notesMaster1.xml" Id="R12f3ea68d697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d83b76ecb24140" /><Relationship Type="http://schemas.openxmlformats.org/officeDocument/2006/relationships/notesMaster" Target="/ppt/notesMasters/notesMaster1.xml" Id="Rf7b8dc4ed0b4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98d62360944cb7" /><Relationship Type="http://schemas.openxmlformats.org/officeDocument/2006/relationships/notesMaster" Target="/ppt/notesMasters/notesMaster1.xml" Id="Rf888db268f2544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8cc957b2f423d" /><Relationship Type="http://schemas.openxmlformats.org/officeDocument/2006/relationships/notesMaster" Target="/ppt/notesMasters/notesMaster1.xml" Id="R11fa2677ca9041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8c1a8c87c4657" /><Relationship Type="http://schemas.openxmlformats.org/officeDocument/2006/relationships/notesMaster" Target="/ppt/notesMasters/notesMaster1.xml" Id="Re052a3568618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四环节与自研重点：02_方案设计/总体Framework讨论总结_自适应3DGS.md</a:t>
            </a:r>
          </a:p>
          <a:p xmlns:a="http://schemas.openxmlformats.org/drawingml/2006/main">
            <a:r>
              <a:t>SHARP附近视角基线：03_实验记录/SHARP浅3D实验/10_最终结论/SHARP_Benchmark_v1.md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图1：文献/02_单图3D照片与分层表达/03_3D_Photography_Context_aware_Layered_Depth_Inpainting.pdf，Fig.1</a:t>
            </a:r>
          </a:p>
          <a:p xmlns:a="http://schemas.openxmlformats.org/drawingml/2006/main">
            <a:r>
              <a:t>图2：文献/02_单图3D照片与分层表达/04_SLIDE_Soft_Layering_and_Depth_aware_Inpainting.pdf，Fig.1</a:t>
            </a:r>
          </a:p>
          <a:p xmlns:a="http://schemas.openxmlformats.org/drawingml/2006/main">
            <a:r>
              <a:t>图3：文献/02_单图3D照片与分层表达/05_TMPI_Tiled_Multiplane_Images_for_Practical_3D_Photography.pdf，Fig.1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前馈3DGS家族：文献/04_单图与前馈3DGS/09_SHARP_Sharp_Monocular_View_Synthesis.pdf；10_pixelSplat_3D_Gaussian_Splats_from_Image_Pairs.pdf；11_AnySplat_Feed_forward_3D_Gaussian_Splatting.pdf；文献/09_前馈生成与显露区域补全/33_Splatter_Image_Ultra-Fast_Single-View_3D.pdf</a:t>
            </a:r>
          </a:p>
          <a:p xmlns:a="http://schemas.openxmlformats.org/drawingml/2006/main">
            <a:r>
              <a:t>右侧图：SHARP论文 Fig.3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TMPI方法与图：文献/02_单图3D照片与分层表达/05_TMPI_Tiled_Multiplane_Images_for_Practical_3D_Photography.pdf，Fig.2、Table 2。Table 2口径为单张350×630 RGB、NVIDIA GeForce RTX 3080。</a:t>
            </a:r>
          </a:p>
          <a:p xmlns:a="http://schemas.openxmlformats.org/drawingml/2006/main">
            <a:r>
              <a:t>SHARP方法与图：文献/04_单图与前馈3DGS/09_SHARP_Sharp_Monocular_View_Synthesis.pdf，Fig.2和Fig.3</a:t>
            </a:r>
          </a:p>
          <a:p xmlns:a="http://schemas.openxmlformats.org/drawingml/2006/main">
            <a:r>
              <a:t>本地约63 MiB/PLY：03_实验记录/SHARP浅3D实验/10_最终结论/SHARP_Benchmark_v1.md</a:t>
            </a:r>
          </a:p>
          <a:p xmlns:a="http://schemas.openxmlformats.org/drawingml/2006/main">
            <a:r>
              <a:t>两者分辨率、字段和序列化格式不同，不计算固定压缩倍数。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本地独立验证图与3/13细结构错位：03_实验记录/SHARP浅3D实验/10_最终结论/SHARP_Benchmark_v1.md</a:t>
            </a:r>
          </a:p>
          <a:p xmlns:a="http://schemas.openxmlformats.org/drawingml/2006/main">
            <a:r>
              <a:t>30°、&lt;5 s和&lt;3 GB目标：课题要求.png；AGENTS.md</a:t>
            </a:r>
          </a:p>
          <a:p xmlns:a="http://schemas.openxmlformats.org/drawingml/2006/main">
            <a:r>
              <a:t>5°/15°/30°下一轮A/B：02_方案设计/总体Framework讨论总结_自适应3DGS.md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0179d1dc449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e33d6a55949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2919b0c6d4e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dd6996d114d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cbc4c729c40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4e0c63e1e4e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363e3017a49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1425cb4b142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5d0da520646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81cc63e6b4a2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2d22562fb49c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bf92f79d248b4" /><Relationship Type="http://schemas.openxmlformats.org/officeDocument/2006/relationships/image" Target="/ppt/media/image.png" Id="R3c1011012934442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4776767ea4f2f" /><Relationship Type="http://schemas.openxmlformats.org/officeDocument/2006/relationships/image" Target="/ppt/media/image2.png" Id="R46e3914e42324f8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FD9D74-47D9-4702-A33C-335B63B48DBF}" type="datetimeFigureOut">
              <a:t>2026-07-22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BC47A4-756D-490B-A52F-7D9E2C9FC05F}" type="slidenum">
              <a:t>‹#›</a:t>
            </a:fld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封面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44" y="737562"/>
            <a:ext cx="11809312" cy="50676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>
              <a:alpha val="90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文本占位符 73">
            <a:extLst xmlns:a="http://schemas.openxmlformats.org/drawingml/2006/main"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583773" y="4851298"/>
            <a:ext cx="3024188" cy="358941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 xmlns:a="http://schemas.openxmlformats.org/drawingml/2006/main"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23867" y="2087714"/>
            <a:ext cx="9144000" cy="677108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r>
              <a:t>编辑标题样式</a:t>
            </a:r>
          </a:p>
        </p:txBody>
      </p:sp>
      <p:sp>
        <p:nvSpPr>
          <p:cNvPr id="79" name="文本占位符 78">
            <a:extLst xmlns:a="http://schemas.openxmlformats.org/drawingml/2006/main"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431248" y="4266698"/>
            <a:ext cx="5329238" cy="440681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47" y="508498"/>
            <a:ext cx="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664353" y="508498"/>
            <a:ext cx="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44" y="305562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712656" y="305562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44" name="直接连接符 23"/>
          <p:cNvCxnSpPr>
            <a:stCxn xmlns:a="http://schemas.openxmlformats.org/drawingml/2006/main" id="14" idx="2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455647" y="652498"/>
            <a:ext cx="11280706" cy="0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14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0110129344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94193" y="5877272"/>
            <a:ext cx="1203613" cy="914400"/>
          </a:xfrm>
          <a:prstGeom xmlns:a="http://schemas.openxmlformats.org/drawingml/2006/main" prst="rect">
            <a:avLst/>
          </a:prstGeom>
        </p:spPr>
      </p:pic>
      <p:sp>
        <p:nvSpPr>
          <p:cNvPr id="21" name="页脚占位符 136">
            <a:extLst xmlns:a="http://schemas.openxmlformats.org/drawingml/2006/main"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4390"/>
            <a:ext cx="6400800" cy="36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/>
          <a:lstStyle xmlns:a="http://schemas.openxmlformats.org/drawingml/2006/main"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 xmlns:a="http://schemas.openxmlformats.org/drawingml/2006/main"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351451" y="2944162"/>
            <a:ext cx="7488832" cy="440681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 xmlns:a="http://schemas.openxmlformats.org/drawingml/2006/main"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31248" y="3732590"/>
            <a:ext cx="5329238" cy="440681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pPr>
              <a:buNone/>
            </a:pPr>
            <a:r>
              <a:t>xxx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0" name="Straight Arrow Connector 4"/>
          <p:cNvCxnSpPr/>
          <p:nvPr/>
        </p:nvCxnSpPr>
        <p:spPr>
          <a:xfrm xmlns:a="http://schemas.openxmlformats.org/drawingml/2006/main">
            <a:off x="-1145117" y="6303964"/>
            <a:ext cx="960967" cy="158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1" name="Straight Arrow Connector 5"/>
          <p:cNvCxnSpPr/>
          <p:nvPr/>
        </p:nvCxnSpPr>
        <p:spPr>
          <a:xfrm xmlns:a="http://schemas.openxmlformats.org/drawingml/2006/main">
            <a:off x="472017" y="7010400"/>
            <a:ext cx="0" cy="36036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2" name="Straight Arrow Connector 7"/>
          <p:cNvCxnSpPr/>
          <p:nvPr/>
        </p:nvCxnSpPr>
        <p:spPr>
          <a:xfrm xmlns:a="http://schemas.openxmlformats.org/drawingml/2006/main">
            <a:off x="11703051" y="7010400"/>
            <a:ext cx="0" cy="36036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3" name="Straight Arrow Connector 8"/>
          <p:cNvCxnSpPr/>
          <p:nvPr/>
        </p:nvCxnSpPr>
        <p:spPr>
          <a:xfrm xmlns:a="http://schemas.openxmlformats.org/drawingml/2006/main">
            <a:off x="-1145117" y="1258889"/>
            <a:ext cx="960967" cy="158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4" name="Straight Arrow Connector 9"/>
          <p:cNvCxnSpPr/>
          <p:nvPr/>
        </p:nvCxnSpPr>
        <p:spPr>
          <a:xfrm xmlns:a="http://schemas.openxmlformats.org/drawingml/2006/main">
            <a:off x="-1145117" y="763589"/>
            <a:ext cx="960967" cy="158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" name="Straight Arrow Connector 10"/>
          <p:cNvCxnSpPr/>
          <p:nvPr/>
        </p:nvCxnSpPr>
        <p:spPr>
          <a:xfrm xmlns:a="http://schemas.openxmlformats.org/drawingml/2006/main">
            <a:off x="5856817" y="7010400"/>
            <a:ext cx="0" cy="36036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6" name="Straight Arrow Connector 11"/>
          <p:cNvCxnSpPr/>
          <p:nvPr/>
        </p:nvCxnSpPr>
        <p:spPr>
          <a:xfrm xmlns:a="http://schemas.openxmlformats.org/drawingml/2006/main">
            <a:off x="6335184" y="7010400"/>
            <a:ext cx="0" cy="36036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3583" y="6581776"/>
            <a:ext cx="223943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 xmlns:a="http://schemas.openxmlformats.org/drawingml/2006/main"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55183" y="896938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 xmlns:a="http://schemas.openxmlformats.org/drawingml/2006/main"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55183" y="15049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 xmlns:a="http://schemas.openxmlformats.org/drawingml/2006/main"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55183" y="5921375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b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 xmlns:a="http://schemas.openxmlformats.org/drawingml/2006/main"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68" y="70675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 xmlns:a="http://schemas.openxmlformats.org/drawingml/2006/main"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968" y="70675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 xmlns:a="http://schemas.openxmlformats.org/drawingml/2006/main"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1" y="70675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 xmlns:a="http://schemas.openxmlformats.org/drawingml/2006/main"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785" y="70675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175" name="Straight Arrow Connector 20"/>
          <p:cNvCxnSpPr/>
          <p:nvPr/>
        </p:nvCxnSpPr>
        <p:spPr>
          <a:xfrm xmlns:a="http://schemas.openxmlformats.org/drawingml/2006/main" rot="5400000" flipH="1" flipV="1">
            <a:off x="-296863" y="1308630"/>
            <a:ext cx="92075" cy="2117"/>
          </a:xfrm>
          <a:prstGeom xmlns:a="http://schemas.openxmlformats.org/drawingml/2006/main" prst="straightConnector1">
            <a:avLst/>
          </a:prstGeom>
          <a:ln xmlns:a="http://schemas.openxmlformats.org/drawingml/2006/main" w="3175">
            <a:solidFill>
              <a:schemeClr val="bg1"/>
            </a:solidFill>
            <a:tailEnd type="arrow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6" name="Straight Arrow Connector 21"/>
          <p:cNvCxnSpPr/>
          <p:nvPr/>
        </p:nvCxnSpPr>
        <p:spPr>
          <a:xfrm xmlns:a="http://schemas.openxmlformats.org/drawingml/2006/main" rot="5400000" flipH="1" flipV="1">
            <a:off x="-296863" y="811743"/>
            <a:ext cx="92075" cy="2117"/>
          </a:xfrm>
          <a:prstGeom xmlns:a="http://schemas.openxmlformats.org/drawingml/2006/main" prst="straightConnector1">
            <a:avLst/>
          </a:prstGeom>
          <a:ln xmlns:a="http://schemas.openxmlformats.org/drawingml/2006/main" w="3175">
            <a:solidFill>
              <a:schemeClr val="bg1"/>
            </a:solidFill>
            <a:tailEnd type="arrow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7" name="Straight Arrow Connector 22"/>
          <p:cNvCxnSpPr/>
          <p:nvPr/>
        </p:nvCxnSpPr>
        <p:spPr>
          <a:xfrm xmlns:a="http://schemas.openxmlformats.org/drawingml/2006/main" rot="5400000" flipH="1" flipV="1">
            <a:off x="-296863" y="6240993"/>
            <a:ext cx="92075" cy="2117"/>
          </a:xfrm>
          <a:prstGeom xmlns:a="http://schemas.openxmlformats.org/drawingml/2006/main" prst="straightConnector1">
            <a:avLst/>
          </a:prstGeom>
          <a:ln xmlns:a="http://schemas.openxmlformats.org/drawingml/2006/main"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5284" y="0"/>
            <a:ext cx="1871133" cy="692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 xmlns:a="http://schemas.openxmlformats.org/drawingml/2006/main"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 xmlns:a="http://schemas.openxmlformats.org/drawingml/2006/main"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477838" y="1066523"/>
            <a:ext cx="11231562" cy="5317329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 xmlns:a="http://schemas.openxmlformats.org/drawingml/2006/main"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 xmlns:a="http://schemas.openxmlformats.org/drawingml/2006/main"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 xmlns:a="http://schemas.openxmlformats.org/drawingml/2006/main"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47" y="508498"/>
            <a:ext cx="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44" y="305562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日期占位符 135">
            <a:extLst xmlns:a="http://schemas.openxmlformats.org/drawingml/2006/main"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328" y="6555494"/>
            <a:ext cx="2883976" cy="2675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 xmlns:a="http://schemas.openxmlformats.org/drawingml/2006/main"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88" y="6552438"/>
            <a:ext cx="2880000" cy="273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936" y="6626574"/>
            <a:ext cx="480484" cy="1254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</a:p>
        </p:txBody>
      </p:sp>
      <p:sp>
        <p:nvSpPr>
          <p:cNvPr id="62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8720"/>
            <a:ext cx="12192000" cy="12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" y="6512981"/>
            <a:ext cx="12192000" cy="12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 xmlns:a="http://schemas.openxmlformats.org/drawingml/2006/main"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1647" y="395289"/>
            <a:ext cx="10209277" cy="430887"/>
          </a:xfrm>
        </p:spPr>
        <p:txBody>
          <a:bodyPr xmlns:a="http://schemas.openxmlformats.org/drawingml/2006/main" lIns="108000"/>
          <a:lstStyle xmlns:a="http://schemas.openxmlformats.org/drawingml/2006/main"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pic>
        <p:nvPicPr>
          <p:cNvPr id="188" name="HUST Solid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3914e42324f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0" y="279400"/>
            <a:ext cx="952500" cy="594827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a7db58019540d4" /><Relationship Type="http://schemas.openxmlformats.org/officeDocument/2006/relationships/slideLayout" Target="/ppt/slideLayouts/slideLayout1.xml" Id="R4c690e4dd5f5446d" /><Relationship Type="http://schemas.openxmlformats.org/officeDocument/2006/relationships/slideLayout" Target="/ppt/slideLayouts/slideLayout2.xml" Id="R5590dc3a98474667" /><Relationship Type="http://schemas.openxmlformats.org/officeDocument/2006/relationships/slideLayout" Target="/ppt/slideLayouts/slideLayout3.xml" Id="Rce4f058268bf4904" /><Relationship Type="http://schemas.openxmlformats.org/officeDocument/2006/relationships/slideLayout" Target="/ppt/slideLayouts/slideLayout4.xml" Id="R4fe23c60738b45b0" /><Relationship Type="http://schemas.openxmlformats.org/officeDocument/2006/relationships/slideLayout" Target="/ppt/slideLayouts/slideLayout5.xml" Id="R2508dbfaa2fd4656" /><Relationship Type="http://schemas.openxmlformats.org/officeDocument/2006/relationships/slideLayout" Target="/ppt/slideLayouts/slideLayout6.xml" Id="R2d7bb1f211c54021" /><Relationship Type="http://schemas.openxmlformats.org/officeDocument/2006/relationships/slideLayout" Target="/ppt/slideLayouts/slideLayout7.xml" Id="Rede9a0e73c294a3e" /><Relationship Type="http://schemas.openxmlformats.org/officeDocument/2006/relationships/slideLayout" Target="/ppt/slideLayouts/slideLayout8.xml" Id="R3f5d29d1e96b4b35" /><Relationship Type="http://schemas.openxmlformats.org/officeDocument/2006/relationships/slideLayout" Target="/ppt/slideLayouts/slideLayout9.xml" Id="R052d2fdae05c49e9" /><Relationship Type="http://schemas.openxmlformats.org/officeDocument/2006/relationships/slideLayout" Target="/ppt/slideLayouts/slideLayout10.xml" Id="Rd27c3c3dead649d5" /><Relationship Type="http://schemas.openxmlformats.org/officeDocument/2006/relationships/slideLayout" Target="/ppt/slideLayouts/slideLayout11.xml" Id="R700f626e4e1a48d3" /><Relationship Type="http://schemas.openxmlformats.org/officeDocument/2006/relationships/slideLayout" Target="/ppt/slideLayouts/slideLayout12.xml" Id="R47680d7f0f1f45be" /><Relationship Type="http://schemas.openxmlformats.org/officeDocument/2006/relationships/slideLayout" Target="/ppt/slideLayouts/slideLayout13.xml" Id="Rfad6a6d458064b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690e4dd5f5446d"/>
    <p:sldLayoutId xmlns:r="http://schemas.openxmlformats.org/officeDocument/2006/relationships" id="2147483650" r:id="R5590dc3a98474667"/>
    <p:sldLayoutId xmlns:r="http://schemas.openxmlformats.org/officeDocument/2006/relationships" id="2147483651" r:id="Rce4f058268bf4904"/>
    <p:sldLayoutId xmlns:r="http://schemas.openxmlformats.org/officeDocument/2006/relationships" id="2147483652" r:id="R4fe23c60738b45b0"/>
    <p:sldLayoutId xmlns:r="http://schemas.openxmlformats.org/officeDocument/2006/relationships" id="2147483653" r:id="R2508dbfaa2fd4656"/>
    <p:sldLayoutId xmlns:r="http://schemas.openxmlformats.org/officeDocument/2006/relationships" id="2147483654" r:id="R2d7bb1f211c54021"/>
    <p:sldLayoutId xmlns:r="http://schemas.openxmlformats.org/officeDocument/2006/relationships" id="2147483655" r:id="Rede9a0e73c294a3e"/>
    <p:sldLayoutId xmlns:r="http://schemas.openxmlformats.org/officeDocument/2006/relationships" id="2147483656" r:id="R3f5d29d1e96b4b35"/>
    <p:sldLayoutId xmlns:r="http://schemas.openxmlformats.org/officeDocument/2006/relationships" id="2147483657" r:id="R052d2fdae05c49e9"/>
    <p:sldLayoutId xmlns:r="http://schemas.openxmlformats.org/officeDocument/2006/relationships" id="2147483658" r:id="Rd27c3c3dead649d5"/>
    <p:sldLayoutId xmlns:r="http://schemas.openxmlformats.org/officeDocument/2006/relationships" id="2147483659" r:id="R700f626e4e1a48d3"/>
    <p:sldLayoutId xmlns:r="http://schemas.openxmlformats.org/officeDocument/2006/relationships" id="2147483660" r:id="R47680d7f0f1f45be"/>
    <p:sldLayoutId xmlns:r="http://schemas.openxmlformats.org/officeDocument/2006/relationships" id="2147483661" r:id="Rfad6a6d458064b6d"/>
  </p:sldLayoutIdLst>
  <p:txStyles>
    <p:titleStyle>
      <a:lvl1pPr xmlns:a="http://schemas.openxmlformats.org/drawingml/2006/main"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f382924dea24e61" /><Relationship Type="http://schemas.openxmlformats.org/officeDocument/2006/relationships/notesSlide" Target="/ppt/notesSlides/notesSlide1.xml" Id="R2e40d6a35fa44a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7af1ec02fb449a2" /><Relationship Type="http://schemas.openxmlformats.org/officeDocument/2006/relationships/image" Target="/ppt/media/image3.png" Id="R4ba338f39c514778" /><Relationship Type="http://schemas.openxmlformats.org/officeDocument/2006/relationships/image" Target="/ppt/media/image4.png" Id="Rea7e0a2c46004ace" /><Relationship Type="http://schemas.openxmlformats.org/officeDocument/2006/relationships/image" Target="/ppt/media/image5.png" Id="R1dea607b7bdb4ab4" /><Relationship Type="http://schemas.openxmlformats.org/officeDocument/2006/relationships/notesSlide" Target="/ppt/notesSlides/notesSlide2.xml" Id="Rd1524f4315704d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e67a30bd7ac4b2d" /><Relationship Type="http://schemas.openxmlformats.org/officeDocument/2006/relationships/image" Target="/ppt/media/image6.png" Id="R3379e0bf677a449a" /><Relationship Type="http://schemas.openxmlformats.org/officeDocument/2006/relationships/notesSlide" Target="/ppt/notesSlides/notesSlide3.xml" Id="Rf8a8152f0be045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3405f1496dd409a" /><Relationship Type="http://schemas.openxmlformats.org/officeDocument/2006/relationships/image" Target="/ppt/media/image7.png" Id="R7f8d8ae35f554fd2" /><Relationship Type="http://schemas.openxmlformats.org/officeDocument/2006/relationships/image" Target="/ppt/media/image8.png" Id="R5554d2136b2f4733" /><Relationship Type="http://schemas.openxmlformats.org/officeDocument/2006/relationships/image" Target="/ppt/media/image9.png" Id="Rd7b85ab14fdb42da" /><Relationship Type="http://schemas.openxmlformats.org/officeDocument/2006/relationships/notesSlide" Target="/ppt/notesSlides/notesSlide4.xml" Id="Rf56b1fd64bbd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e94f5fd117645ff" /><Relationship Type="http://schemas.openxmlformats.org/officeDocument/2006/relationships/image" Target="/ppt/media/image10.png" Id="R489a113e25e1460d" /><Relationship Type="http://schemas.openxmlformats.org/officeDocument/2006/relationships/image" Target="/ppt/media/image11.png" Id="R12b407fd6ccf4922" /><Relationship Type="http://schemas.openxmlformats.org/officeDocument/2006/relationships/image" Target="/ppt/media/image12.png" Id="R96548146f1aa4b90" /><Relationship Type="http://schemas.openxmlformats.org/officeDocument/2006/relationships/notesSlide" Target="/ppt/notesSlides/notesSlide5.xml" Id="R0769be126cc74f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7B7C08E-214A-C19B-4815-AC40EBC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R1  单图浅3D需要四个环节配合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F8417A6-DA9E-3B36-4511-4C54F65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深度告诉我们物体在哪里；场景表示与补全决定新视角是否自然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6E43945-B7C3-CCF2-85D9-3E7E660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99C1354-9987-C2FB-2F44-0021E4D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FBD7EEC-CB83-4EE9-80A3-94A0C65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1  深度估计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判断物体的前后关系</a:t>
            </a:r>
          </a:p>
        </p:txBody>
      </p:sp>
      <p:sp>
        <p:nvSpPr>
          <p:cNvPr id="34" name="Right Arrow 33">
            <a:extLst xmlns:a="http://schemas.openxmlformats.org/drawingml/2006/main">
              <a:ext uri="{FF2B5EF4-FFF2-40B4-BE49-F238E27FC236}">
                <a16:creationId xmlns:a16="http://schemas.microsoft.com/office/drawing/2014/main" id="{9EA3485D-E0D9-46D4-834A-1922886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9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927AD77-0353-4FCD-8296-B62784C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2  场景表示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保存颜色和空间位置</a:t>
            </a:r>
          </a:p>
        </p:txBody>
      </p:sp>
      <p:sp>
        <p:nvSpPr>
          <p:cNvPr id="36" name="Right Arrow 35">
            <a:extLst xmlns:a="http://schemas.openxmlformats.org/drawingml/2006/main">
              <a:ext uri="{FF2B5EF4-FFF2-40B4-BE49-F238E27FC236}">
                <a16:creationId xmlns:a16="http://schemas.microsoft.com/office/drawing/2014/main" id="{EED56A85-8B12-4837-BF35-9B81BC6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7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AE618E4-85DC-475C-A0F9-20773BCE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3  显露补全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补出新视角看到的区域</a:t>
            </a:r>
          </a:p>
        </p:txBody>
      </p:sp>
      <p:sp>
        <p:nvSpPr>
          <p:cNvPr id="38" name="Right Arrow 37">
            <a:extLst xmlns:a="http://schemas.openxmlformats.org/drawingml/2006/main">
              <a:ext uri="{FF2B5EF4-FFF2-40B4-BE49-F238E27FC236}">
                <a16:creationId xmlns:a16="http://schemas.microsoft.com/office/drawing/2014/main" id="{1FE47403-84C5-4380-8B1B-9C6E9F4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358F10B-CBF4-4B8A-AEE0-75F69D0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4  轻量部署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控制文件大小与速度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1A2875F-7438-48D0-87B4-E38D423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88920"/>
            <a:ext cx="1099108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本项目当前重点：场景怎样表示，显露区域怎样补得自然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4643909E-0FA5-489E-AB52-D6AB4F6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已具备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SHARP 附近视角基线</a:t>
            </a:r>
          </a:p>
        </p:txBody>
      </p:sp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5086CE4D-1B9E-44F0-958F-044822FF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FD4ECD6-AA24-436A-BFAB-95EEFB60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310128"/>
            <a:ext cx="4736592" cy="12435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7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加入显露补全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比较 5° / 15° / 30°</a:t>
            </a:r>
          </a:p>
        </p:txBody>
      </p:sp>
      <p:sp>
        <p:nvSpPr>
          <p:cNvPr id="44" name="Right Arrow 43">
            <a:extLst xmlns:a="http://schemas.openxmlformats.org/drawingml/2006/main">
              <a:ext uri="{FF2B5EF4-FFF2-40B4-BE49-F238E27FC236}">
                <a16:creationId xmlns:a16="http://schemas.microsoft.com/office/drawing/2014/main" id="{F560176C-50EC-4CE1-81D9-D8BCC342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D3F232F7-04DE-4855-8B8D-519BF0C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最终目标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移动端浅3D表达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E41AE898-63CA-4E91-AEA9-2FF8EE4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基础能力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深度、相机与可渲染的场景表示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77B061C4-DB31-4AA8-AE0D-2D0BDFD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视角扩大后，如何减少空洞、拉伸和错位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9A3B43C1-D56D-4556-978B-1D48863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89320"/>
            <a:ext cx="108813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524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80" b="1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Benchmark 回答“基线是否可靠”；自研实验回答“视角扩大后是否仍然自然”。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AEDC0F1-8081-0A95-C872-3FF3B39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R2  分层方法都在解决：原图看不到的地方怎么办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2B2CE47B-F14D-3F28-7113-F02E9BC6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方法从“补背景”，逐步演进到“保护细边缘”和“减少多余深度层”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7B27E1F-0706-083F-BA4F-A2CA7872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7568"/>
            <a:ext cx="1092200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 w="0">
            <a:solidFill>
              <a:srgbClr val="0D569A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907107D-74F8-AF40-4039-66F84DA8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1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三篇论文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0843837-1B1C-E19F-C212-C0188FFF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9400"/>
            <a:ext cx="20320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E5763B3-ED89-5629-47F1-748D6CB4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16510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3D Photo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E4B7CD8-745E-E70A-C098-8B39BC40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3767"/>
            <a:ext cx="1905000" cy="5796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补出遮挡后的背景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CF94DC5-566F-7392-4F42-1A2E55FC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1549400"/>
            <a:ext cx="20320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FDBBF71-1610-6863-6C4F-E95F5839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510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SLIDE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8E1BFF6-52B1-01BA-37CF-C32C06EE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431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保护头发等细边缘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193C791-8E6C-CA21-198F-21B566D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1549400"/>
            <a:ext cx="20320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DF8867F-D26F-8996-F758-74CC7D7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16510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TMPI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42D8761-DA85-4C67-B07F-A1EA8007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19431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每个小区域只保留必要深度层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09AA1B0-89C5-DA0E-D3BE-E7E44F0D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7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3D Photography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912643D-38EA-5A7D-A670-F7CE122B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86000"/>
            <a:ext cx="317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SLIDE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90EC98D-5A5A-2C66-49B7-94DA150F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286000"/>
            <a:ext cx="317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TMPI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7F4DCBB-C89F-1A71-8F57-9507E7B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65400"/>
            <a:ext cx="317500" cy="17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>
              <a:alpha val="28000"/>
            </a:srgbClr>
          </a:solidFill>
          <a:ln xmlns:a="http://schemas.openxmlformats.org/drawingml/2006/main" w="12700">
            <a:solidFill>
              <a:srgbClr val="C62828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78AEDC1-C73F-AD3E-7C38-CD0FDDC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00" y="3149600"/>
            <a:ext cx="914400" cy="9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>
              <a:alpha val="0"/>
            </a:srgbClr>
          </a:solidFill>
          <a:ln xmlns:a="http://schemas.openxmlformats.org/drawingml/2006/main" w="16510">
            <a:solidFill>
              <a:srgbClr val="C62828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E2A3745-346E-9A30-EE77-B545F24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39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共同点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D314A512-1A72-8AD7-1EED-47D0778A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856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先估计深度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把场景拆成多层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再合成新视角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624A116-8E65-43D1-986A-73E0936D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610100"/>
            <a:ext cx="139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CC9DB99-2448-18CE-E612-995BFEB1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953000"/>
            <a:ext cx="5156200" cy="856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差别：3D Photo层次更细；SLIDE保护细边缘；TMPI减少多余深度层。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38AF132-ED1A-CAAD-EE68-3D16745A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1C844645-0D0F-3930-41B3-2EE51AD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465978-E76E-4655-83A1-1D4F7DDD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5368"/>
            <a:ext cx="3174968" cy="1778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137863-0C20-412D-B729-5802E4A8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468" y="2565368"/>
            <a:ext cx="3174968" cy="1778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F69F04-8530-48F4-A7FA-8FF322F7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32" y="2565368"/>
            <a:ext cx="3174968" cy="1778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3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338f39c514778"/>
          <a:stretch xmlns:a="http://schemas.openxmlformats.org/drawingml/2006/main"/>
        </p:blipFill>
        <p:spPr>
          <a:xfrm xmlns:a="http://schemas.openxmlformats.org/drawingml/2006/main">
            <a:off x="685800" y="3013416"/>
            <a:ext cx="3174968" cy="881936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e0a2c46004ace"/>
          <a:stretch xmlns:a="http://schemas.openxmlformats.org/drawingml/2006/main"/>
        </p:blipFill>
        <p:spPr>
          <a:xfrm xmlns:a="http://schemas.openxmlformats.org/drawingml/2006/main">
            <a:off x="4508468" y="3127266"/>
            <a:ext cx="3174968" cy="654236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a607b7bdb4ab4"/>
          <a:stretch xmlns:a="http://schemas.openxmlformats.org/drawingml/2006/main"/>
        </p:blipFill>
        <p:spPr>
          <a:xfrm xmlns:a="http://schemas.openxmlformats.org/drawingml/2006/main">
            <a:off x="8331232" y="2931921"/>
            <a:ext cx="3174968" cy="10449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0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B633102-43F7-6DB5-D080-027DF920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R3  前馈3DGS把“每张图慢慢优化”变成“一次生成”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2546EDF-E5C3-9554-3ABB-0603F5F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不同方法的输入条件不同；SHARP最符合本课题的单张普通照片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76F3EC4-4D78-A980-298A-EAE2319A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906"/>
            <a:ext cx="275844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方法变化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E27B15F-320B-1811-67AA-249E51E1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6394"/>
            <a:ext cx="624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889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B17A3E2-B18D-4DF9-C5A2-2E79E1C7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5294"/>
            <a:ext cx="14986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传统3DGS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2487D25-3DE2-E6D9-D1D8-59CEC111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1875294"/>
            <a:ext cx="43688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多张图 + 相机位姿；每个场景单独优化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E6D88E5-3B21-F7A6-4576-DAF23CA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1894"/>
            <a:ext cx="624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C108B659-9C9D-2D6B-9C8F-1FA8ABE7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0794"/>
            <a:ext cx="14986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Splatter Image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CF425CB-1A8B-58F8-46A9-AA897CF8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2700794"/>
            <a:ext cx="43688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单图对象；逐像素预测高斯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ED11E9A-A6AC-051A-A456-8A5326AC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7394"/>
            <a:ext cx="624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889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B22E604-56F6-23A2-6572-5342ADE4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6294"/>
            <a:ext cx="14986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pixelSplat / AnySplat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CC4737C-ABF1-7B69-D78E-4E56E3EA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3526294"/>
            <a:ext cx="43688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双图或多图；一次生成高斯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22F666A-4AD1-36B3-D7CA-3D4A22BC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2894"/>
            <a:ext cx="624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E212260-D88A-337B-BBF6-A8CE3CFC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1794"/>
            <a:ext cx="14986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SHARP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99C0796-AF58-F1C4-1700-8E471CDC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351794"/>
            <a:ext cx="43688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单图场景；两层深度 + 高斯修正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60E902E-1E96-6455-C4EB-F417126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968" y="1221105"/>
            <a:ext cx="4140232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SHARP方法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DB4857E-4434-8A3D-78D4-7F861D12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968" y="1600200"/>
            <a:ext cx="4140232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E77974E-0581-2B1A-CD83-CB32BD53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12566"/>
            <a:ext cx="3784600" cy="7703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919103D3-33C0-737E-E42E-354DCB4A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968" y="3524250"/>
            <a:ext cx="414023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基线价值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3427FE-E39E-2936-7590-9AF8BC87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968" y="3886200"/>
            <a:ext cx="4140232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8DA2619-5060-D543-87E2-5F4B8232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3784568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官方代码和权重可复现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输出可直接渲染的3DGS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便于继续做质量与工程实验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7D06AD8-9694-8012-2E7B-0C22E3D3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3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 w="0">
            <a:solidFill>
              <a:srgbClr val="0D569A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4CF5ECA-C718-2183-7E39-DBA1FA16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5781675"/>
            <a:ext cx="10413968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SHARP不是终点，但它提供了一个可运行、可比较的起点。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2ED8996-0BF6-773C-E107-28913073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1651D344-33FE-AC7F-D822-7FAAE95C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D4B91-D4A9-4FE5-ADFB-AC74796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956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667C97"/>
                </a:solidFill>
              </a:defRPr>
            </a:pPr>
            <a:r>
              <a:rPr sz="1125">
                <a:solidFill>
                  <a:srgbClr val="667C97"/>
                </a:solidFill>
              </a:rPr>
              <a:t>一张图 → 深度与特征 → 显式高斯 → 新视角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9e0bf677a449a"/>
          <a:stretch xmlns:a="http://schemas.openxmlformats.org/drawingml/2006/main"/>
        </p:blipFill>
        <p:spPr>
          <a:xfrm xmlns:a="http://schemas.openxmlformats.org/drawingml/2006/main">
            <a:off x="7571509" y="1657350"/>
            <a:ext cx="3716482" cy="138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417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ED5BD2-AAA8-4A9C-CEF1-AFA41B5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952500"/>
            <a:ext cx="142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Review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283F044-281B-EB9E-B7B1-DA738F5D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R4  TMPI和SHARP各有优势，更适合组合使用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5E0358F-92EC-14DF-3D58-B2BB3846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TMPI更规整轻量；SHARP表达更灵活，但当前输出更大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702FA4-37EE-6F87-677B-94C57663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5700"/>
            <a:ext cx="2413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A296145-1BEB-A3E0-4A91-C42B8B73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1244600"/>
            <a:ext cx="228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分层平面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DBE320A-A212-2BFE-A08A-9E28EFF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1600200"/>
            <a:ext cx="228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TMPI的表示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BF74E98-318F-DF9A-45A3-878A1462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1155700"/>
            <a:ext cx="2413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AA95FFC-4A8C-0EA0-49CE-BAED7A1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244600"/>
            <a:ext cx="228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局部自适应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8E8580-CE03-F143-011C-094B4186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00200"/>
            <a:ext cx="228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TMPI的优势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8F484A1-CE13-81B7-4041-D6453946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1155700"/>
            <a:ext cx="2413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E07E8D5-B8BA-D24C-186C-719AD7F6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1244600"/>
            <a:ext cx="228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连续高斯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3A5517C-28B2-2713-C100-EC6E2E89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1600200"/>
            <a:ext cx="228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SHARP的表示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CE43D17-550A-82F4-A6B4-20295464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55700"/>
            <a:ext cx="2413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F1FE0C4-3D7C-6278-7646-4214EE2A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0" y="1244600"/>
            <a:ext cx="228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灵活表达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D5F9E3C-A5E8-BEB2-DDB2-9D8AEC8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0" y="1600200"/>
            <a:ext cx="228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SHARP的优势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F971BB4-042D-8D9C-F6AD-C817C01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200400" cy="311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3819AB1-4898-A9FA-DCCC-F420DA7C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32" y="2476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TMPI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D046429-F290-5915-0FB0-444AC6DB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32" y="4286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把整图切成小块，每块只保留必要的深度层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982F1DA-4799-8268-4525-E233474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3200400" cy="311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1260ED70-00FB-B2BD-5588-4A6FBBB9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32" y="2476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SHARP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EB09AB2-4008-5CAB-68C4-EB3E601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32" y="4286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直接生成大量三维高斯，对复杂结构更灵活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4195FB9-E4E7-E8C4-9104-3B369DE4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200400" cy="311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A755CD8C-DFE1-BC4A-73BD-2B1E272F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2476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组合思路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383439F-3730-F176-F2AE-19DA823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4286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用3DGS生成高质量场景，借鉴分层方法处理显露区域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02C49944-FD48-ABF4-6853-0F537106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6600"/>
            <a:ext cx="108204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体积数字的口径不同：TMPI论文5.25 MB（350×630，RTX 3080）；本地SHARP完整PLY约63 MiB，不计算固定压缩倍数。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82BC26A-CA44-2B6F-1058-2CE5E6AF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523CFFD6-F506-C1B8-6289-E0BDAE72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581CF5F-36B4-1183-4DC1-5F410C7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965200"/>
            <a:ext cx="142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A2A"/>
          </a:solidFill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d8ae35f554fd2"/>
          <a:stretch xmlns:a="http://schemas.openxmlformats.org/drawingml/2006/main"/>
        </p:blipFill>
        <p:spPr>
          <a:xfrm xmlns:a="http://schemas.openxmlformats.org/drawingml/2006/main">
            <a:off x="863632" y="3054123"/>
            <a:ext cx="2857500" cy="930729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4d2136b2f4733"/>
          <a:stretch xmlns:a="http://schemas.openxmlformats.org/drawingml/2006/main"/>
        </p:blipFill>
        <p:spPr>
          <a:xfrm xmlns:a="http://schemas.openxmlformats.org/drawingml/2006/main">
            <a:off x="4673632" y="2988533"/>
            <a:ext cx="2857500" cy="1061909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85ab14fdb42da"/>
          <a:stretch xmlns:a="http://schemas.openxmlformats.org/drawingml/2006/main"/>
        </p:blipFill>
        <p:spPr>
          <a:xfrm xmlns:a="http://schemas.openxmlformats.org/drawingml/2006/main">
            <a:off x="8483632" y="2900363"/>
            <a:ext cx="2857500" cy="123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559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AEDC0F1-8081-0A95-C872-3FF3B39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R5  现在还需要回答三个问题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2B2CE47B-F14D-3F28-7113-F02E9BC6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SHARP在附近视角可用，不等于已经满足30°和移动端目标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7B27E1F-0706-083F-BA4F-A2CA7872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7568"/>
            <a:ext cx="1092200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 w="0">
            <a:solidFill>
              <a:srgbClr val="0D569A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907107D-74F8-AF40-4039-66F84DA8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1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本地证据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2F8BB9E-3357-42A8-17CC-3A2CF24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1180499"/>
            <a:ext cx="1092200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solidFill>
              <a:srgbClr val="C62828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CC7C68F-E021-9D53-C1F7-CB980D8F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205931"/>
            <a:ext cx="1016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仍待验证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0843837-1B1C-E19F-C212-C0188FFF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9400"/>
            <a:ext cx="20320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E5763B3-ED89-5629-47F1-748D6CB4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16510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30°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E4B7CD8-745E-E70A-C098-8B39BC40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3767"/>
            <a:ext cx="1905000" cy="5796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还没有按统一角度协议测试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CF94DC5-566F-7392-4F42-1A2E55FC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1549400"/>
            <a:ext cx="20320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FDBBF71-1610-6863-6C4F-E95F5839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510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3/13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8E1BFF6-52B1-01BA-37CF-C32C06EE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431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出现轻微细结构错位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193C791-8E6C-CA21-198F-21B566D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1549400"/>
            <a:ext cx="2032000" cy="73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0160">
            <a:solidFill>
              <a:srgbClr val="CDDEED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DF8867F-D26F-8996-F758-74CC7D7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16510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&lt;5 s / &lt;3 GB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42D8761-DA85-4C67-B07F-A1EA8007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1943100"/>
            <a:ext cx="190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目标移动端仍未达到</a:t>
            </a:r>
          </a:p>
        </p:txBody>
      </p:sp>
      <p:pic>
        <p:nvPicPr>
          <p:cNvPr id="52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a113e25e146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" y="2565400"/>
            <a:ext cx="3175000" cy="1778000"/>
          </a:xfrm>
          <a:prstGeom xmlns:a="http://schemas.openxmlformats.org/drawingml/2006/main" prst="rect">
            <a:avLst/>
          </a:prstGeom>
          <a:ln xmlns:a="http://schemas.openxmlformats.org/drawingml/2006/main" w="10160">
            <a:solidFill>
              <a:srgbClr val="CDDEED"/>
            </a:solidFill>
          </a:ln>
        </p:spPr>
      </p:pic>
      <p:pic>
        <p:nvPicPr>
          <p:cNvPr id="53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407fd6ccf49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08500" y="2565400"/>
            <a:ext cx="3175000" cy="1778000"/>
          </a:xfrm>
          <a:prstGeom xmlns:a="http://schemas.openxmlformats.org/drawingml/2006/main" prst="rect">
            <a:avLst/>
          </a:prstGeom>
          <a:ln xmlns:a="http://schemas.openxmlformats.org/drawingml/2006/main" w="10160">
            <a:solidFill>
              <a:srgbClr val="CDDEED"/>
            </a:solidFill>
          </a:ln>
        </p:spPr>
      </p:pic>
      <p:pic>
        <p:nvPicPr>
          <p:cNvPr id="5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48146f1aa4b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331200" y="2565400"/>
            <a:ext cx="3175000" cy="1778000"/>
          </a:xfrm>
          <a:prstGeom xmlns:a="http://schemas.openxmlformats.org/drawingml/2006/main" prst="rect">
            <a:avLst/>
          </a:prstGeom>
          <a:ln xmlns:a="http://schemas.openxmlformats.org/drawingml/2006/main" w="10160">
            <a:solidFill>
              <a:srgbClr val="CDDEED"/>
            </a:solidFill>
          </a:ln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09AA1B0-89C5-DA0E-D3BE-E7E44F0D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7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13张独立验证图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912643D-38EA-5A7D-A670-F7CE122B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86000"/>
            <a:ext cx="317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V11 左端点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90EC98D-5A5A-2C66-49B7-94DA150F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286000"/>
            <a:ext cx="3175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V11 右端点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7F4DCBB-C89F-1A71-8F57-9507E7B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65400"/>
            <a:ext cx="317500" cy="17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>
              <a:alpha val="28000"/>
            </a:srgbClr>
          </a:solidFill>
          <a:ln xmlns:a="http://schemas.openxmlformats.org/drawingml/2006/main" w="12700">
            <a:solidFill>
              <a:srgbClr val="C62828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78AEDC1-C73F-AD3E-7C38-CD0FDDC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00" y="3149600"/>
            <a:ext cx="914400" cy="9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>
              <a:alpha val="0"/>
            </a:srgbClr>
          </a:solidFill>
          <a:ln xmlns:a="http://schemas.openxmlformats.org/drawingml/2006/main" w="16510">
            <a:solidFill>
              <a:srgbClr val="C62828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E2A3745-346E-9A30-EE77-B545F24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39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D314A512-1A72-8AD7-1EED-47D0778A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856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附近视角整体通过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当前问题主要集中在细小结构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隐藏内容只能追求视觉合理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C624A116-8E65-43D1-986A-73E0936D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610100"/>
            <a:ext cx="139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CC9DB99-2448-18CE-E612-995BFEB1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953000"/>
            <a:ext cx="5156200" cy="856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固定同一份SHARP结果，只比较加入显露补全前后，再分别测试5°、15°和30°。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38AF132-ED1A-CAAD-EE68-3D16745A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1C844645-0D0F-3930-41B3-2EE51AD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43807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2026-08-05T14:44:45.2630000Z</dcterms:created>
  <dcterms:modified xsi:type="dcterms:W3CDTF">2026-08-05T14:44:45.2630000Z</dcterms:modified>
</coreProperties>
</file>