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676" y="-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2026-07-22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1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lIns="91440" tIns="45720" rIns="91440" bIns="45720" anchor="ctr" wrap="none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/>
            <a:r>
              <a:rPr sz="1400" spc="39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9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11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184F5D-031D-407D-AD40-B465C5F60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764030"/>
            <a:ext cx="9144000" cy="195961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3100"/>
              <a:t>单张2D图像转浅3D表达</a:t>
            </a:r>
            <a:br/>
            <a:r>
              <a:rPr sz="3100"/>
              <a:t>总体Framework</a:t>
            </a:r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A4C882D1-AD97-4CAC-B43F-16F20B4984C1}"/>
              </a:ext>
            </a:extLst>
          </p:cNvPr>
          <p:cNvSpPr>
            <a:spLocks noGrp="1"/>
          </p:cNvSpPr>
          <p:nvPr/>
        </p:nvSpPr>
        <p:spPr>
          <a:xfrm>
            <a:off x="3335655" y="4516120"/>
            <a:ext cx="2179320" cy="502920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10D5AB70-5DCD-4015-851E-F7DB1E8DC31E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3159760" y="4580255"/>
            <a:ext cx="2531110" cy="438785"/>
          </a:xfrm>
        </p:spPr>
        <p:txBody>
          <a:bodyPr>
            <a:normAutofit fontScale="94615"/>
          </a:bodyPr>
          <a:lstStyle/>
          <a:p>
            <a:pPr marL="0" indent="0">
              <a:buNone/>
            </a:pPr>
            <a:r>
              <a:rPr sz="2000">
                <a:solidFill>
                  <a:schemeClr val="accent1"/>
                </a:solidFill>
              </a:rPr>
              <a:t>汇报人：孟辰洋</a:t>
            </a:r>
          </a:p>
        </p:txBody>
      </p:sp>
      <p:sp>
        <p:nvSpPr>
          <p:cNvPr id="19" name="Shape 1">
            <a:extLst>
              <a:ext uri="{FF2B5EF4-FFF2-40B4-BE49-F238E27FC236}">
                <a16:creationId xmlns:a16="http://schemas.microsoft.com/office/drawing/2014/main" id="{CBFCFBDB-FEAD-4C32-883A-E5ECB37B1E99}"/>
              </a:ext>
            </a:extLst>
          </p:cNvPr>
          <p:cNvSpPr>
            <a:spLocks noGrp="1"/>
          </p:cNvSpPr>
          <p:nvPr/>
        </p:nvSpPr>
        <p:spPr>
          <a:xfrm>
            <a:off x="6307455" y="4516120"/>
            <a:ext cx="2179320" cy="502920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20" name="文本占位符 6">
            <a:extLst>
              <a:ext uri="{FF2B5EF4-FFF2-40B4-BE49-F238E27FC236}">
                <a16:creationId xmlns:a16="http://schemas.microsoft.com/office/drawing/2014/main" id="{499FF255-4201-41C9-B696-0668C8BEE232}"/>
              </a:ext>
            </a:extLst>
          </p:cNvPr>
          <p:cNvSpPr>
            <a:spLocks noGrp="1"/>
          </p:cNvSpPr>
          <p:nvPr/>
        </p:nvSpPr>
        <p:spPr>
          <a:xfrm>
            <a:off x="6131560" y="4580255"/>
            <a:ext cx="2531110" cy="438785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marL="228600" indent="-228600" algn="ctr">
              <a:lnSpc>
                <a:spcPct val="90000"/>
              </a:lnSpc>
              <a:spcBef>
                <a:spcPts val="1000"/>
              </a:spcBef>
              <a:buChar char="•"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None/>
            </a:pPr>
            <a:r>
              <a:rPr sz="2000">
                <a:solidFill>
                  <a:schemeClr val="accent1"/>
                </a:solidFill>
              </a:rPr>
              <a:t>时间：2026.7.22</a:t>
            </a: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CED5BD2-AAA8-4A9C-CEF1-AFA41B5D2BC0}"/>
              </a:ext>
            </a:extLst>
          </p:cNvPr>
          <p:cNvSpPr>
            <a:spLocks noGrp="1"/>
          </p:cNvSpPr>
          <p:nvPr/>
        </p:nvSpPr>
        <p:spPr>
          <a:xfrm>
            <a:off x="9880600" y="952500"/>
            <a:ext cx="1422400" cy="266700"/>
          </a:xfrm>
          <a:prstGeom prst="rect">
            <a:avLst/>
          </a:prstGeom>
          <a:solidFill>
            <a:srgbClr val="C62828"/>
          </a:solidFill>
          <a:ln w="0">
            <a:solidFill>
              <a:srgbClr val="C6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283F044-281B-EB9E-B7B1-DA738F5DDA05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课题目标与核心挑战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5E0358F-92EC-14DF-3D58-B2BB38465181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几何、显露内容和复杂材质必须在移动端约束下同时处理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2702FA4-37EE-6F87-677B-94C57663BCE6}"/>
              </a:ext>
            </a:extLst>
          </p:cNvPr>
          <p:cNvSpPr>
            <a:spLocks noGrp="1"/>
          </p:cNvSpPr>
          <p:nvPr/>
        </p:nvSpPr>
        <p:spPr>
          <a:xfrm>
            <a:off x="685800" y="1155700"/>
            <a:ext cx="2413000" cy="7874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A296145-1BEB-A3E0-4A91-C42B8B732C10}"/>
              </a:ext>
            </a:extLst>
          </p:cNvPr>
          <p:cNvSpPr>
            <a:spLocks noGrp="1"/>
          </p:cNvSpPr>
          <p:nvPr/>
        </p:nvSpPr>
        <p:spPr>
          <a:xfrm>
            <a:off x="749300" y="12446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C62828"/>
                </a:solidFill>
                <a:latin typeface="Arial"/>
                <a:ea typeface="Arial"/>
                <a:cs typeface="Arial"/>
              </a:rPr>
              <a:t>≥30°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DBE320A-A212-2BFE-A08A-9E28EFFB2F1A}"/>
              </a:ext>
            </a:extLst>
          </p:cNvPr>
          <p:cNvSpPr>
            <a:spLocks noGrp="1"/>
          </p:cNvSpPr>
          <p:nvPr/>
        </p:nvSpPr>
        <p:spPr>
          <a:xfrm>
            <a:off x="749300" y="16002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相对视角变化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BF74E98-318F-DF9A-45A3-878A146242A3}"/>
              </a:ext>
            </a:extLst>
          </p:cNvPr>
          <p:cNvSpPr>
            <a:spLocks noGrp="1"/>
          </p:cNvSpPr>
          <p:nvPr/>
        </p:nvSpPr>
        <p:spPr>
          <a:xfrm>
            <a:off x="3403600" y="1155700"/>
            <a:ext cx="2413000" cy="7874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A95FFC-4A8C-0EA0-49CE-BAED7A13F9E2}"/>
              </a:ext>
            </a:extLst>
          </p:cNvPr>
          <p:cNvSpPr>
            <a:spLocks noGrp="1"/>
          </p:cNvSpPr>
          <p:nvPr/>
        </p:nvSpPr>
        <p:spPr>
          <a:xfrm>
            <a:off x="3467100" y="12446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C62828"/>
                </a:solidFill>
                <a:latin typeface="Arial"/>
                <a:ea typeface="Arial"/>
                <a:cs typeface="Arial"/>
              </a:rPr>
              <a:t>DISTS &lt; 0.06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8E8580-CE03-F143-011C-094B4186E022}"/>
              </a:ext>
            </a:extLst>
          </p:cNvPr>
          <p:cNvSpPr>
            <a:spLocks noGrp="1"/>
          </p:cNvSpPr>
          <p:nvPr/>
        </p:nvSpPr>
        <p:spPr>
          <a:xfrm>
            <a:off x="3467100" y="16002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感知质量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8F484A1-CE13-81B7-4041-D64539469451}"/>
              </a:ext>
            </a:extLst>
          </p:cNvPr>
          <p:cNvSpPr>
            <a:spLocks noGrp="1"/>
          </p:cNvSpPr>
          <p:nvPr/>
        </p:nvSpPr>
        <p:spPr>
          <a:xfrm>
            <a:off x="6121400" y="1155700"/>
            <a:ext cx="2413000" cy="7874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E07E8D5-B8BA-D24C-186C-719AD7F67F63}"/>
              </a:ext>
            </a:extLst>
          </p:cNvPr>
          <p:cNvSpPr>
            <a:spLocks noGrp="1"/>
          </p:cNvSpPr>
          <p:nvPr/>
        </p:nvSpPr>
        <p:spPr>
          <a:xfrm>
            <a:off x="6184900" y="12446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C62828"/>
                </a:solidFill>
                <a:latin typeface="Arial"/>
                <a:ea typeface="Arial"/>
                <a:cs typeface="Arial"/>
              </a:rPr>
              <a:t>2K &lt; 5 s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3A5517C-28B2-2713-C100-EC6E2E899A9D}"/>
              </a:ext>
            </a:extLst>
          </p:cNvPr>
          <p:cNvSpPr>
            <a:spLocks noGrp="1"/>
          </p:cNvSpPr>
          <p:nvPr/>
        </p:nvSpPr>
        <p:spPr>
          <a:xfrm>
            <a:off x="6184900" y="16002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生成时间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CE43D17-550A-82F4-A6B4-20295464D811}"/>
              </a:ext>
            </a:extLst>
          </p:cNvPr>
          <p:cNvSpPr>
            <a:spLocks noGrp="1"/>
          </p:cNvSpPr>
          <p:nvPr/>
        </p:nvSpPr>
        <p:spPr>
          <a:xfrm>
            <a:off x="8839200" y="1155700"/>
            <a:ext cx="2413000" cy="7874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F1FE0C4-3D7C-6278-7646-4214EE2A8B50}"/>
              </a:ext>
            </a:extLst>
          </p:cNvPr>
          <p:cNvSpPr>
            <a:spLocks noGrp="1"/>
          </p:cNvSpPr>
          <p:nvPr/>
        </p:nvSpPr>
        <p:spPr>
          <a:xfrm>
            <a:off x="8902700" y="12446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C62828"/>
                </a:solidFill>
                <a:latin typeface="Arial"/>
                <a:ea typeface="Arial"/>
                <a:cs typeface="Arial"/>
              </a:rPr>
              <a:t>内存 &lt; 3 GB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D5F9E3C-A5E8-BEB2-DDB2-9D8AEC8C5DB8}"/>
              </a:ext>
            </a:extLst>
          </p:cNvPr>
          <p:cNvSpPr>
            <a:spLocks noGrp="1"/>
          </p:cNvSpPr>
          <p:nvPr/>
        </p:nvSpPr>
        <p:spPr>
          <a:xfrm>
            <a:off x="8902700" y="16002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运行内存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F971BB4-042D-8D9C-F6AD-C817C01BF383}"/>
              </a:ext>
            </a:extLst>
          </p:cNvPr>
          <p:cNvSpPr>
            <a:spLocks noGrp="1"/>
          </p:cNvSpPr>
          <p:nvPr/>
        </p:nvSpPr>
        <p:spPr>
          <a:xfrm>
            <a:off x="685800" y="2286000"/>
            <a:ext cx="3200400" cy="31115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3819AB1-4898-A9FA-DCCC-F420DA7C6FD2}"/>
              </a:ext>
            </a:extLst>
          </p:cNvPr>
          <p:cNvSpPr>
            <a:spLocks noGrp="1"/>
          </p:cNvSpPr>
          <p:nvPr/>
        </p:nvSpPr>
        <p:spPr>
          <a:xfrm>
            <a:off x="2336800" y="2565400"/>
            <a:ext cx="1371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细粒度几何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6D046429-F290-5915-0FB0-444AC6DB563F}"/>
              </a:ext>
            </a:extLst>
          </p:cNvPr>
          <p:cNvSpPr>
            <a:spLocks noGrp="1"/>
          </p:cNvSpPr>
          <p:nvPr/>
        </p:nvSpPr>
        <p:spPr>
          <a:xfrm>
            <a:off x="2336800" y="2997200"/>
            <a:ext cx="1371600" cy="1410643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丝线、栏杆与花茎存在前后景混合，单层深度容易错接。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982F1DA-4799-8268-4525-E233474D81EB}"/>
              </a:ext>
            </a:extLst>
          </p:cNvPr>
          <p:cNvSpPr>
            <a:spLocks noGrp="1"/>
          </p:cNvSpPr>
          <p:nvPr/>
        </p:nvSpPr>
        <p:spPr>
          <a:xfrm>
            <a:off x="4495800" y="2286000"/>
            <a:ext cx="3200400" cy="31115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260ED70-00FB-B2BD-5588-4A6FBBB955CF}"/>
              </a:ext>
            </a:extLst>
          </p:cNvPr>
          <p:cNvSpPr>
            <a:spLocks noGrp="1"/>
          </p:cNvSpPr>
          <p:nvPr/>
        </p:nvSpPr>
        <p:spPr>
          <a:xfrm>
            <a:off x="6146800" y="2565400"/>
            <a:ext cx="13716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显露内容补全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EB09AB2-4008-5CAB-68C4-EB3E60117330}"/>
              </a:ext>
            </a:extLst>
          </p:cNvPr>
          <p:cNvSpPr>
            <a:spLocks noGrp="1"/>
          </p:cNvSpPr>
          <p:nvPr/>
        </p:nvSpPr>
        <p:spPr>
          <a:xfrm>
            <a:off x="6146800" y="2997200"/>
            <a:ext cx="1371600" cy="1410643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新视角会看到原图中不存在的区域，不能只做深度重投影。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4195FB9-E4E7-E8C4-9104-3B369DE4FA31}"/>
              </a:ext>
            </a:extLst>
          </p:cNvPr>
          <p:cNvSpPr>
            <a:spLocks noGrp="1"/>
          </p:cNvSpPr>
          <p:nvPr/>
        </p:nvSpPr>
        <p:spPr>
          <a:xfrm>
            <a:off x="8305800" y="2286000"/>
            <a:ext cx="3200400" cy="31115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A755CD8C-DFE1-BC4A-73BD-2B1E272F8190}"/>
              </a:ext>
            </a:extLst>
          </p:cNvPr>
          <p:cNvSpPr>
            <a:spLocks noGrp="1"/>
          </p:cNvSpPr>
          <p:nvPr/>
        </p:nvSpPr>
        <p:spPr>
          <a:xfrm>
            <a:off x="9956800" y="2565400"/>
            <a:ext cx="13716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复杂材质表达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383439F-3730-F176-F2AE-19DA823B43D6}"/>
              </a:ext>
            </a:extLst>
          </p:cNvPr>
          <p:cNvSpPr>
            <a:spLocks noGrp="1"/>
          </p:cNvSpPr>
          <p:nvPr/>
        </p:nvSpPr>
        <p:spPr>
          <a:xfrm>
            <a:off x="9956800" y="2997200"/>
            <a:ext cx="1371600" cy="1410643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透明、反射区域的颜色随视角变化，单一深度与固定RGB难以准确表达。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2C49944-FD48-ABF4-6853-0F53710675DC}"/>
              </a:ext>
            </a:extLst>
          </p:cNvPr>
          <p:cNvSpPr>
            <a:spLocks noGrp="1"/>
          </p:cNvSpPr>
          <p:nvPr/>
        </p:nvSpPr>
        <p:spPr>
          <a:xfrm>
            <a:off x="685800" y="5816600"/>
            <a:ext cx="108204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2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方案边界：隐藏区域只能追求视觉合理与跨视角一致，不能声称真实恢复。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82BC26A-CA44-2B6F-1058-2CE5E6AFF803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23CFFD6-F506-C1B8-6289-E0BDAE72C270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pic>
        <p:nvPicPr>
          <p:cNvPr id="66" name="图片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00" y="2489200"/>
            <a:ext cx="1320800" cy="19304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pic>
        <p:nvPicPr>
          <p:cNvPr id="67" name="图片 3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600" y="2489200"/>
            <a:ext cx="1320800" cy="19304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pic>
        <p:nvPicPr>
          <p:cNvPr id="68" name="图片 3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3600" y="2489200"/>
            <a:ext cx="1320800" cy="19304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6581CF5F-36B4-1183-4DC1-5F410C7CF54C}"/>
              </a:ext>
            </a:extLst>
          </p:cNvPr>
          <p:cNvSpPr>
            <a:spLocks noGrp="1"/>
          </p:cNvSpPr>
          <p:nvPr/>
        </p:nvSpPr>
        <p:spPr>
          <a:xfrm>
            <a:off x="9880600" y="965200"/>
            <a:ext cx="1422400" cy="266700"/>
          </a:xfrm>
          <a:prstGeom prst="rect">
            <a:avLst/>
          </a:prstGeom>
          <a:solidFill>
            <a:srgbClr val="C72A2A"/>
          </a:solidFill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待验证目标</a:t>
            </a:r>
          </a:p>
        </p:txBody>
      </p:sp>
    </p:spTree>
    <p:extLst>
      <p:ext uri="{BB962C8B-B14F-4D97-AF65-F5344CB8AC3E}">
        <p14:creationId xmlns:p14="http://schemas.microsoft.com/office/powerpoint/2010/main" val="803055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FC9FE12-B5FE-D32A-D29F-E243186B7168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相关工作与能力来源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837108F-9542-E21F-4AD5-51C82B3C6FFC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从方法能力出发组织Framework，而不是拼接五套完整系统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7956F51-3288-AB04-C5FC-658C59537071}"/>
              </a:ext>
            </a:extLst>
          </p:cNvPr>
          <p:cNvSpPr>
            <a:spLocks noGrp="1"/>
          </p:cNvSpPr>
          <p:nvPr/>
        </p:nvSpPr>
        <p:spPr>
          <a:xfrm>
            <a:off x="685800" y="1168400"/>
            <a:ext cx="1524000" cy="381000"/>
          </a:xfrm>
          <a:prstGeom prst="rect">
            <a:avLst/>
          </a:prstGeom>
          <a:solidFill>
            <a:srgbClr val="0D569A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DBD93DC-D4D0-1A4F-068D-B10B9E97C466}"/>
              </a:ext>
            </a:extLst>
          </p:cNvPr>
          <p:cNvSpPr>
            <a:spLocks noGrp="1"/>
          </p:cNvSpPr>
          <p:nvPr/>
        </p:nvSpPr>
        <p:spPr>
          <a:xfrm>
            <a:off x="749300" y="11938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E2A6182-EA43-481F-0636-E7D56B0F69C5}"/>
              </a:ext>
            </a:extLst>
          </p:cNvPr>
          <p:cNvSpPr>
            <a:spLocks noGrp="1"/>
          </p:cNvSpPr>
          <p:nvPr/>
        </p:nvSpPr>
        <p:spPr>
          <a:xfrm>
            <a:off x="2209800" y="1168400"/>
            <a:ext cx="4749800" cy="381000"/>
          </a:xfrm>
          <a:prstGeom prst="rect">
            <a:avLst/>
          </a:prstGeom>
          <a:solidFill>
            <a:srgbClr val="0D569A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EE99468-4A63-3948-820E-2EA1AFDC86EE}"/>
              </a:ext>
            </a:extLst>
          </p:cNvPr>
          <p:cNvSpPr>
            <a:spLocks noGrp="1"/>
          </p:cNvSpPr>
          <p:nvPr/>
        </p:nvSpPr>
        <p:spPr>
          <a:xfrm>
            <a:off x="2273300" y="11938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提供的能力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732FECB-CB16-8F36-4A70-539CFD79EDFC}"/>
              </a:ext>
            </a:extLst>
          </p:cNvPr>
          <p:cNvSpPr>
            <a:spLocks noGrp="1"/>
          </p:cNvSpPr>
          <p:nvPr/>
        </p:nvSpPr>
        <p:spPr>
          <a:xfrm>
            <a:off x="6959600" y="1168400"/>
            <a:ext cx="4546600" cy="381000"/>
          </a:xfrm>
          <a:prstGeom prst="rect">
            <a:avLst/>
          </a:prstGeom>
          <a:solidFill>
            <a:srgbClr val="0D569A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9AED9E-DC84-9FC9-6B0E-7DAB5305AA66}"/>
              </a:ext>
            </a:extLst>
          </p:cNvPr>
          <p:cNvSpPr>
            <a:spLocks noGrp="1"/>
          </p:cNvSpPr>
          <p:nvPr/>
        </p:nvSpPr>
        <p:spPr>
          <a:xfrm>
            <a:off x="7023100" y="11938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在本Framework中的位置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1182B0D-5DA1-A1CC-4FD2-7E42740F5DC8}"/>
              </a:ext>
            </a:extLst>
          </p:cNvPr>
          <p:cNvSpPr>
            <a:spLocks noGrp="1"/>
          </p:cNvSpPr>
          <p:nvPr/>
        </p:nvSpPr>
        <p:spPr>
          <a:xfrm>
            <a:off x="685800" y="1549400"/>
            <a:ext cx="15240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A7AD0D8-22B2-AEFC-9EBE-0C9377CF3615}"/>
              </a:ext>
            </a:extLst>
          </p:cNvPr>
          <p:cNvSpPr>
            <a:spLocks noGrp="1"/>
          </p:cNvSpPr>
          <p:nvPr/>
        </p:nvSpPr>
        <p:spPr>
          <a:xfrm>
            <a:off x="749300" y="15748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NeRF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D2867AB-A124-0CEA-F5F5-AC9329693141}"/>
              </a:ext>
            </a:extLst>
          </p:cNvPr>
          <p:cNvSpPr>
            <a:spLocks noGrp="1"/>
          </p:cNvSpPr>
          <p:nvPr/>
        </p:nvSpPr>
        <p:spPr>
          <a:xfrm>
            <a:off x="2209800" y="1549400"/>
            <a:ext cx="47498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68C5B74-6230-61EC-8D90-42C06C9B9526}"/>
              </a:ext>
            </a:extLst>
          </p:cNvPr>
          <p:cNvSpPr>
            <a:spLocks noGrp="1"/>
          </p:cNvSpPr>
          <p:nvPr/>
        </p:nvSpPr>
        <p:spPr>
          <a:xfrm>
            <a:off x="2273300" y="1574800"/>
            <a:ext cx="46228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体渲染、Alpha合成、几何与视角相关外观分离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ACC3838-E3BB-DB9A-4270-F4BAA6E681AE}"/>
              </a:ext>
            </a:extLst>
          </p:cNvPr>
          <p:cNvSpPr>
            <a:spLocks noGrp="1"/>
          </p:cNvSpPr>
          <p:nvPr/>
        </p:nvSpPr>
        <p:spPr>
          <a:xfrm>
            <a:off x="6959600" y="1549400"/>
            <a:ext cx="45466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C2B9E9-90D9-21C9-5FB3-CC6846B54095}"/>
              </a:ext>
            </a:extLst>
          </p:cNvPr>
          <p:cNvSpPr>
            <a:spLocks noGrp="1"/>
          </p:cNvSpPr>
          <p:nvPr/>
        </p:nvSpPr>
        <p:spPr>
          <a:xfrm>
            <a:off x="7023100" y="15748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透明合成与视角相关外观建模基础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BC591DB-0011-E81F-2DF7-37766B91ECD3}"/>
              </a:ext>
            </a:extLst>
          </p:cNvPr>
          <p:cNvSpPr>
            <a:spLocks noGrp="1"/>
          </p:cNvSpPr>
          <p:nvPr/>
        </p:nvSpPr>
        <p:spPr>
          <a:xfrm>
            <a:off x="685800" y="2286000"/>
            <a:ext cx="15240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EA55CAF-CD51-2800-13BE-57D182AA40CE}"/>
              </a:ext>
            </a:extLst>
          </p:cNvPr>
          <p:cNvSpPr>
            <a:spLocks noGrp="1"/>
          </p:cNvSpPr>
          <p:nvPr/>
        </p:nvSpPr>
        <p:spPr>
          <a:xfrm>
            <a:off x="749300" y="23114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3DGS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8A769CF-274E-C468-3981-100748DD500A}"/>
              </a:ext>
            </a:extLst>
          </p:cNvPr>
          <p:cNvSpPr>
            <a:spLocks noGrp="1"/>
          </p:cNvSpPr>
          <p:nvPr/>
        </p:nvSpPr>
        <p:spPr>
          <a:xfrm>
            <a:off x="2209800" y="2286000"/>
            <a:ext cx="47498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F725BF9-AF64-BD55-F559-2FFC62012477}"/>
              </a:ext>
            </a:extLst>
          </p:cNvPr>
          <p:cNvSpPr>
            <a:spLocks noGrp="1"/>
          </p:cNvSpPr>
          <p:nvPr/>
        </p:nvSpPr>
        <p:spPr>
          <a:xfrm>
            <a:off x="2273300" y="23114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显式表示、快速光栅化、剪枝与实时渲染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AF45598-15C7-670F-6927-BA4E760DE903}"/>
              </a:ext>
            </a:extLst>
          </p:cNvPr>
          <p:cNvSpPr>
            <a:spLocks noGrp="1"/>
          </p:cNvSpPr>
          <p:nvPr/>
        </p:nvSpPr>
        <p:spPr>
          <a:xfrm>
            <a:off x="6959600" y="2286000"/>
            <a:ext cx="45466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DC4105C-AB67-A184-2367-C3E0A47979A6}"/>
              </a:ext>
            </a:extLst>
          </p:cNvPr>
          <p:cNvSpPr>
            <a:spLocks noGrp="1"/>
          </p:cNvSpPr>
          <p:nvPr/>
        </p:nvSpPr>
        <p:spPr>
          <a:xfrm>
            <a:off x="7023100" y="23114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最终核心表示、压缩与移动端渲染基础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CCD23ED-6AB8-D254-5EBD-9885CFA54915}"/>
              </a:ext>
            </a:extLst>
          </p:cNvPr>
          <p:cNvSpPr>
            <a:spLocks noGrp="1"/>
          </p:cNvSpPr>
          <p:nvPr/>
        </p:nvSpPr>
        <p:spPr>
          <a:xfrm>
            <a:off x="685800" y="3022600"/>
            <a:ext cx="15240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E8BD66A-BB2F-CE0B-0ADD-EB6A9AA23831}"/>
              </a:ext>
            </a:extLst>
          </p:cNvPr>
          <p:cNvSpPr>
            <a:spLocks noGrp="1"/>
          </p:cNvSpPr>
          <p:nvPr/>
        </p:nvSpPr>
        <p:spPr>
          <a:xfrm>
            <a:off x="749300" y="3048000"/>
            <a:ext cx="1397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3D Photography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4D20C64-D670-D08F-81EF-8C5E2B9B2FD5}"/>
              </a:ext>
            </a:extLst>
          </p:cNvPr>
          <p:cNvSpPr>
            <a:spLocks noGrp="1"/>
          </p:cNvSpPr>
          <p:nvPr/>
        </p:nvSpPr>
        <p:spPr>
          <a:xfrm>
            <a:off x="2209800" y="3022600"/>
            <a:ext cx="47498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8CB0E430-4B62-6FCD-2E4E-5944CA34B5C5}"/>
              </a:ext>
            </a:extLst>
          </p:cNvPr>
          <p:cNvSpPr>
            <a:spLocks noGrp="1"/>
          </p:cNvSpPr>
          <p:nvPr/>
        </p:nvSpPr>
        <p:spPr>
          <a:xfrm>
            <a:off x="2273300" y="30480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深度边界处理与RGB-D显露区域补全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5C6CD4D-860D-2524-414F-ABD193E5CF04}"/>
              </a:ext>
            </a:extLst>
          </p:cNvPr>
          <p:cNvSpPr>
            <a:spLocks noGrp="1"/>
          </p:cNvSpPr>
          <p:nvPr/>
        </p:nvSpPr>
        <p:spPr>
          <a:xfrm>
            <a:off x="6959600" y="3022600"/>
            <a:ext cx="45466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AAA7819-652B-4245-A8E2-B7BC6B43A0EC}"/>
              </a:ext>
            </a:extLst>
          </p:cNvPr>
          <p:cNvSpPr>
            <a:spLocks noGrp="1"/>
          </p:cNvSpPr>
          <p:nvPr/>
        </p:nvSpPr>
        <p:spPr>
          <a:xfrm>
            <a:off x="7023100" y="30480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结构优先的联合补全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DD7B207-3A3C-FFC5-0C76-6C881C895911}"/>
              </a:ext>
            </a:extLst>
          </p:cNvPr>
          <p:cNvSpPr>
            <a:spLocks noGrp="1"/>
          </p:cNvSpPr>
          <p:nvPr/>
        </p:nvSpPr>
        <p:spPr>
          <a:xfrm>
            <a:off x="685800" y="3759200"/>
            <a:ext cx="15240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4DAE448-D1AF-DDBE-9EDB-58E8E630F45D}"/>
              </a:ext>
            </a:extLst>
          </p:cNvPr>
          <p:cNvSpPr>
            <a:spLocks noGrp="1"/>
          </p:cNvSpPr>
          <p:nvPr/>
        </p:nvSpPr>
        <p:spPr>
          <a:xfrm>
            <a:off x="749300" y="37846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SLIDE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6616163-5D54-0300-96CC-5A1EA32305D3}"/>
              </a:ext>
            </a:extLst>
          </p:cNvPr>
          <p:cNvSpPr>
            <a:spLocks noGrp="1"/>
          </p:cNvSpPr>
          <p:nvPr/>
        </p:nvSpPr>
        <p:spPr>
          <a:xfrm>
            <a:off x="2209800" y="3759200"/>
            <a:ext cx="47498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0EB626B-781A-90A5-793D-39C7444EAB50}"/>
              </a:ext>
            </a:extLst>
          </p:cNvPr>
          <p:cNvSpPr>
            <a:spLocks noGrp="1"/>
          </p:cNvSpPr>
          <p:nvPr/>
        </p:nvSpPr>
        <p:spPr>
          <a:xfrm>
            <a:off x="2273300" y="37846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Soft Layering、Matting与细结构保护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995CBDD-AF44-231D-77B0-287CE0D3A1B4}"/>
              </a:ext>
            </a:extLst>
          </p:cNvPr>
          <p:cNvSpPr>
            <a:spLocks noGrp="1"/>
          </p:cNvSpPr>
          <p:nvPr/>
        </p:nvSpPr>
        <p:spPr>
          <a:xfrm>
            <a:off x="6959600" y="3759200"/>
            <a:ext cx="45466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85D005BC-B599-9611-0AE4-011596CB725E}"/>
              </a:ext>
            </a:extLst>
          </p:cNvPr>
          <p:cNvSpPr>
            <a:spLocks noGrp="1"/>
          </p:cNvSpPr>
          <p:nvPr/>
        </p:nvSpPr>
        <p:spPr>
          <a:xfrm>
            <a:off x="7023100" y="37846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分层先验与细结构高斯生成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EE04E11-06F7-ABD3-AA66-BFABAABBD77B}"/>
              </a:ext>
            </a:extLst>
          </p:cNvPr>
          <p:cNvSpPr>
            <a:spLocks noGrp="1"/>
          </p:cNvSpPr>
          <p:nvPr/>
        </p:nvSpPr>
        <p:spPr>
          <a:xfrm>
            <a:off x="685800" y="4495800"/>
            <a:ext cx="15240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BF052D1-8720-8C2F-630F-6B16264DBFE0}"/>
              </a:ext>
            </a:extLst>
          </p:cNvPr>
          <p:cNvSpPr>
            <a:spLocks noGrp="1"/>
          </p:cNvSpPr>
          <p:nvPr/>
        </p:nvSpPr>
        <p:spPr>
          <a:xfrm>
            <a:off x="749300" y="45212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SHARP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7E40291-2AAF-D177-6B7C-04A88BFF0E70}"/>
              </a:ext>
            </a:extLst>
          </p:cNvPr>
          <p:cNvSpPr>
            <a:spLocks noGrp="1"/>
          </p:cNvSpPr>
          <p:nvPr/>
        </p:nvSpPr>
        <p:spPr>
          <a:xfrm>
            <a:off x="2209800" y="4495800"/>
            <a:ext cx="47498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E41F07FC-F9CE-4820-1287-F7768FC5E007}"/>
              </a:ext>
            </a:extLst>
          </p:cNvPr>
          <p:cNvSpPr>
            <a:spLocks noGrp="1"/>
          </p:cNvSpPr>
          <p:nvPr/>
        </p:nvSpPr>
        <p:spPr>
          <a:xfrm>
            <a:off x="2273300" y="45212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单图前馈3DGS、双层深度与Base+Delta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67A0D56-DBBC-7A93-0038-4771140E7139}"/>
              </a:ext>
            </a:extLst>
          </p:cNvPr>
          <p:cNvSpPr>
            <a:spLocks noGrp="1"/>
          </p:cNvSpPr>
          <p:nvPr/>
        </p:nvSpPr>
        <p:spPr>
          <a:xfrm>
            <a:off x="6959600" y="4495800"/>
            <a:ext cx="45466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C98415F-4E09-949C-AE27-92F7A462A8ED}"/>
              </a:ext>
            </a:extLst>
          </p:cNvPr>
          <p:cNvSpPr>
            <a:spLocks noGrp="1"/>
          </p:cNvSpPr>
          <p:nvPr/>
        </p:nvSpPr>
        <p:spPr>
          <a:xfrm>
            <a:off x="7023100" y="45212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单图3DGS骨干、附近视角基线与复现参照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05C9D20-5410-1AEF-D442-62BC8922330C}"/>
              </a:ext>
            </a:extLst>
          </p:cNvPr>
          <p:cNvSpPr>
            <a:spLocks noGrp="1"/>
          </p:cNvSpPr>
          <p:nvPr/>
        </p:nvSpPr>
        <p:spPr>
          <a:xfrm>
            <a:off x="685800" y="5473700"/>
            <a:ext cx="10820400" cy="622300"/>
          </a:xfrm>
          <a:prstGeom prst="rect">
            <a:avLst/>
          </a:prstGeom>
          <a:solidFill>
            <a:srgbClr val="EEF5FB"/>
          </a:solidFill>
          <a:ln w="12700">
            <a:solidFill>
              <a:srgbClr val="22C7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110A62-88D6-99F7-7E60-4E93F519CD58}"/>
              </a:ext>
            </a:extLst>
          </p:cNvPr>
          <p:cNvSpPr>
            <a:spLocks noGrp="1"/>
          </p:cNvSpPr>
          <p:nvPr/>
        </p:nvSpPr>
        <p:spPr>
          <a:xfrm>
            <a:off x="914400" y="5626100"/>
            <a:ext cx="103632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路线判断：以轻量化3DGS作为最终核心表示，重点研究显露高斯补全、压缩与移动端渲染。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7C38F68-59D0-E3C9-28DA-886A68C5D701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759B643-28D0-AF38-35E8-5553046CBBD6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085578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AEDC0F1-8081-0A95-C872-3FF3B39C136C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SHARP能力基线与缺口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B2CE47B-F14D-3F28-7113-F02E9BC655B9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已完成的复现结果与新Framework需要解决的能力缺口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7B27E1F-0706-083F-BA4F-A2CA787256BF}"/>
              </a:ext>
            </a:extLst>
          </p:cNvPr>
          <p:cNvSpPr>
            <a:spLocks noGrp="1"/>
          </p:cNvSpPr>
          <p:nvPr/>
        </p:nvSpPr>
        <p:spPr>
          <a:xfrm>
            <a:off x="685800" y="1117568"/>
            <a:ext cx="1092200" cy="2921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07107D-74F8-AF40-4039-66F84DA834BE}"/>
              </a:ext>
            </a:extLst>
          </p:cNvPr>
          <p:cNvSpPr>
            <a:spLocks noGrp="1"/>
          </p:cNvSpPr>
          <p:nvPr/>
        </p:nvSpPr>
        <p:spPr>
          <a:xfrm>
            <a:off x="723900" y="1143000"/>
            <a:ext cx="101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已完成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2F8BB9E-3357-42A8-17CC-3A2CF24C411B}"/>
              </a:ext>
            </a:extLst>
          </p:cNvPr>
          <p:cNvSpPr>
            <a:spLocks noGrp="1"/>
          </p:cNvSpPr>
          <p:nvPr/>
        </p:nvSpPr>
        <p:spPr>
          <a:xfrm>
            <a:off x="8293100" y="1180499"/>
            <a:ext cx="1092200" cy="292100"/>
          </a:xfrm>
          <a:prstGeom prst="rect">
            <a:avLst/>
          </a:prstGeom>
          <a:solidFill>
            <a:srgbClr val="C62828"/>
          </a:solidFill>
          <a:ln w="0">
            <a:solidFill>
              <a:srgbClr val="C6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CC7C68F-E021-9D53-C1F7-CB980D8F09A9}"/>
              </a:ext>
            </a:extLst>
          </p:cNvPr>
          <p:cNvSpPr>
            <a:spLocks noGrp="1"/>
          </p:cNvSpPr>
          <p:nvPr/>
        </p:nvSpPr>
        <p:spPr>
          <a:xfrm>
            <a:off x="8331200" y="1205931"/>
            <a:ext cx="101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待解决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0843837-1B1C-E19F-C212-C0188FFF22A3}"/>
              </a:ext>
            </a:extLst>
          </p:cNvPr>
          <p:cNvSpPr>
            <a:spLocks noGrp="1"/>
          </p:cNvSpPr>
          <p:nvPr/>
        </p:nvSpPr>
        <p:spPr>
          <a:xfrm>
            <a:off x="685800" y="1549400"/>
            <a:ext cx="2032000" cy="7366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E5763B3-ED89-5629-47F1-748D6CB44EC3}"/>
              </a:ext>
            </a:extLst>
          </p:cNvPr>
          <p:cNvSpPr>
            <a:spLocks noGrp="1"/>
          </p:cNvSpPr>
          <p:nvPr/>
        </p:nvSpPr>
        <p:spPr>
          <a:xfrm>
            <a:off x="749300" y="16510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700"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18/18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E4B7CD8-745E-E70A-C098-8B39BC40C9A0}"/>
              </a:ext>
            </a:extLst>
          </p:cNvPr>
          <p:cNvSpPr>
            <a:spLocks noGrp="1"/>
          </p:cNvSpPr>
          <p:nvPr/>
        </p:nvSpPr>
        <p:spPr>
          <a:xfrm>
            <a:off x="723900" y="1763767"/>
            <a:ext cx="1905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0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真实照片完成预测与渲染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CF94DC5-566F-7392-4F42-1A2E55FC04CB}"/>
              </a:ext>
            </a:extLst>
          </p:cNvPr>
          <p:cNvSpPr>
            <a:spLocks noGrp="1"/>
          </p:cNvSpPr>
          <p:nvPr/>
        </p:nvSpPr>
        <p:spPr>
          <a:xfrm>
            <a:off x="2946400" y="1549400"/>
            <a:ext cx="2032000" cy="7366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FDBBF71-1610-6863-6C4F-E95F5839C20A}"/>
              </a:ext>
            </a:extLst>
          </p:cNvPr>
          <p:cNvSpPr>
            <a:spLocks noGrp="1"/>
          </p:cNvSpPr>
          <p:nvPr/>
        </p:nvSpPr>
        <p:spPr>
          <a:xfrm>
            <a:off x="3009900" y="16510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700"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1,179,648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8E1BFF6-52B1-01BA-37CF-C32C06EE719B}"/>
              </a:ext>
            </a:extLst>
          </p:cNvPr>
          <p:cNvSpPr>
            <a:spLocks noGrp="1"/>
          </p:cNvSpPr>
          <p:nvPr/>
        </p:nvSpPr>
        <p:spPr>
          <a:xfrm>
            <a:off x="3009900" y="19431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0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每图高斯数量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193C791-8E6C-CA21-198F-21B566DBE95F}"/>
              </a:ext>
            </a:extLst>
          </p:cNvPr>
          <p:cNvSpPr>
            <a:spLocks noGrp="1"/>
          </p:cNvSpPr>
          <p:nvPr/>
        </p:nvSpPr>
        <p:spPr>
          <a:xfrm>
            <a:off x="5207000" y="1549400"/>
            <a:ext cx="2032000" cy="7366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DF8867F-D26F-8996-F758-74CC7D7515D9}"/>
              </a:ext>
            </a:extLst>
          </p:cNvPr>
          <p:cNvSpPr>
            <a:spLocks noGrp="1"/>
          </p:cNvSpPr>
          <p:nvPr/>
        </p:nvSpPr>
        <p:spPr>
          <a:xfrm>
            <a:off x="5270500" y="16510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700"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约66 MB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42D8761-DA85-4C67-B07F-A1EA80079B18}"/>
              </a:ext>
            </a:extLst>
          </p:cNvPr>
          <p:cNvSpPr>
            <a:spLocks noGrp="1"/>
          </p:cNvSpPr>
          <p:nvPr/>
        </p:nvSpPr>
        <p:spPr>
          <a:xfrm>
            <a:off x="5270500" y="19431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0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单场景PLY</a:t>
            </a:r>
          </a:p>
        </p:txBody>
      </p:sp>
      <p:pic>
        <p:nvPicPr>
          <p:cNvPr id="52" name="图片 17"/>
          <p:cNvPicPr>
            <a:picLocks noChangeAspect="1"/>
          </p:cNvPicPr>
          <p:nvPr/>
        </p:nvPicPr>
        <p:blipFill>
          <a:blip r:embed="rId3"/>
          <a:srcRect t="12677" b="12677"/>
          <a:stretch>
            <a:fillRect/>
          </a:stretch>
        </p:blipFill>
        <p:spPr>
          <a:xfrm>
            <a:off x="685800" y="2565400"/>
            <a:ext cx="3175000" cy="17780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pic>
        <p:nvPicPr>
          <p:cNvPr id="53" name="图片 19"/>
          <p:cNvPicPr>
            <a:picLocks noChangeAspect="1"/>
          </p:cNvPicPr>
          <p:nvPr/>
        </p:nvPicPr>
        <p:blipFill>
          <a:blip r:embed="rId4"/>
          <a:srcRect t="5938" b="5938"/>
          <a:stretch>
            <a:fillRect/>
          </a:stretch>
        </p:blipFill>
        <p:spPr>
          <a:xfrm>
            <a:off x="4508500" y="2565400"/>
            <a:ext cx="3175000" cy="17780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pic>
        <p:nvPicPr>
          <p:cNvPr id="54" name="图片 21"/>
          <p:cNvPicPr>
            <a:picLocks noChangeAspect="1"/>
          </p:cNvPicPr>
          <p:nvPr/>
        </p:nvPicPr>
        <p:blipFill>
          <a:blip r:embed="rId5"/>
          <a:srcRect t="5938" b="5938"/>
          <a:stretch>
            <a:fillRect/>
          </a:stretch>
        </p:blipFill>
        <p:spPr>
          <a:xfrm>
            <a:off x="8331200" y="2565400"/>
            <a:ext cx="3175000" cy="17780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209AA1B0-89C5-DA0E-D3BE-E7E44F0DA8EF}"/>
              </a:ext>
            </a:extLst>
          </p:cNvPr>
          <p:cNvSpPr>
            <a:spLocks noGrp="1"/>
          </p:cNvSpPr>
          <p:nvPr/>
        </p:nvSpPr>
        <p:spPr>
          <a:xfrm>
            <a:off x="685800" y="2286000"/>
            <a:ext cx="317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输入图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F912643D-38EA-5A7D-A670-F7CE122B1C93}"/>
              </a:ext>
            </a:extLst>
          </p:cNvPr>
          <p:cNvSpPr>
            <a:spLocks noGrp="1"/>
          </p:cNvSpPr>
          <p:nvPr/>
        </p:nvSpPr>
        <p:spPr>
          <a:xfrm>
            <a:off x="4508500" y="2286000"/>
            <a:ext cx="317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附近新视角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90EC98D-5A5A-2C66-49B7-94DA150F6E25}"/>
              </a:ext>
            </a:extLst>
          </p:cNvPr>
          <p:cNvSpPr>
            <a:spLocks noGrp="1"/>
          </p:cNvSpPr>
          <p:nvPr/>
        </p:nvSpPr>
        <p:spPr>
          <a:xfrm>
            <a:off x="8331200" y="2286000"/>
            <a:ext cx="317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遮挡交界局部拖影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7F4DCBB-C89F-1A71-8F57-9507E7B9A815}"/>
              </a:ext>
            </a:extLst>
          </p:cNvPr>
          <p:cNvSpPr>
            <a:spLocks noGrp="1"/>
          </p:cNvSpPr>
          <p:nvPr/>
        </p:nvSpPr>
        <p:spPr>
          <a:xfrm>
            <a:off x="4508500" y="2565400"/>
            <a:ext cx="317500" cy="1778000"/>
          </a:xfrm>
          <a:prstGeom prst="rect">
            <a:avLst/>
          </a:prstGeom>
          <a:solidFill>
            <a:srgbClr val="C62828">
              <a:alpha val="28000"/>
            </a:srgbClr>
          </a:solidFill>
          <a:ln w="12700">
            <a:solidFill>
              <a:srgbClr val="C6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78AEDC1-C73F-AD3E-7C38-CD0FDDCB44BF}"/>
              </a:ext>
            </a:extLst>
          </p:cNvPr>
          <p:cNvSpPr>
            <a:spLocks noGrp="1"/>
          </p:cNvSpPr>
          <p:nvPr/>
        </p:nvSpPr>
        <p:spPr>
          <a:xfrm>
            <a:off x="9474200" y="3149600"/>
            <a:ext cx="914400" cy="965200"/>
          </a:xfrm>
          <a:prstGeom prst="rect">
            <a:avLst/>
          </a:prstGeom>
          <a:solidFill>
            <a:srgbClr val="C62828">
              <a:alpha val="0"/>
            </a:srgbClr>
          </a:solidFill>
          <a:ln w="16510">
            <a:solidFill>
              <a:srgbClr val="C6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E2A3745-346E-9A30-EE77-B545F24A8D5E}"/>
              </a:ext>
            </a:extLst>
          </p:cNvPr>
          <p:cNvSpPr>
            <a:spLocks noGrp="1"/>
          </p:cNvSpPr>
          <p:nvPr/>
        </p:nvSpPr>
        <p:spPr>
          <a:xfrm>
            <a:off x="685800" y="46101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已有能力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314A512-1A72-8AD7-1EED-47D0778A5A47}"/>
              </a:ext>
            </a:extLst>
          </p:cNvPr>
          <p:cNvSpPr>
            <a:spLocks noGrp="1"/>
          </p:cNvSpPr>
          <p:nvPr/>
        </p:nvSpPr>
        <p:spPr>
          <a:xfrm>
            <a:off x="685800" y="4953000"/>
            <a:ext cx="4953000" cy="856645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单图一次前向生成显式3D表示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附近视角中心区域总体稳定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交互阶段无需再次运行生成网络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624A116-8E65-43D1-986A-73E0936DC4E2}"/>
              </a:ext>
            </a:extLst>
          </p:cNvPr>
          <p:cNvSpPr>
            <a:spLocks noGrp="1"/>
          </p:cNvSpPr>
          <p:nvPr/>
        </p:nvSpPr>
        <p:spPr>
          <a:xfrm>
            <a:off x="6350000" y="46101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能力缺口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CC9DB99-2448-18CE-E612-995BFEB1BA03}"/>
              </a:ext>
            </a:extLst>
          </p:cNvPr>
          <p:cNvSpPr>
            <a:spLocks noGrp="1"/>
          </p:cNvSpPr>
          <p:nvPr/>
        </p:nvSpPr>
        <p:spPr>
          <a:xfrm>
            <a:off x="6350000" y="4953000"/>
            <a:ext cx="5156200" cy="856645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尚未证明满足30°目标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边缘软化、显露拖影与细结构粗化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模型规模和当前CUDA链路不适合直接部署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38AF132-ED1A-CAAD-EE68-3D16745A530E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C844645-0D0F-3930-41B3-2EE51ADC6040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3438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9BE2406-5421-61F8-D24B-D923FDD2C4F0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总体Framework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9823D9E-40FF-9B0C-8ED5-86045C2742D9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以SHARP前馈3DGS为基础，面向30°目标补充显露、材质与移动端压缩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5EF5BD0-7BFB-C10F-F473-CEFDB3851249}"/>
              </a:ext>
            </a:extLst>
          </p:cNvPr>
          <p:cNvSpPr>
            <a:spLocks noGrp="1"/>
          </p:cNvSpPr>
          <p:nvPr/>
        </p:nvSpPr>
        <p:spPr>
          <a:xfrm>
            <a:off x="723900" y="1079500"/>
            <a:ext cx="1346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Framework设计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0D31366-1198-B526-8689-B28EA559E6FA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A93C417-E9BE-5876-DE9A-BADE1322D4B1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framework-redraw-caption">
            <a:extLst>
              <a:ext uri="{FF2B5EF4-FFF2-40B4-BE49-F238E27FC236}">
                <a16:creationId xmlns:a16="http://schemas.microsoft.com/office/drawing/2014/main" id="{5FE061B0-A9F4-4073-B7F7-BEADA32A6CFE}"/>
              </a:ext>
            </a:extLst>
          </p:cNvPr>
          <p:cNvSpPr>
            <a:spLocks noGrp="1"/>
          </p:cNvSpPr>
          <p:nvPr/>
        </p:nvSpPr>
        <p:spPr>
          <a:xfrm>
            <a:off x="666750" y="1009650"/>
            <a:ext cx="542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l">
              <a:defRPr sz="1125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dirty="0" err="1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SHARP前馈3DGS + 显露高斯补全 + 移动端压缩</a:t>
            </a:r>
          </a:p>
        </p:txBody>
      </p:sp>
      <p:sp>
        <p:nvSpPr>
          <p:cNvPr id="16" name="training-only-lane">
            <a:extLst>
              <a:ext uri="{FF2B5EF4-FFF2-40B4-BE49-F238E27FC236}">
                <a16:creationId xmlns:a16="http://schemas.microsoft.com/office/drawing/2014/main" id="{71C548B6-8E37-4E45-9D97-B6336CBE6A2E}"/>
              </a:ext>
            </a:extLst>
          </p:cNvPr>
          <p:cNvSpPr>
            <a:spLocks noGrp="1"/>
          </p:cNvSpPr>
          <p:nvPr/>
        </p:nvSpPr>
        <p:spPr>
          <a:xfrm>
            <a:off x="2857500" y="1352550"/>
            <a:ext cx="6572250" cy="1047750"/>
          </a:xfrm>
          <a:prstGeom prst="roundRect">
            <a:avLst>
              <a:gd name="adj" fmla="val 6364"/>
            </a:avLst>
          </a:prstGeom>
          <a:solidFill>
            <a:srgbClr val="F7FAFD"/>
          </a:solidFill>
          <a:ln w="14288">
            <a:solidFill>
              <a:srgbClr val="0D569A"/>
            </a:solidFill>
            <a:prstDash val="dash"/>
          </a:ln>
        </p:spPr>
        <p:txBody>
          <a:bodyPr/>
          <a:p/>
        </p:txBody>
      </p:sp>
      <p:sp>
        <p:nvSpPr>
          <p:cNvPr id="17" name="training-only-label">
            <a:extLst>
              <a:ext uri="{FF2B5EF4-FFF2-40B4-BE49-F238E27FC236}">
                <a16:creationId xmlns:a16="http://schemas.microsoft.com/office/drawing/2014/main" id="{F53F0A78-9847-4A87-B6E7-8D856AE1718C}"/>
              </a:ext>
            </a:extLst>
          </p:cNvPr>
          <p:cNvSpPr>
            <a:spLocks noGrp="1"/>
          </p:cNvSpPr>
          <p:nvPr/>
        </p:nvSpPr>
        <p:spPr>
          <a:xfrm>
            <a:off x="5467350" y="1257300"/>
            <a:ext cx="1352550" cy="266700"/>
          </a:xfrm>
          <a:prstGeom prst="roundRect">
            <a:avLst>
              <a:gd name="adj" fmla="val 21429"/>
            </a:avLst>
          </a:prstGeom>
          <a:solidFill>
            <a:srgbClr val="0D569A"/>
          </a:solidFill>
          <a:ln w="0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 fontScale="81817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仅训练使用</a:t>
            </a:r>
          </a:p>
        </p:txBody>
      </p:sp>
      <p:sp>
        <p:nvSpPr>
          <p:cNvPr id="18" name="teacher">
            <a:extLst>
              <a:ext uri="{FF2B5EF4-FFF2-40B4-BE49-F238E27FC236}">
                <a16:creationId xmlns:a16="http://schemas.microsoft.com/office/drawing/2014/main" id="{0D529082-BA47-4C69-842A-864F192207B7}"/>
              </a:ext>
            </a:extLst>
          </p:cNvPr>
          <p:cNvSpPr>
            <a:spLocks noGrp="1"/>
          </p:cNvSpPr>
          <p:nvPr/>
        </p:nvSpPr>
        <p:spPr>
          <a:xfrm>
            <a:off x="3143250" y="1657350"/>
            <a:ext cx="1571625" cy="542925"/>
          </a:xfrm>
          <a:prstGeom prst="roundRect">
            <a:avLst>
              <a:gd name="adj" fmla="val 10526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SHARP单图3DGS</a:t>
            </a:r>
          </a:p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多视图3DGS参考</a:t>
            </a:r>
          </a:p>
        </p:txBody>
      </p:sp>
      <p:sp>
        <p:nvSpPr>
          <p:cNvPr id="19" name="multiview-data">
            <a:extLst>
              <a:ext uri="{FF2B5EF4-FFF2-40B4-BE49-F238E27FC236}">
                <a16:creationId xmlns:a16="http://schemas.microsoft.com/office/drawing/2014/main" id="{44C66E94-7E50-4719-B759-E4934FBFF977}"/>
              </a:ext>
            </a:extLst>
          </p:cNvPr>
          <p:cNvSpPr>
            <a:spLocks noGrp="1"/>
          </p:cNvSpPr>
          <p:nvPr/>
        </p:nvSpPr>
        <p:spPr>
          <a:xfrm>
            <a:off x="5381625" y="1657350"/>
            <a:ext cx="1762125" cy="542925"/>
          </a:xfrm>
          <a:prstGeom prst="roundRect">
            <a:avLst>
              <a:gd name="adj" fmla="val 10526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合成多视图数据</a:t>
            </a:r>
          </a:p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RGB · Depth · Camera</a:t>
            </a:r>
          </a:p>
        </p:txBody>
      </p:sp>
      <p:sp>
        <p:nvSpPr>
          <p:cNvPr id="20" name="depth-adjustment">
            <a:extLst>
              <a:ext uri="{FF2B5EF4-FFF2-40B4-BE49-F238E27FC236}">
                <a16:creationId xmlns:a16="http://schemas.microsoft.com/office/drawing/2014/main" id="{CAB4A6C6-AF8B-4B9C-BBD3-B2E86C39B941}"/>
              </a:ext>
            </a:extLst>
          </p:cNvPr>
          <p:cNvSpPr>
            <a:spLocks noGrp="1"/>
          </p:cNvSpPr>
          <p:nvPr/>
        </p:nvSpPr>
        <p:spPr>
          <a:xfrm>
            <a:off x="7810500" y="1657350"/>
            <a:ext cx="1333500" cy="542925"/>
          </a:xfrm>
          <a:prstGeom prst="roundRect">
            <a:avLst>
              <a:gd name="adj" fmla="val 10526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 fontScale="85232"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多视图渲染监督</a:t>
            </a:r>
          </a:p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仅训练期使用</a:t>
            </a:r>
          </a:p>
        </p:txBody>
      </p:sp>
      <p:sp>
        <p:nvSpPr>
          <p:cNvPr id="21" name="input-rgb">
            <a:extLst>
              <a:ext uri="{FF2B5EF4-FFF2-40B4-BE49-F238E27FC236}">
                <a16:creationId xmlns:a16="http://schemas.microsoft.com/office/drawing/2014/main" id="{3C034001-6298-474A-87AD-DB54BB9F25B6}"/>
              </a:ext>
            </a:extLst>
          </p:cNvPr>
          <p:cNvSpPr>
            <a:spLocks noGrp="1"/>
          </p:cNvSpPr>
          <p:nvPr/>
        </p:nvSpPr>
        <p:spPr>
          <a:xfrm>
            <a:off x="666750" y="2924175"/>
            <a:ext cx="1123950" cy="106680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27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单张2K</a:t>
            </a:r>
          </a:p>
          <a:p>
            <a:pPr algn="ctr">
              <a:defRPr sz="127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RGB图像</a:t>
            </a:r>
          </a:p>
        </p:txBody>
      </p:sp>
      <p:sp>
        <p:nvSpPr>
          <p:cNvPr id="22" name="scene-perception">
            <a:extLst>
              <a:ext uri="{FF2B5EF4-FFF2-40B4-BE49-F238E27FC236}">
                <a16:creationId xmlns:a16="http://schemas.microsoft.com/office/drawing/2014/main" id="{C673FBEE-629F-4BD4-9EE6-220214FEC73D}"/>
              </a:ext>
            </a:extLst>
          </p:cNvPr>
          <p:cNvSpPr>
            <a:spLocks noGrp="1"/>
          </p:cNvSpPr>
          <p:nvPr/>
        </p:nvSpPr>
        <p:spPr>
          <a:xfrm>
            <a:off x="2095500" y="2924175"/>
            <a:ext cx="158115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1  场景感知</a:t>
            </a:r>
          </a:p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 · 边界 · 材质</a:t>
            </a:r>
          </a:p>
        </p:txBody>
      </p:sp>
      <p:sp>
        <p:nvSpPr>
          <p:cNvPr id="23" name="adaptive-layering">
            <a:extLst>
              <a:ext uri="{FF2B5EF4-FFF2-40B4-BE49-F238E27FC236}">
                <a16:creationId xmlns:a16="http://schemas.microsoft.com/office/drawing/2014/main" id="{38EBD8F1-3654-4384-A606-AACA03E10A48}"/>
              </a:ext>
            </a:extLst>
          </p:cNvPr>
          <p:cNvSpPr>
            <a:spLocks noGrp="1"/>
          </p:cNvSpPr>
          <p:nvPr/>
        </p:nvSpPr>
        <p:spPr>
          <a:xfrm>
            <a:off x="3981450" y="2924175"/>
            <a:ext cx="158115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2  自适应高斯分配</a:t>
            </a:r>
          </a:p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Base + Delta</a:t>
            </a:r>
          </a:p>
        </p:txBody>
      </p:sp>
      <p:sp>
        <p:nvSpPr>
          <p:cNvPr id="24" name="reveal-completion">
            <a:extLst>
              <a:ext uri="{FF2B5EF4-FFF2-40B4-BE49-F238E27FC236}">
                <a16:creationId xmlns:a16="http://schemas.microsoft.com/office/drawing/2014/main" id="{8571FF9B-BB30-4E1C-8C52-CE845EA42252}"/>
              </a:ext>
            </a:extLst>
          </p:cNvPr>
          <p:cNvSpPr>
            <a:spLocks noGrp="1"/>
          </p:cNvSpPr>
          <p:nvPr/>
        </p:nvSpPr>
        <p:spPr>
          <a:xfrm>
            <a:off x="5867400" y="2924175"/>
            <a:ext cx="167640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3  显露补全与锚点</a:t>
            </a:r>
          </a:p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RGB-D-Alpha → 补充高斯</a:t>
            </a:r>
          </a:p>
        </p:txBody>
      </p:sp>
      <p:sp>
        <p:nvSpPr>
          <p:cNvPr id="25" name="material-soft-ldi">
            <a:extLst>
              <a:ext uri="{FF2B5EF4-FFF2-40B4-BE49-F238E27FC236}">
                <a16:creationId xmlns:a16="http://schemas.microsoft.com/office/drawing/2014/main" id="{C7E9766E-AA9E-4EDF-B293-32D434C306F6}"/>
              </a:ext>
            </a:extLst>
          </p:cNvPr>
          <p:cNvSpPr>
            <a:spLocks noGrp="1"/>
          </p:cNvSpPr>
          <p:nvPr/>
        </p:nvSpPr>
        <p:spPr>
          <a:xfrm>
            <a:off x="7848600" y="2924175"/>
            <a:ext cx="167640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4  材质感知3DGS</a:t>
            </a:r>
          </a:p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自适应外观复杂度</a:t>
            </a:r>
          </a:p>
        </p:txBody>
      </p:sp>
      <p:sp>
        <p:nvSpPr>
          <p:cNvPr id="26" name="mobile-rendering">
            <a:extLst>
              <a:ext uri="{FF2B5EF4-FFF2-40B4-BE49-F238E27FC236}">
                <a16:creationId xmlns:a16="http://schemas.microsoft.com/office/drawing/2014/main" id="{473932FF-D14E-4191-AF00-7C1E580FE0A5}"/>
              </a:ext>
            </a:extLst>
          </p:cNvPr>
          <p:cNvSpPr>
            <a:spLocks noGrp="1"/>
          </p:cNvSpPr>
          <p:nvPr/>
        </p:nvSpPr>
        <p:spPr>
          <a:xfrm>
            <a:off x="9829800" y="2924175"/>
            <a:ext cx="167640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5  压缩与移动端渲染</a:t>
            </a:r>
          </a:p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剪枝 · 合并 · 量化</a:t>
            </a:r>
          </a:p>
        </p:txBody>
      </p:sp>
      <p:cxnSp>
        <p:nvCxnSpPr>
          <p:cNvPr id="66" name="直接箭头连接符 65"/>
          <p:cNvCxnSpPr>
            <a:stCxn id="21" idx="3"/>
            <a:endCxn id="22" idx="1"/>
          </p:cNvCxnSpPr>
          <p:nvPr/>
        </p:nvCxnSpPr>
        <p:spPr>
          <a:xfrm>
            <a:off x="179070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67" name="直接箭头连接符 66"/>
          <p:cNvCxnSpPr>
            <a:stCxn id="22" idx="3"/>
            <a:endCxn id="23" idx="1"/>
          </p:cNvCxnSpPr>
          <p:nvPr/>
        </p:nvCxnSpPr>
        <p:spPr>
          <a:xfrm>
            <a:off x="367665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68" name="直接箭头连接符 67"/>
          <p:cNvCxnSpPr>
            <a:stCxn id="23" idx="3"/>
            <a:endCxn id="24" idx="1"/>
          </p:cNvCxnSpPr>
          <p:nvPr/>
        </p:nvCxnSpPr>
        <p:spPr>
          <a:xfrm>
            <a:off x="556260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69" name="直接箭头连接符 68"/>
          <p:cNvCxnSpPr>
            <a:stCxn id="24" idx="3"/>
            <a:endCxn id="25" idx="1"/>
          </p:cNvCxnSpPr>
          <p:nvPr/>
        </p:nvCxnSpPr>
        <p:spPr>
          <a:xfrm>
            <a:off x="754380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70" name="直接箭头连接符 69"/>
          <p:cNvCxnSpPr>
            <a:stCxn id="25" idx="3"/>
            <a:endCxn id="26" idx="1"/>
          </p:cNvCxnSpPr>
          <p:nvPr/>
        </p:nvCxnSpPr>
        <p:spPr>
          <a:xfrm>
            <a:off x="952500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71" name="直接箭头连接符 70"/>
          <p:cNvCxnSpPr>
            <a:stCxn id="18" idx="3"/>
            <a:endCxn id="19" idx="1"/>
          </p:cNvCxnSpPr>
          <p:nvPr/>
        </p:nvCxnSpPr>
        <p:spPr>
          <a:xfrm>
            <a:off x="4714875" y="1928813"/>
            <a:ext cx="666750" cy="0"/>
          </a:xfrm>
          <a:prstGeom prst="straightConnector1">
            <a:avLst/>
          </a:prstGeom>
          <a:ln w="16193">
            <a:solidFill>
              <a:srgbClr val="0D569A"/>
            </a:solidFill>
            <a:prstDash val="solid"/>
            <a:tailEnd type="arrow" w="sm" len="sm"/>
          </a:ln>
        </p:spPr>
      </p:cxnSp>
      <p:cxnSp>
        <p:nvCxnSpPr>
          <p:cNvPr id="72" name="直接箭头连接符 71"/>
          <p:cNvCxnSpPr>
            <a:stCxn id="19" idx="3"/>
            <a:endCxn id="20" idx="1"/>
          </p:cNvCxnSpPr>
          <p:nvPr/>
        </p:nvCxnSpPr>
        <p:spPr>
          <a:xfrm>
            <a:off x="7143750" y="1928813"/>
            <a:ext cx="666750" cy="0"/>
          </a:xfrm>
          <a:prstGeom prst="straightConnector1">
            <a:avLst/>
          </a:prstGeom>
          <a:ln w="16193">
            <a:solidFill>
              <a:srgbClr val="0D569A"/>
            </a:solidFill>
            <a:prstDash val="solid"/>
            <a:tailEnd type="arrow" w="sm" len="sm"/>
          </a:ln>
        </p:spPr>
      </p:cxnSp>
      <p:cxnSp>
        <p:nvCxnSpPr>
          <p:cNvPr id="73" name="连接符: 肘形 72"/>
          <p:cNvCxnSpPr>
            <a:stCxn id="18" idx="2"/>
            <a:endCxn id="22" idx="0"/>
          </p:cNvCxnSpPr>
          <p:nvPr/>
        </p:nvCxnSpPr>
        <p:spPr>
          <a:xfrm flipH="1">
            <a:off x="2886075" y="2200275"/>
            <a:ext cx="1042988" cy="723900"/>
          </a:xfrm>
          <a:prstGeom prst="bentConnector4">
            <a:avLst>
              <a:gd name="adj1" fmla="val 0"/>
              <a:gd name="adj2" fmla="val 50000"/>
            </a:avLst>
          </a:prstGeom>
          <a:ln w="13335">
            <a:solidFill>
              <a:srgbClr val="0D569A"/>
            </a:solidFill>
            <a:prstDash val="dash"/>
            <a:tailEnd type="arrow" w="sm" len="sm"/>
          </a:ln>
        </p:spPr>
      </p:cxnSp>
      <p:cxnSp>
        <p:nvCxnSpPr>
          <p:cNvPr id="74" name="连接符: 肘形 73"/>
          <p:cNvCxnSpPr>
            <a:stCxn id="19" idx="2"/>
            <a:endCxn id="23" idx="0"/>
          </p:cNvCxnSpPr>
          <p:nvPr/>
        </p:nvCxnSpPr>
        <p:spPr>
          <a:xfrm flipH="1">
            <a:off x="4772025" y="2200275"/>
            <a:ext cx="1490663" cy="723900"/>
          </a:xfrm>
          <a:prstGeom prst="bentConnector4">
            <a:avLst>
              <a:gd name="adj1" fmla="val 0"/>
              <a:gd name="adj2" fmla="val 50000"/>
            </a:avLst>
          </a:prstGeom>
          <a:ln w="13335">
            <a:solidFill>
              <a:srgbClr val="0D569A"/>
            </a:solidFill>
            <a:prstDash val="dash"/>
            <a:tailEnd type="arrow" w="sm" len="sm"/>
          </a:ln>
        </p:spPr>
      </p:cxnSp>
      <p:cxnSp>
        <p:nvCxnSpPr>
          <p:cNvPr id="75" name="连接符: 肘形 74"/>
          <p:cNvCxnSpPr>
            <a:stCxn id="20" idx="2"/>
            <a:endCxn id="24" idx="0"/>
          </p:cNvCxnSpPr>
          <p:nvPr/>
        </p:nvCxnSpPr>
        <p:spPr>
          <a:xfrm flipH="1">
            <a:off x="6705600" y="2200275"/>
            <a:ext cx="1771650" cy="723900"/>
          </a:xfrm>
          <a:prstGeom prst="bentConnector4">
            <a:avLst>
              <a:gd name="adj1" fmla="val 0"/>
              <a:gd name="adj2" fmla="val 50000"/>
            </a:avLst>
          </a:prstGeom>
          <a:ln w="13335">
            <a:solidFill>
              <a:srgbClr val="0D569A"/>
            </a:solidFill>
            <a:prstDash val="dash"/>
            <a:tailEnd type="arrow" w="sm" len="sm"/>
          </a:ln>
        </p:spPr>
      </p:cxnSp>
      <p:sp>
        <p:nvSpPr>
          <p:cNvPr id="37" name="detail-callout">
            <a:extLst>
              <a:ext uri="{FF2B5EF4-FFF2-40B4-BE49-F238E27FC236}">
                <a16:creationId xmlns:a16="http://schemas.microsoft.com/office/drawing/2014/main" id="{A7FBEB9B-7456-4960-B732-D64F1B6C2D46}"/>
              </a:ext>
            </a:extLst>
          </p:cNvPr>
          <p:cNvSpPr>
            <a:spLocks noGrp="1"/>
          </p:cNvSpPr>
          <p:nvPr/>
        </p:nvSpPr>
        <p:spPr>
          <a:xfrm>
            <a:off x="2885017" y="4603750"/>
            <a:ext cx="2381250" cy="496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4288">
            <a:solidFill>
              <a:srgbClr val="22C7E2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细结构 → 更多更小高斯</a:t>
            </a:r>
          </a:p>
        </p:txBody>
      </p:sp>
      <p:sp>
        <p:nvSpPr>
          <p:cNvPr id="38" name="reveal-callout">
            <a:extLst>
              <a:ext uri="{FF2B5EF4-FFF2-40B4-BE49-F238E27FC236}">
                <a16:creationId xmlns:a16="http://schemas.microsoft.com/office/drawing/2014/main" id="{D2C073D7-D528-422D-B44E-C9F7162C2582}"/>
              </a:ext>
            </a:extLst>
          </p:cNvPr>
          <p:cNvSpPr>
            <a:spLocks noGrp="1"/>
          </p:cNvSpPr>
          <p:nvPr/>
        </p:nvSpPr>
        <p:spPr>
          <a:xfrm>
            <a:off x="5523442" y="4603750"/>
            <a:ext cx="2381250" cy="496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4288">
            <a:solidFill>
              <a:srgbClr val="22C7E2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遮挡显露 → 补充高斯</a:t>
            </a:r>
          </a:p>
        </p:txBody>
      </p:sp>
      <p:sp>
        <p:nvSpPr>
          <p:cNvPr id="39" name="material-callout">
            <a:extLst>
              <a:ext uri="{FF2B5EF4-FFF2-40B4-BE49-F238E27FC236}">
                <a16:creationId xmlns:a16="http://schemas.microsoft.com/office/drawing/2014/main" id="{D0C6FEFB-6231-4F85-AB51-66004CA33CA7}"/>
              </a:ext>
            </a:extLst>
          </p:cNvPr>
          <p:cNvSpPr>
            <a:spLocks noGrp="1"/>
          </p:cNvSpPr>
          <p:nvPr/>
        </p:nvSpPr>
        <p:spPr>
          <a:xfrm>
            <a:off x="8161867" y="4603750"/>
            <a:ext cx="2381250" cy="496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4288">
            <a:solidFill>
              <a:srgbClr val="22C7E2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复杂材质 → 视角相关外观</a:t>
            </a:r>
          </a:p>
        </p:txBody>
      </p:sp>
      <p:cxnSp>
        <p:nvCxnSpPr>
          <p:cNvPr id="79" name="连接符: 肘形 78"/>
          <p:cNvCxnSpPr>
            <a:cxnSpLocks/>
            <a:stCxn id="37" idx="0"/>
            <a:endCxn id="23" idx="2"/>
          </p:cNvCxnSpPr>
          <p:nvPr/>
        </p:nvCxnSpPr>
        <p:spPr>
          <a:xfrm rot="5400000" flipH="1" flipV="1">
            <a:off x="4117446" y="3949172"/>
            <a:ext cx="612775" cy="696383"/>
          </a:xfrm>
          <a:prstGeom prst="bentConnector3">
            <a:avLst>
              <a:gd name="adj1" fmla="val 50000"/>
            </a:avLst>
          </a:prstGeom>
          <a:ln w="13335">
            <a:solidFill>
              <a:srgbClr val="22C7E2"/>
            </a:solidFill>
            <a:prstDash val="solid"/>
            <a:tailEnd type="arrow" w="sm" len="sm"/>
          </a:ln>
        </p:spPr>
      </p:cxnSp>
      <p:cxnSp>
        <p:nvCxnSpPr>
          <p:cNvPr id="80" name="连接符: 肘形 79"/>
          <p:cNvCxnSpPr>
            <a:cxnSpLocks/>
            <a:endCxn id="24" idx="2"/>
          </p:cNvCxnSpPr>
          <p:nvPr/>
        </p:nvCxnSpPr>
        <p:spPr>
          <a:xfrm rot="16200000" flipV="1">
            <a:off x="6399214" y="4297362"/>
            <a:ext cx="612775" cy="1"/>
          </a:xfrm>
          <a:prstGeom prst="bentConnector3">
            <a:avLst>
              <a:gd name="adj1" fmla="val 50000"/>
            </a:avLst>
          </a:prstGeom>
          <a:ln w="13335">
            <a:solidFill>
              <a:srgbClr val="22C7E2"/>
            </a:solidFill>
            <a:prstDash val="solid"/>
            <a:tailEnd type="arrow" w="sm" len="sm"/>
          </a:ln>
        </p:spPr>
      </p:cxnSp>
      <p:cxnSp>
        <p:nvCxnSpPr>
          <p:cNvPr id="81" name="连接符: 肘形 80"/>
          <p:cNvCxnSpPr>
            <a:cxnSpLocks/>
            <a:stCxn id="39" idx="0"/>
            <a:endCxn id="25" idx="2"/>
          </p:cNvCxnSpPr>
          <p:nvPr/>
        </p:nvCxnSpPr>
        <p:spPr>
          <a:xfrm rot="16200000" flipV="1">
            <a:off x="8713259" y="3964517"/>
            <a:ext cx="612775" cy="665692"/>
          </a:xfrm>
          <a:prstGeom prst="bentConnector3">
            <a:avLst>
              <a:gd name="adj1" fmla="val 50000"/>
            </a:avLst>
          </a:prstGeom>
          <a:ln w="13335">
            <a:solidFill>
              <a:srgbClr val="22C7E2"/>
            </a:solidFill>
            <a:prstDash val="solid"/>
            <a:tailEnd type="arrow" w="sm" len="sm"/>
          </a:ln>
        </p:spPr>
      </p:cxnSp>
      <p:sp>
        <p:nvSpPr>
          <p:cNvPr id="43" name="validation-targets">
            <a:extLst>
              <a:ext uri="{FF2B5EF4-FFF2-40B4-BE49-F238E27FC236}">
                <a16:creationId xmlns:a16="http://schemas.microsoft.com/office/drawing/2014/main" id="{A3964C7F-2EB0-4D8B-8CBC-C2E5F22341BA}"/>
              </a:ext>
            </a:extLst>
          </p:cNvPr>
          <p:cNvSpPr>
            <a:spLocks noGrp="1"/>
          </p:cNvSpPr>
          <p:nvPr/>
        </p:nvSpPr>
        <p:spPr>
          <a:xfrm>
            <a:off x="2381250" y="5410200"/>
            <a:ext cx="7429500" cy="523875"/>
          </a:xfrm>
          <a:prstGeom prst="roundRect">
            <a:avLst>
              <a:gd name="adj" fmla="val 10909"/>
            </a:avLst>
          </a:prstGeom>
          <a:solidFill>
            <a:srgbClr val="EEF5FB"/>
          </a:solidFill>
          <a:ln w="11430">
            <a:solidFill>
              <a:srgbClr val="B9D5EB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1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待验证：≥30° · DISTS&lt;0.06 · 2K&lt;5s · 内存&lt;3GB</a:t>
            </a:r>
          </a:p>
        </p:txBody>
      </p:sp>
    </p:spTree>
    <p:extLst>
      <p:ext uri="{BB962C8B-B14F-4D97-AF65-F5344CB8AC3E}">
        <p14:creationId xmlns:p14="http://schemas.microsoft.com/office/powerpoint/2010/main" val="122685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4B0C3D-4F4D-2295-2C61-4BB11E8AACC5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多任务感知与自适应高斯分配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CFDF684-1FC8-4274-0A6A-9311300DFCB6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Base生成基础高斯，Delta修正高斯属性；数量与精度按区域自适应分配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4FD7194-7E44-A42F-40E1-E91B6C216F11}"/>
              </a:ext>
            </a:extLst>
          </p:cNvPr>
          <p:cNvSpPr>
            <a:spLocks noGrp="1"/>
          </p:cNvSpPr>
          <p:nvPr/>
        </p:nvSpPr>
        <p:spPr>
          <a:xfrm>
            <a:off x="685800" y="1223010"/>
            <a:ext cx="1676400" cy="694688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BF5BA6-7D21-D739-0838-EDFF09C799BA}"/>
              </a:ext>
            </a:extLst>
          </p:cNvPr>
          <p:cNvSpPr>
            <a:spLocks noGrp="1"/>
          </p:cNvSpPr>
          <p:nvPr/>
        </p:nvSpPr>
        <p:spPr>
          <a:xfrm>
            <a:off x="812800" y="1426670"/>
            <a:ext cx="14224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单张RGB</a:t>
            </a:r>
          </a:p>
        </p:txBody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CF1DB117-C0FF-4E7D-991A-1AE8B79EAE44}"/>
              </a:ext>
            </a:extLst>
          </p:cNvPr>
          <p:cNvSpPr>
            <a:spLocks noGrp="1"/>
          </p:cNvSpPr>
          <p:nvPr/>
        </p:nvSpPr>
        <p:spPr>
          <a:xfrm>
            <a:off x="2374900" y="1574800"/>
            <a:ext cx="469900" cy="0"/>
          </a:xfrm>
          <a:prstGeom prst="line">
            <a:avLst/>
          </a:prstGeom>
          <a:ln w="25400">
            <a:solidFill>
              <a:srgbClr val="0D569A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p/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F592E1F-3A19-B3F2-B3C7-D7BBBD38C5AA}"/>
              </a:ext>
            </a:extLst>
          </p:cNvPr>
          <p:cNvSpPr>
            <a:spLocks noGrp="1"/>
          </p:cNvSpPr>
          <p:nvPr/>
        </p:nvSpPr>
        <p:spPr>
          <a:xfrm>
            <a:off x="2870200" y="1155700"/>
            <a:ext cx="1905000" cy="850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6FCF069-E5EF-7CEB-48B8-D04922B853CA}"/>
              </a:ext>
            </a:extLst>
          </p:cNvPr>
          <p:cNvSpPr>
            <a:spLocks noGrp="1"/>
          </p:cNvSpPr>
          <p:nvPr/>
        </p:nvSpPr>
        <p:spPr>
          <a:xfrm>
            <a:off x="2984500" y="1436176"/>
            <a:ext cx="1651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共享编码器</a:t>
            </a:r>
          </a:p>
        </p:txBody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8700FC8E-53F7-475F-BA46-A70156C70863}"/>
              </a:ext>
            </a:extLst>
          </p:cNvPr>
          <p:cNvSpPr>
            <a:spLocks noGrp="1"/>
          </p:cNvSpPr>
          <p:nvPr/>
        </p:nvSpPr>
        <p:spPr>
          <a:xfrm>
            <a:off x="4787900" y="1574800"/>
            <a:ext cx="469900" cy="0"/>
          </a:xfrm>
          <a:prstGeom prst="line">
            <a:avLst/>
          </a:prstGeom>
          <a:ln w="25400">
            <a:solidFill>
              <a:srgbClr val="0D569A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p/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7A1347E-5CA7-E855-74FF-60D4B0E4E3CC}"/>
              </a:ext>
            </a:extLst>
          </p:cNvPr>
          <p:cNvSpPr>
            <a:spLocks noGrp="1"/>
          </p:cNvSpPr>
          <p:nvPr/>
        </p:nvSpPr>
        <p:spPr>
          <a:xfrm>
            <a:off x="5283200" y="1271656"/>
            <a:ext cx="1066800" cy="646044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DE869F3-72C9-E2ED-19ED-1676830FB415}"/>
              </a:ext>
            </a:extLst>
          </p:cNvPr>
          <p:cNvSpPr>
            <a:spLocks noGrp="1"/>
          </p:cNvSpPr>
          <p:nvPr/>
        </p:nvSpPr>
        <p:spPr>
          <a:xfrm>
            <a:off x="5334000" y="1358900"/>
            <a:ext cx="965200" cy="4572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基础深度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F50C1AC-682B-DE5E-F160-A2FDDB8BAB20}"/>
              </a:ext>
            </a:extLst>
          </p:cNvPr>
          <p:cNvSpPr>
            <a:spLocks noGrp="1"/>
          </p:cNvSpPr>
          <p:nvPr/>
        </p:nvSpPr>
        <p:spPr>
          <a:xfrm>
            <a:off x="6502400" y="1271656"/>
            <a:ext cx="1066800" cy="646043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3C7D441-4FA4-8096-44B7-B64FF4CC0809}"/>
              </a:ext>
            </a:extLst>
          </p:cNvPr>
          <p:cNvSpPr>
            <a:spLocks noGrp="1"/>
          </p:cNvSpPr>
          <p:nvPr/>
        </p:nvSpPr>
        <p:spPr>
          <a:xfrm>
            <a:off x="6553200" y="1358900"/>
            <a:ext cx="965200" cy="4572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深度边缘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423FCCE-040E-26AD-F895-B2C594D135D4}"/>
              </a:ext>
            </a:extLst>
          </p:cNvPr>
          <p:cNvSpPr>
            <a:spLocks noGrp="1"/>
          </p:cNvSpPr>
          <p:nvPr/>
        </p:nvSpPr>
        <p:spPr>
          <a:xfrm>
            <a:off x="7721600" y="1271656"/>
            <a:ext cx="1066800" cy="646044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829E59D-8CDD-107F-301C-4C88296D65E3}"/>
              </a:ext>
            </a:extLst>
          </p:cNvPr>
          <p:cNvSpPr>
            <a:spLocks noGrp="1"/>
          </p:cNvSpPr>
          <p:nvPr/>
        </p:nvSpPr>
        <p:spPr>
          <a:xfrm>
            <a:off x="7772400" y="1447800"/>
            <a:ext cx="9652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细结构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BE10005-3D30-5120-4282-BB1E9708EB61}"/>
              </a:ext>
            </a:extLst>
          </p:cNvPr>
          <p:cNvSpPr>
            <a:spLocks noGrp="1"/>
          </p:cNvSpPr>
          <p:nvPr/>
        </p:nvSpPr>
        <p:spPr>
          <a:xfrm>
            <a:off x="8940800" y="1271656"/>
            <a:ext cx="1066800" cy="646044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67CC497-E41F-91A9-0CFE-08C18520D074}"/>
              </a:ext>
            </a:extLst>
          </p:cNvPr>
          <p:cNvSpPr>
            <a:spLocks noGrp="1"/>
          </p:cNvSpPr>
          <p:nvPr/>
        </p:nvSpPr>
        <p:spPr>
          <a:xfrm>
            <a:off x="8991600" y="1358900"/>
            <a:ext cx="965200" cy="4572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材质类别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00C06EF-5537-2D39-A136-66BCC9734E03}"/>
              </a:ext>
            </a:extLst>
          </p:cNvPr>
          <p:cNvSpPr>
            <a:spLocks noGrp="1"/>
          </p:cNvSpPr>
          <p:nvPr/>
        </p:nvSpPr>
        <p:spPr>
          <a:xfrm>
            <a:off x="10160000" y="1271656"/>
            <a:ext cx="1066800" cy="646044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B976D09-10B1-863B-8707-1A711962D69A}"/>
              </a:ext>
            </a:extLst>
          </p:cNvPr>
          <p:cNvSpPr>
            <a:spLocks noGrp="1"/>
          </p:cNvSpPr>
          <p:nvPr/>
        </p:nvSpPr>
        <p:spPr>
          <a:xfrm>
            <a:off x="10210800" y="1440409"/>
            <a:ext cx="9652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置信度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117BAB7-DA13-BD03-3909-EEA7C7866377}"/>
              </a:ext>
            </a:extLst>
          </p:cNvPr>
          <p:cNvSpPr>
            <a:spLocks noGrp="1"/>
          </p:cNvSpPr>
          <p:nvPr/>
        </p:nvSpPr>
        <p:spPr>
          <a:xfrm>
            <a:off x="685800" y="2336800"/>
            <a:ext cx="108204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Base + Delta自适应高斯分配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D063410-7E48-83E7-9967-EFD40A92A05D}"/>
              </a:ext>
            </a:extLst>
          </p:cNvPr>
          <p:cNvSpPr>
            <a:spLocks noGrp="1"/>
          </p:cNvSpPr>
          <p:nvPr/>
        </p:nvSpPr>
        <p:spPr>
          <a:xfrm>
            <a:off x="685800" y="2794000"/>
            <a:ext cx="2413000" cy="1991747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3ECF52E-54EE-2E29-216C-CA8FDFA1A495}"/>
              </a:ext>
            </a:extLst>
          </p:cNvPr>
          <p:cNvSpPr>
            <a:spLocks noGrp="1"/>
          </p:cNvSpPr>
          <p:nvPr/>
        </p:nvSpPr>
        <p:spPr>
          <a:xfrm>
            <a:off x="685800" y="2794000"/>
            <a:ext cx="2413000" cy="4318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36B4EE1-AC4F-7D05-7B8B-FDEFF4F985E0}"/>
              </a:ext>
            </a:extLst>
          </p:cNvPr>
          <p:cNvSpPr>
            <a:spLocks noGrp="1"/>
          </p:cNvSpPr>
          <p:nvPr/>
        </p:nvSpPr>
        <p:spPr>
          <a:xfrm>
            <a:off x="787400" y="2870200"/>
            <a:ext cx="2209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平坦背景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8C9DF3A-94B2-CD6D-A5AA-1E4B3E28574F}"/>
              </a:ext>
            </a:extLst>
          </p:cNvPr>
          <p:cNvSpPr>
            <a:spLocks noGrp="1"/>
          </p:cNvSpPr>
          <p:nvPr/>
        </p:nvSpPr>
        <p:spPr>
          <a:xfrm>
            <a:off x="787400" y="3429000"/>
            <a:ext cx="2159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少量较大高斯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96C761C-224F-E40A-12AA-F7296613EE5F}"/>
              </a:ext>
            </a:extLst>
          </p:cNvPr>
          <p:cNvSpPr>
            <a:spLocks noGrp="1"/>
          </p:cNvSpPr>
          <p:nvPr/>
        </p:nvSpPr>
        <p:spPr>
          <a:xfrm>
            <a:off x="876300" y="4013200"/>
            <a:ext cx="2032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减少冗余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B969FB5-6404-994E-F25E-5CDF4BA5FFB8}"/>
              </a:ext>
            </a:extLst>
          </p:cNvPr>
          <p:cNvSpPr>
            <a:spLocks noGrp="1"/>
          </p:cNvSpPr>
          <p:nvPr/>
        </p:nvSpPr>
        <p:spPr>
          <a:xfrm>
            <a:off x="3429000" y="2794000"/>
            <a:ext cx="2413000" cy="1991747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486180E-2298-628E-37C0-16E0F838E1B8}"/>
              </a:ext>
            </a:extLst>
          </p:cNvPr>
          <p:cNvSpPr>
            <a:spLocks noGrp="1"/>
          </p:cNvSpPr>
          <p:nvPr/>
        </p:nvSpPr>
        <p:spPr>
          <a:xfrm>
            <a:off x="3429000" y="2794000"/>
            <a:ext cx="2413000" cy="4318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A59E82CE-B109-00D5-42CA-685E77D1C397}"/>
              </a:ext>
            </a:extLst>
          </p:cNvPr>
          <p:cNvSpPr>
            <a:spLocks noGrp="1"/>
          </p:cNvSpPr>
          <p:nvPr/>
        </p:nvSpPr>
        <p:spPr>
          <a:xfrm>
            <a:off x="3530600" y="2870200"/>
            <a:ext cx="2209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普通遮挡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6771C1F-F876-F8FF-7A58-1BC570624ABC}"/>
              </a:ext>
            </a:extLst>
          </p:cNvPr>
          <p:cNvSpPr>
            <a:spLocks noGrp="1"/>
          </p:cNvSpPr>
          <p:nvPr/>
        </p:nvSpPr>
        <p:spPr>
          <a:xfrm>
            <a:off x="3556000" y="3429000"/>
            <a:ext cx="2159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增加前后景高斯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20D2CB37-6E8E-3A67-325E-6B547B5FDB5B}"/>
              </a:ext>
            </a:extLst>
          </p:cNvPr>
          <p:cNvSpPr>
            <a:spLocks noGrp="1"/>
          </p:cNvSpPr>
          <p:nvPr/>
        </p:nvSpPr>
        <p:spPr>
          <a:xfrm>
            <a:off x="3619500" y="3874700"/>
            <a:ext cx="2032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保留可见面与显露背景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AEF6A6D-EA8B-7CE1-5D2C-66E0B39E4557}"/>
              </a:ext>
            </a:extLst>
          </p:cNvPr>
          <p:cNvSpPr>
            <a:spLocks noGrp="1"/>
          </p:cNvSpPr>
          <p:nvPr/>
        </p:nvSpPr>
        <p:spPr>
          <a:xfrm>
            <a:off x="6172200" y="2794000"/>
            <a:ext cx="2413000" cy="1991747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35E905F-E10C-A43A-6A63-397549875F3F}"/>
              </a:ext>
            </a:extLst>
          </p:cNvPr>
          <p:cNvSpPr>
            <a:spLocks noGrp="1"/>
          </p:cNvSpPr>
          <p:nvPr/>
        </p:nvSpPr>
        <p:spPr>
          <a:xfrm>
            <a:off x="6172200" y="2794000"/>
            <a:ext cx="2413000" cy="4318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68475C4-6902-FF79-E69A-D9FDBEDD85A8}"/>
              </a:ext>
            </a:extLst>
          </p:cNvPr>
          <p:cNvSpPr>
            <a:spLocks noGrp="1"/>
          </p:cNvSpPr>
          <p:nvPr/>
        </p:nvSpPr>
        <p:spPr>
          <a:xfrm>
            <a:off x="6273800" y="2870200"/>
            <a:ext cx="2209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细结构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10CEC99-6F4A-D09C-89CD-9C95DDE8160B}"/>
              </a:ext>
            </a:extLst>
          </p:cNvPr>
          <p:cNvSpPr>
            <a:spLocks noGrp="1"/>
          </p:cNvSpPr>
          <p:nvPr/>
        </p:nvSpPr>
        <p:spPr>
          <a:xfrm>
            <a:off x="6299200" y="3429000"/>
            <a:ext cx="2159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更多更小高斯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9CA4B2BA-B488-2124-67BA-A0DFC7142DA5}"/>
              </a:ext>
            </a:extLst>
          </p:cNvPr>
          <p:cNvSpPr>
            <a:spLocks noGrp="1"/>
          </p:cNvSpPr>
          <p:nvPr/>
        </p:nvSpPr>
        <p:spPr>
          <a:xfrm>
            <a:off x="6362700" y="4013200"/>
            <a:ext cx="2032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精确透明度，避免断裂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35A4C5B-65C6-6BD7-95E1-27F88966315E}"/>
              </a:ext>
            </a:extLst>
          </p:cNvPr>
          <p:cNvSpPr>
            <a:spLocks noGrp="1"/>
          </p:cNvSpPr>
          <p:nvPr/>
        </p:nvSpPr>
        <p:spPr>
          <a:xfrm>
            <a:off x="8915400" y="2794000"/>
            <a:ext cx="2413000" cy="1991747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54CEA06-805B-C2C4-419E-74F6DBC6B0F0}"/>
              </a:ext>
            </a:extLst>
          </p:cNvPr>
          <p:cNvSpPr>
            <a:spLocks noGrp="1"/>
          </p:cNvSpPr>
          <p:nvPr/>
        </p:nvSpPr>
        <p:spPr>
          <a:xfrm>
            <a:off x="8915400" y="2794000"/>
            <a:ext cx="2413000" cy="4318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3218DB9-9458-56DF-D7B8-CC5179505A13}"/>
              </a:ext>
            </a:extLst>
          </p:cNvPr>
          <p:cNvSpPr>
            <a:spLocks noGrp="1"/>
          </p:cNvSpPr>
          <p:nvPr/>
        </p:nvSpPr>
        <p:spPr>
          <a:xfrm>
            <a:off x="9017000" y="2870200"/>
            <a:ext cx="2209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复杂材质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EE4B2DD-045C-1104-F3B0-0C83AC9BD0BF}"/>
              </a:ext>
            </a:extLst>
          </p:cNvPr>
          <p:cNvSpPr>
            <a:spLocks noGrp="1"/>
          </p:cNvSpPr>
          <p:nvPr/>
        </p:nvSpPr>
        <p:spPr>
          <a:xfrm>
            <a:off x="9042400" y="3429000"/>
            <a:ext cx="2159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几何高斯+外观参数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1B839F-AD6C-46BC-2BC0-DEF43A83B0CF}"/>
              </a:ext>
            </a:extLst>
          </p:cNvPr>
          <p:cNvSpPr>
            <a:spLocks noGrp="1"/>
          </p:cNvSpPr>
          <p:nvPr/>
        </p:nvSpPr>
        <p:spPr>
          <a:xfrm>
            <a:off x="9105900" y="3874700"/>
            <a:ext cx="2032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仅局部增加视角相关能力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4F4F538-800A-AD91-029A-E479085F23A4}"/>
              </a:ext>
            </a:extLst>
          </p:cNvPr>
          <p:cNvSpPr>
            <a:spLocks noGrp="1"/>
          </p:cNvSpPr>
          <p:nvPr/>
        </p:nvSpPr>
        <p:spPr>
          <a:xfrm>
            <a:off x="685800" y="5372100"/>
            <a:ext cx="10642600" cy="698500"/>
          </a:xfrm>
          <a:prstGeom prst="rect">
            <a:avLst/>
          </a:prstGeom>
          <a:solidFill>
            <a:srgbClr val="EEF5FB"/>
          </a:solidFill>
          <a:ln w="12700">
            <a:solidFill>
              <a:srgbClr val="22C7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6F281425-05F2-69DB-0E71-C5BD8672076C}"/>
              </a:ext>
            </a:extLst>
          </p:cNvPr>
          <p:cNvSpPr>
            <a:spLocks noGrp="1"/>
          </p:cNvSpPr>
          <p:nvPr/>
        </p:nvSpPr>
        <p:spPr>
          <a:xfrm>
            <a:off x="889000" y="5549900"/>
            <a:ext cx="102362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4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核心变化：不再全图均匀铺设固定数量高斯，而由边界、材质和置信度决定高斯密度、大小与外观复杂度。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658FA4EE-0D9F-6475-BDCA-FBDBB6A17058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48472B7-DE1E-3AF7-47B6-CC981180198D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03644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7B7C08E-214A-C19B-4815-AC40EBCA843B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结构优先的显露高斯补全与双侧视角锚点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F8417A6-DA9E-3B36-4511-4C54F6518974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先联合补全RGB-D-Alpha，再生成补充高斯；端点锚点约束统一场景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3D1B3B2-4C54-58EF-E5C1-9F380C3670A6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2209800" cy="850900"/>
          </a:xfrm>
          <a:prstGeom prst="rect">
            <a:avLst/>
          </a:prstGeom>
          <a:solidFill>
            <a:srgbClr val="F8FBFE"/>
          </a:solidFill>
          <a:ln w="1270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0957C9F-2FA5-04E4-941A-28F2D5DD6C53}"/>
              </a:ext>
            </a:extLst>
          </p:cNvPr>
          <p:cNvSpPr>
            <a:spLocks noGrp="1"/>
          </p:cNvSpPr>
          <p:nvPr/>
        </p:nvSpPr>
        <p:spPr>
          <a:xfrm>
            <a:off x="812800" y="1476726"/>
            <a:ext cx="304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9401C94-6826-F9B1-7658-44B2967D6C07}"/>
              </a:ext>
            </a:extLst>
          </p:cNvPr>
          <p:cNvSpPr>
            <a:spLocks noGrp="1"/>
          </p:cNvSpPr>
          <p:nvPr/>
        </p:nvSpPr>
        <p:spPr>
          <a:xfrm>
            <a:off x="1143000" y="1346200"/>
            <a:ext cx="1651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深度边界与细线检测</a:t>
            </a:r>
          </a:p>
        </p:txBody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896FF157-0284-4416-840C-CB60F4340FDA}"/>
              </a:ext>
            </a:extLst>
          </p:cNvPr>
          <p:cNvSpPr>
            <a:spLocks noGrp="1"/>
          </p:cNvSpPr>
          <p:nvPr/>
        </p:nvSpPr>
        <p:spPr>
          <a:xfrm>
            <a:off x="2921000" y="1676400"/>
            <a:ext cx="368300" cy="0"/>
          </a:xfrm>
          <a:prstGeom prst="line">
            <a:avLst/>
          </a:prstGeom>
          <a:ln w="22860">
            <a:solidFill>
              <a:srgbClr val="0D569A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p/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C46B285-19A6-2BA2-CB7C-2D7D8CEE23A7}"/>
              </a:ext>
            </a:extLst>
          </p:cNvPr>
          <p:cNvSpPr>
            <a:spLocks noGrp="1"/>
          </p:cNvSpPr>
          <p:nvPr/>
        </p:nvSpPr>
        <p:spPr>
          <a:xfrm>
            <a:off x="3327400" y="1218419"/>
            <a:ext cx="2209800" cy="850898"/>
          </a:xfrm>
          <a:prstGeom prst="rect">
            <a:avLst/>
          </a:prstGeom>
          <a:solidFill>
            <a:srgbClr val="F8FBFE"/>
          </a:solidFill>
          <a:ln w="1270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45D0B8C-6A8C-C340-6954-4AD879BF859B}"/>
              </a:ext>
            </a:extLst>
          </p:cNvPr>
          <p:cNvSpPr>
            <a:spLocks noGrp="1"/>
          </p:cNvSpPr>
          <p:nvPr/>
        </p:nvSpPr>
        <p:spPr>
          <a:xfrm>
            <a:off x="3441700" y="1464733"/>
            <a:ext cx="304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FC2871B-4765-175F-6FB5-2937DD12AEBC}"/>
              </a:ext>
            </a:extLst>
          </p:cNvPr>
          <p:cNvSpPr>
            <a:spLocks noGrp="1"/>
          </p:cNvSpPr>
          <p:nvPr/>
        </p:nvSpPr>
        <p:spPr>
          <a:xfrm>
            <a:off x="3797299" y="1473199"/>
            <a:ext cx="1651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300" b="1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结构</a:t>
            </a:r>
            <a:r>
              <a:rPr sz="13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300" b="1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骨架补全</a:t>
            </a:r>
            <a:endParaRPr sz="1300" b="1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25367AF0-7D11-477D-A564-5C896152B1D2}"/>
              </a:ext>
            </a:extLst>
          </p:cNvPr>
          <p:cNvSpPr>
            <a:spLocks noGrp="1"/>
          </p:cNvSpPr>
          <p:nvPr/>
        </p:nvSpPr>
        <p:spPr>
          <a:xfrm>
            <a:off x="5575300" y="1676400"/>
            <a:ext cx="368300" cy="0"/>
          </a:xfrm>
          <a:prstGeom prst="line">
            <a:avLst/>
          </a:prstGeom>
          <a:ln w="22860">
            <a:solidFill>
              <a:srgbClr val="0D569A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p/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882FDE9-4BB7-D838-77D2-6171B885D7B5}"/>
              </a:ext>
            </a:extLst>
          </p:cNvPr>
          <p:cNvSpPr>
            <a:spLocks noGrp="1"/>
          </p:cNvSpPr>
          <p:nvPr/>
        </p:nvSpPr>
        <p:spPr>
          <a:xfrm>
            <a:off x="5994399" y="1219200"/>
            <a:ext cx="2404533" cy="850898"/>
          </a:xfrm>
          <a:prstGeom prst="rect">
            <a:avLst/>
          </a:prstGeom>
          <a:solidFill>
            <a:srgbClr val="EEF5FB"/>
          </a:solidFill>
          <a:ln w="12700">
            <a:solidFill>
              <a:srgbClr val="22C7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6537F7-FEB4-FD17-F8D7-33734CC4E811}"/>
              </a:ext>
            </a:extLst>
          </p:cNvPr>
          <p:cNvSpPr>
            <a:spLocks noGrp="1"/>
          </p:cNvSpPr>
          <p:nvPr/>
        </p:nvSpPr>
        <p:spPr>
          <a:xfrm>
            <a:off x="6096000" y="1464733"/>
            <a:ext cx="304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D3DAB2A-FED3-0F54-9F2B-F05B840AD2D7}"/>
              </a:ext>
            </a:extLst>
          </p:cNvPr>
          <p:cNvSpPr>
            <a:spLocks noGrp="1"/>
          </p:cNvSpPr>
          <p:nvPr/>
        </p:nvSpPr>
        <p:spPr>
          <a:xfrm>
            <a:off x="6451600" y="1346200"/>
            <a:ext cx="1854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RGB-D-Alpha联合补全</a:t>
            </a:r>
          </a:p>
        </p:txBody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E5CD7DDA-8654-4B2E-A378-60EA55F36AEE}"/>
              </a:ext>
            </a:extLst>
          </p:cNvPr>
          <p:cNvSpPr>
            <a:spLocks noGrp="1"/>
          </p:cNvSpPr>
          <p:nvPr/>
        </p:nvSpPr>
        <p:spPr>
          <a:xfrm>
            <a:off x="8432800" y="1676400"/>
            <a:ext cx="368300" cy="0"/>
          </a:xfrm>
          <a:prstGeom prst="line">
            <a:avLst/>
          </a:prstGeom>
          <a:ln w="22860">
            <a:solidFill>
              <a:srgbClr val="0D569A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p/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2BED2E9-FF3A-8DE0-6CBD-4DBEF9258A19}"/>
              </a:ext>
            </a:extLst>
          </p:cNvPr>
          <p:cNvSpPr>
            <a:spLocks noGrp="1"/>
          </p:cNvSpPr>
          <p:nvPr/>
        </p:nvSpPr>
        <p:spPr>
          <a:xfrm>
            <a:off x="8885767" y="1217047"/>
            <a:ext cx="2209800" cy="850898"/>
          </a:xfrm>
          <a:prstGeom prst="rect">
            <a:avLst/>
          </a:prstGeom>
          <a:solidFill>
            <a:srgbClr val="F8FBFE"/>
          </a:solidFill>
          <a:ln w="1270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576D847-0C3F-AF68-07AB-50262045B560}"/>
              </a:ext>
            </a:extLst>
          </p:cNvPr>
          <p:cNvSpPr>
            <a:spLocks noGrp="1"/>
          </p:cNvSpPr>
          <p:nvPr/>
        </p:nvSpPr>
        <p:spPr>
          <a:xfrm>
            <a:off x="8987367" y="1474572"/>
            <a:ext cx="304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5F8FE1B-F513-A6F4-FEE3-817D730AE313}"/>
              </a:ext>
            </a:extLst>
          </p:cNvPr>
          <p:cNvSpPr>
            <a:spLocks noGrp="1"/>
          </p:cNvSpPr>
          <p:nvPr/>
        </p:nvSpPr>
        <p:spPr>
          <a:xfrm>
            <a:off x="9342967" y="1344047"/>
            <a:ext cx="1651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补充高斯生成与融合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9D71AAA-E433-6FA4-E9E4-B720DC5D2BB0}"/>
              </a:ext>
            </a:extLst>
          </p:cNvPr>
          <p:cNvSpPr>
            <a:spLocks noGrp="1"/>
          </p:cNvSpPr>
          <p:nvPr/>
        </p:nvSpPr>
        <p:spPr>
          <a:xfrm>
            <a:off x="685800" y="2527300"/>
            <a:ext cx="108204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目标视角端点锚点：约束显露区域补充高斯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EE5ADA6-A9EC-B857-72CD-05FF8F5F0B1F}"/>
              </a:ext>
            </a:extLst>
          </p:cNvPr>
          <p:cNvSpPr>
            <a:spLocks noGrp="1"/>
          </p:cNvSpPr>
          <p:nvPr/>
        </p:nvSpPr>
        <p:spPr>
          <a:xfrm>
            <a:off x="1333500" y="3225800"/>
            <a:ext cx="1371600" cy="6985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00E2A2F-D0CC-6BC2-4F14-1687F51CA469}"/>
              </a:ext>
            </a:extLst>
          </p:cNvPr>
          <p:cNvSpPr>
            <a:spLocks noGrp="1"/>
          </p:cNvSpPr>
          <p:nvPr/>
        </p:nvSpPr>
        <p:spPr>
          <a:xfrm>
            <a:off x="1460500" y="3314700"/>
            <a:ext cx="11176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400" b="1" dirty="0" err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左锚点</a:t>
            </a:r>
            <a:endParaRPr sz="14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buNone/>
            </a:pPr>
            <a:r>
              <a:rPr lang="zh-CN" altLang="en-US" sz="1400" b="1" dirty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约</a:t>
            </a:r>
            <a:r>
              <a:rPr lang="en-US" sz="1400" b="1" dirty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15</a:t>
            </a:r>
            <a:r>
              <a:rPr lang="en-US" altLang="zh-CN" sz="1400" b="1" dirty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°</a:t>
            </a:r>
            <a:endParaRPr sz="14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AC8B4E7-A90D-FAB2-DE6D-A1CD71675A3E}"/>
              </a:ext>
            </a:extLst>
          </p:cNvPr>
          <p:cNvSpPr>
            <a:spLocks noGrp="1"/>
          </p:cNvSpPr>
          <p:nvPr/>
        </p:nvSpPr>
        <p:spPr>
          <a:xfrm>
            <a:off x="5410200" y="3111500"/>
            <a:ext cx="1371600" cy="9017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B5E301A2-5FB0-2717-0BA3-4E515AD22981}"/>
              </a:ext>
            </a:extLst>
          </p:cNvPr>
          <p:cNvSpPr>
            <a:spLocks noGrp="1"/>
          </p:cNvSpPr>
          <p:nvPr/>
        </p:nvSpPr>
        <p:spPr>
          <a:xfrm>
            <a:off x="5537200" y="3251200"/>
            <a:ext cx="11176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中心视角</a:t>
            </a:r>
          </a:p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0°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A0329B1-A2D2-2957-94D7-F28CA1866FB8}"/>
              </a:ext>
            </a:extLst>
          </p:cNvPr>
          <p:cNvSpPr>
            <a:spLocks noGrp="1"/>
          </p:cNvSpPr>
          <p:nvPr/>
        </p:nvSpPr>
        <p:spPr>
          <a:xfrm>
            <a:off x="9486900" y="3225800"/>
            <a:ext cx="1371600" cy="6985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EC7FB0D-41C8-BF3D-676B-A23E2F5613F7}"/>
              </a:ext>
            </a:extLst>
          </p:cNvPr>
          <p:cNvSpPr>
            <a:spLocks noGrp="1"/>
          </p:cNvSpPr>
          <p:nvPr/>
        </p:nvSpPr>
        <p:spPr>
          <a:xfrm>
            <a:off x="9613900" y="3314700"/>
            <a:ext cx="11176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400" b="1" dirty="0" err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右锚点</a:t>
            </a:r>
            <a:endParaRPr sz="14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buNone/>
            </a:pPr>
            <a:r>
              <a:rPr lang="zh-CN" altLang="en-US" sz="1400" b="1" dirty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约</a:t>
            </a:r>
            <a:r>
              <a:rPr lang="en-US" altLang="zh-CN" sz="1400" b="1" dirty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15°</a:t>
            </a:r>
            <a:endParaRPr sz="14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30CB7FF0-0959-4DCB-9511-3C35FC6DE8A9}"/>
              </a:ext>
            </a:extLst>
          </p:cNvPr>
          <p:cNvSpPr>
            <a:spLocks noGrp="1"/>
          </p:cNvSpPr>
          <p:nvPr/>
        </p:nvSpPr>
        <p:spPr>
          <a:xfrm>
            <a:off x="2781300" y="3568700"/>
            <a:ext cx="2446867" cy="0"/>
          </a:xfrm>
          <a:prstGeom prst="line">
            <a:avLst/>
          </a:prstGeom>
          <a:ln w="31750">
            <a:solidFill>
              <a:srgbClr val="22C7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p/>
        </p:txBody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14E16E5D-5531-42D4-929C-E9E70BB36091}"/>
              </a:ext>
            </a:extLst>
          </p:cNvPr>
          <p:cNvSpPr>
            <a:spLocks noGrp="1"/>
          </p:cNvSpPr>
          <p:nvPr/>
        </p:nvSpPr>
        <p:spPr>
          <a:xfrm flipV="1">
            <a:off x="6908800" y="3568700"/>
            <a:ext cx="2425700" cy="6350"/>
          </a:xfrm>
          <a:prstGeom prst="line">
            <a:avLst/>
          </a:prstGeom>
          <a:ln w="31750">
            <a:solidFill>
              <a:srgbClr val="22C7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p/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8D3D874-44DD-000C-FAFE-6441DD3AC899}"/>
              </a:ext>
            </a:extLst>
          </p:cNvPr>
          <p:cNvSpPr>
            <a:spLocks noGrp="1"/>
          </p:cNvSpPr>
          <p:nvPr/>
        </p:nvSpPr>
        <p:spPr>
          <a:xfrm>
            <a:off x="4229100" y="4211598"/>
            <a:ext cx="3733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400" b="1">
                <a:solidFill>
                  <a:srgbClr val="22C7E2"/>
                </a:solidFill>
                <a:latin typeface="Microsoft YaHei"/>
                <a:ea typeface="Microsoft YaHei"/>
                <a:cs typeface="Microsoft YaHei"/>
              </a:rPr>
              <a:t>中心与双侧高斯融合为统一场景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AA47009-7103-0DDC-7832-A2217644DE19}"/>
              </a:ext>
            </a:extLst>
          </p:cNvPr>
          <p:cNvSpPr>
            <a:spLocks noGrp="1"/>
          </p:cNvSpPr>
          <p:nvPr/>
        </p:nvSpPr>
        <p:spPr>
          <a:xfrm>
            <a:off x="685800" y="4660900"/>
            <a:ext cx="10820400" cy="12827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265E049-9E9E-3638-7408-5C188264BD3D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10363200" cy="856645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显露区域先联合补全RGB、深度和Alpha，再转换为补充高斯。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中心与双侧端点约束融合为一套统一3DGS，中间视角直接渲染。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隐藏内容不可唯一恢复，评价重点是视觉合理与跨视角一致。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6E43945-B7C3-CCF2-85D9-3E7E66071920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899C1354-9987-C2FB-2F44-0021E4DEDFE0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392966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85BCD8A-887D-D6CD-5DFD-B3A892B0C7A6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材质感知3DGS与移动端压缩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1194192-3AC7-7CB8-1EE4-D30D627A3472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按区域配置高斯密度与外观复杂度，再通过剪枝、合并和量化降低终端成本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09BFDA2-6D42-C761-E4E1-3741A7602D28}"/>
              </a:ext>
            </a:extLst>
          </p:cNvPr>
          <p:cNvSpPr>
            <a:spLocks noGrp="1"/>
          </p:cNvSpPr>
          <p:nvPr/>
        </p:nvSpPr>
        <p:spPr>
          <a:xfrm>
            <a:off x="1397000" y="1400802"/>
            <a:ext cx="355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材质感知3DGS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DC11A29-4B62-BDEF-914C-4933D5FB8087}"/>
              </a:ext>
            </a:extLst>
          </p:cNvPr>
          <p:cNvSpPr>
            <a:spLocks noGrp="1"/>
          </p:cNvSpPr>
          <p:nvPr/>
        </p:nvSpPr>
        <p:spPr>
          <a:xfrm>
            <a:off x="586317" y="2555422"/>
            <a:ext cx="2794000" cy="1498600"/>
          </a:xfrm>
          <a:prstGeom prst="rect">
            <a:avLst/>
          </a:prstGeom>
          <a:solidFill>
            <a:srgbClr val="EEF5FB">
              <a:alpha val="84000"/>
            </a:srgbClr>
          </a:solidFill>
          <a:ln w="1270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7886A1A-3947-55CB-7324-C0112D147EF0}"/>
              </a:ext>
            </a:extLst>
          </p:cNvPr>
          <p:cNvSpPr>
            <a:spLocks noGrp="1"/>
          </p:cNvSpPr>
          <p:nvPr/>
        </p:nvSpPr>
        <p:spPr>
          <a:xfrm>
            <a:off x="789517" y="2352222"/>
            <a:ext cx="2794000" cy="1498600"/>
          </a:xfrm>
          <a:prstGeom prst="rect">
            <a:avLst/>
          </a:prstGeom>
          <a:solidFill>
            <a:srgbClr val="FFFFFF">
              <a:alpha val="84000"/>
            </a:srgbClr>
          </a:solidFill>
          <a:ln w="1270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F8DF0D-9412-7D30-2C76-4E2810DF5BF8}"/>
              </a:ext>
            </a:extLst>
          </p:cNvPr>
          <p:cNvSpPr>
            <a:spLocks noGrp="1"/>
          </p:cNvSpPr>
          <p:nvPr/>
        </p:nvSpPr>
        <p:spPr>
          <a:xfrm>
            <a:off x="992717" y="2149022"/>
            <a:ext cx="2794000" cy="1498600"/>
          </a:xfrm>
          <a:prstGeom prst="rect">
            <a:avLst/>
          </a:prstGeom>
          <a:solidFill>
            <a:srgbClr val="EEF5FB">
              <a:alpha val="84000"/>
            </a:srgbClr>
          </a:solidFill>
          <a:ln w="1270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B581E08-BC87-3CA0-861F-2AA114780BF2}"/>
              </a:ext>
            </a:extLst>
          </p:cNvPr>
          <p:cNvSpPr>
            <a:spLocks noGrp="1"/>
          </p:cNvSpPr>
          <p:nvPr/>
        </p:nvSpPr>
        <p:spPr>
          <a:xfrm>
            <a:off x="1195917" y="1945822"/>
            <a:ext cx="2794000" cy="1498600"/>
          </a:xfrm>
          <a:prstGeom prst="rect">
            <a:avLst/>
          </a:prstGeom>
          <a:solidFill>
            <a:srgbClr val="FFFFFF">
              <a:alpha val="84000"/>
            </a:srgbClr>
          </a:solidFill>
          <a:ln w="1270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D8B8453-F9CE-13FD-4887-3A07728F872F}"/>
              </a:ext>
            </a:extLst>
          </p:cNvPr>
          <p:cNvSpPr>
            <a:spLocks noGrp="1"/>
          </p:cNvSpPr>
          <p:nvPr/>
        </p:nvSpPr>
        <p:spPr>
          <a:xfrm>
            <a:off x="1068917" y="2400869"/>
            <a:ext cx="2921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Gaussian = 位置 + 形状 + 透明度 + 外观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0882C7D-4ED3-448F-8F41-0D0E7E12620A}"/>
              </a:ext>
            </a:extLst>
          </p:cNvPr>
          <p:cNvSpPr>
            <a:spLocks noGrp="1"/>
          </p:cNvSpPr>
          <p:nvPr/>
        </p:nvSpPr>
        <p:spPr>
          <a:xfrm>
            <a:off x="548217" y="4206422"/>
            <a:ext cx="3302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普通区域固定RGB；复杂区域增加视角相关参数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55F4344-C12A-EA42-4EAA-0966129793E5}"/>
              </a:ext>
            </a:extLst>
          </p:cNvPr>
          <p:cNvSpPr>
            <a:spLocks noGrp="1"/>
          </p:cNvSpPr>
          <p:nvPr/>
        </p:nvSpPr>
        <p:spPr>
          <a:xfrm>
            <a:off x="5622924" y="1416454"/>
            <a:ext cx="1596814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 dirty="0" err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压缩策略</a:t>
            </a:r>
            <a:endParaRPr sz="16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51A78A7-4155-EFC2-2BDD-6D56A61BA3E6}"/>
              </a:ext>
            </a:extLst>
          </p:cNvPr>
          <p:cNvSpPr>
            <a:spLocks noGrp="1"/>
          </p:cNvSpPr>
          <p:nvPr/>
        </p:nvSpPr>
        <p:spPr>
          <a:xfrm>
            <a:off x="5042958" y="2270499"/>
            <a:ext cx="3048000" cy="1410643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4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按区域使用自适应高斯密度</a:t>
            </a:r>
          </a:p>
          <a:p>
            <a:pPr>
              <a:spcAft>
                <a:spcPts val="500"/>
              </a:spcAft>
              <a:buNone/>
            </a:pPr>
            <a:r>
              <a:rPr sz="14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删除低贡献高斯并合并相似高斯</a:t>
            </a:r>
          </a:p>
          <a:p>
            <a:pPr>
              <a:spcAft>
                <a:spcPts val="500"/>
              </a:spcAft>
              <a:buNone/>
            </a:pPr>
            <a:r>
              <a:rPr sz="14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量化位置、形状、透明度与外观</a:t>
            </a:r>
          </a:p>
          <a:p>
            <a:pPr>
              <a:spcAft>
                <a:spcPts val="500"/>
              </a:spcAft>
              <a:buNone/>
            </a:pPr>
            <a:r>
              <a:rPr sz="14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按当前视角加载可见高斯组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C64A1CB-6019-8F88-4C35-479650360BF4}"/>
              </a:ext>
            </a:extLst>
          </p:cNvPr>
          <p:cNvSpPr>
            <a:spLocks noGrp="1"/>
          </p:cNvSpPr>
          <p:nvPr/>
        </p:nvSpPr>
        <p:spPr>
          <a:xfrm>
            <a:off x="9279467" y="1378672"/>
            <a:ext cx="1261533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 dirty="0" err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移动端交互</a:t>
            </a:r>
            <a:endParaRPr sz="16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07DD68B4-54C0-4F6C-0C79-0F1B0E24339E}"/>
              </a:ext>
            </a:extLst>
          </p:cNvPr>
          <p:cNvSpPr>
            <a:spLocks noGrp="1"/>
          </p:cNvSpPr>
          <p:nvPr/>
        </p:nvSpPr>
        <p:spPr>
          <a:xfrm>
            <a:off x="9143999" y="1927732"/>
            <a:ext cx="1358901" cy="182218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1F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44EFCD7-3C7E-6C88-09C3-36AE70E13331}"/>
              </a:ext>
            </a:extLst>
          </p:cNvPr>
          <p:cNvSpPr>
            <a:spLocks noGrp="1"/>
          </p:cNvSpPr>
          <p:nvPr/>
        </p:nvSpPr>
        <p:spPr>
          <a:xfrm>
            <a:off x="9279467" y="2063465"/>
            <a:ext cx="1100666" cy="1562954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26D6C2E-B7C4-81C1-8273-61946860F179}"/>
              </a:ext>
            </a:extLst>
          </p:cNvPr>
          <p:cNvSpPr>
            <a:spLocks noGrp="1"/>
          </p:cNvSpPr>
          <p:nvPr/>
        </p:nvSpPr>
        <p:spPr>
          <a:xfrm>
            <a:off x="9203267" y="2073674"/>
            <a:ext cx="12319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IMU / 触摸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3355897-476C-BDAD-DFC3-02E0EDF0AD43}"/>
              </a:ext>
            </a:extLst>
          </p:cNvPr>
          <p:cNvSpPr>
            <a:spLocks noGrp="1"/>
          </p:cNvSpPr>
          <p:nvPr/>
        </p:nvSpPr>
        <p:spPr>
          <a:xfrm>
            <a:off x="9203267" y="2492774"/>
            <a:ext cx="1231900" cy="1133644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可见高斯筛选</a:t>
            </a:r>
          </a:p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高斯光栅化</a:t>
            </a:r>
          </a:p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Alpha合成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ACCA7FC-F86E-E065-EEAD-FEE4960B881E}"/>
              </a:ext>
            </a:extLst>
          </p:cNvPr>
          <p:cNvSpPr>
            <a:spLocks noGrp="1"/>
          </p:cNvSpPr>
          <p:nvPr/>
        </p:nvSpPr>
        <p:spPr>
          <a:xfrm>
            <a:off x="685800" y="4902200"/>
            <a:ext cx="10820400" cy="1041400"/>
          </a:xfrm>
          <a:prstGeom prst="rect">
            <a:avLst/>
          </a:prstGeom>
          <a:solidFill>
            <a:srgbClr val="EEF5FB"/>
          </a:solidFill>
          <a:ln w="12700">
            <a:solidFill>
              <a:srgbClr val="22C7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BF312DF-D13B-005B-E75E-B1187A54D5A4}"/>
              </a:ext>
            </a:extLst>
          </p:cNvPr>
          <p:cNvSpPr>
            <a:spLocks noGrp="1"/>
          </p:cNvSpPr>
          <p:nvPr/>
        </p:nvSpPr>
        <p:spPr>
          <a:xfrm>
            <a:off x="889000" y="5067300"/>
            <a:ext cx="1270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路线取舍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7117037-0A42-35E5-4A7F-173745347944}"/>
              </a:ext>
            </a:extLst>
          </p:cNvPr>
          <p:cNvSpPr>
            <a:spLocks noGrp="1"/>
          </p:cNvSpPr>
          <p:nvPr/>
        </p:nvSpPr>
        <p:spPr>
          <a:xfrm>
            <a:off x="2286000" y="5067300"/>
            <a:ext cx="266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3DGS：终端核心路线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BC4E2BB-1CC2-E79F-D0C0-ACDA19162561}"/>
              </a:ext>
            </a:extLst>
          </p:cNvPr>
          <p:cNvSpPr>
            <a:spLocks noGrp="1"/>
          </p:cNvSpPr>
          <p:nvPr/>
        </p:nvSpPr>
        <p:spPr>
          <a:xfrm>
            <a:off x="4953000" y="5067300"/>
            <a:ext cx="3302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其他轻量表示：性能与效果对照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5E6C4DC-DE45-E591-189B-FD3FD6A2105D}"/>
              </a:ext>
            </a:extLst>
          </p:cNvPr>
          <p:cNvSpPr>
            <a:spLocks noGrp="1"/>
          </p:cNvSpPr>
          <p:nvPr/>
        </p:nvSpPr>
        <p:spPr>
          <a:xfrm>
            <a:off x="8382000" y="5067300"/>
            <a:ext cx="266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Mesh：低复杂度备选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04B8BAA-C84E-E93F-404C-0B46A1B547C7}"/>
              </a:ext>
            </a:extLst>
          </p:cNvPr>
          <p:cNvSpPr>
            <a:spLocks noGrp="1"/>
          </p:cNvSpPr>
          <p:nvPr/>
        </p:nvSpPr>
        <p:spPr>
          <a:xfrm>
            <a:off x="889000" y="5524500"/>
            <a:ext cx="1038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交互阶段以显式高斯渲染为主，不重复运行SHARP及显露补全模型。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C16CCB0-9221-7CA1-A91E-21CC6F50B5DE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2CE99D7-76F6-F59F-4BDE-7F4171227ED5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7" name="material-to-compression-arrow">
            <a:extLst>
              <a:ext uri="{FF2B5EF4-FFF2-40B4-BE49-F238E27FC236}">
                <a16:creationId xmlns:a16="http://schemas.microsoft.com/office/drawing/2014/main" id="{49010E79-39BA-4818-B6E4-565D4761AB27}"/>
              </a:ext>
            </a:extLst>
          </p:cNvPr>
          <p:cNvSpPr>
            <a:spLocks noGrp="1"/>
          </p:cNvSpPr>
          <p:nvPr/>
        </p:nvSpPr>
        <p:spPr>
          <a:xfrm>
            <a:off x="4198408" y="2743573"/>
            <a:ext cx="590550" cy="190500"/>
          </a:xfrm>
          <a:prstGeom prst="rightArrow">
            <a:avLst/>
          </a:prstGeom>
          <a:solidFill>
            <a:srgbClr val="22C7E2"/>
          </a:solidFill>
          <a:ln w="0">
            <a:solidFill>
              <a:srgbClr val="22C7E2"/>
            </a:solidFill>
            <a:prstDash val="solid"/>
          </a:ln>
        </p:spPr>
        <p:txBody>
          <a:bodyPr/>
          <a:p/>
        </p:txBody>
      </p:sp>
      <p:sp>
        <p:nvSpPr>
          <p:cNvPr id="29" name="material-to-compression-arrow">
            <a:extLst>
              <a:ext uri="{FF2B5EF4-FFF2-40B4-BE49-F238E27FC236}">
                <a16:creationId xmlns:a16="http://schemas.microsoft.com/office/drawing/2014/main" id="{6BF28525-BD4D-B136-99E2-4519BDF01600}"/>
              </a:ext>
            </a:extLst>
          </p:cNvPr>
          <p:cNvSpPr>
            <a:spLocks noGrp="1"/>
          </p:cNvSpPr>
          <p:nvPr/>
        </p:nvSpPr>
        <p:spPr>
          <a:xfrm>
            <a:off x="8026928" y="2743573"/>
            <a:ext cx="590550" cy="190500"/>
          </a:xfrm>
          <a:prstGeom prst="rightArrow">
            <a:avLst/>
          </a:prstGeom>
          <a:solidFill>
            <a:srgbClr val="22C7E2"/>
          </a:solidFill>
          <a:ln w="0">
            <a:solidFill>
              <a:srgbClr val="22C7E2"/>
            </a:solidFill>
            <a:prstDash val="solid"/>
          </a:ln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1587337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3028856-7DE6-86DB-4103-959F370881C7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分阶段训练与轻量3DGS生成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34B9DDB-B573-5F93-C88B-818311D02EFD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训练可使用多视图和高质量3DGS监督；测试仍严格保持单张RGB输入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1AB34C0-4557-1C21-8DA0-ABC678A8C137}"/>
              </a:ext>
            </a:extLst>
          </p:cNvPr>
          <p:cNvSpPr>
            <a:spLocks noGrp="1"/>
          </p:cNvSpPr>
          <p:nvPr/>
        </p:nvSpPr>
        <p:spPr>
          <a:xfrm>
            <a:off x="685800" y="1193800"/>
            <a:ext cx="2286000" cy="8636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48CFC38-DE7D-79B8-B0EE-2ED92EF92751}"/>
              </a:ext>
            </a:extLst>
          </p:cNvPr>
          <p:cNvSpPr>
            <a:spLocks noGrp="1"/>
          </p:cNvSpPr>
          <p:nvPr/>
        </p:nvSpPr>
        <p:spPr>
          <a:xfrm>
            <a:off x="838200" y="1333500"/>
            <a:ext cx="1981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SHARP单图高斯先验</a:t>
            </a:r>
          </a:p>
          <a:p>
            <a:pPr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多视图3DGS监督</a:t>
            </a:r>
          </a:p>
        </p:txBody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7EFBC8D-7DF4-4DE1-B125-A2D3812BD3C7}"/>
              </a:ext>
            </a:extLst>
          </p:cNvPr>
          <p:cNvSpPr>
            <a:spLocks noGrp="1"/>
          </p:cNvSpPr>
          <p:nvPr/>
        </p:nvSpPr>
        <p:spPr>
          <a:xfrm>
            <a:off x="2997200" y="1625600"/>
            <a:ext cx="1168400" cy="0"/>
          </a:xfrm>
          <a:prstGeom prst="line">
            <a:avLst/>
          </a:prstGeom>
          <a:ln w="31750">
            <a:solidFill>
              <a:srgbClr val="22C7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p/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26763EB-CE02-9070-35D2-37009198A91A}"/>
              </a:ext>
            </a:extLst>
          </p:cNvPr>
          <p:cNvSpPr>
            <a:spLocks noGrp="1"/>
          </p:cNvSpPr>
          <p:nvPr/>
        </p:nvSpPr>
        <p:spPr>
          <a:xfrm>
            <a:off x="4191000" y="1193800"/>
            <a:ext cx="2997200" cy="863600"/>
          </a:xfrm>
          <a:prstGeom prst="rect">
            <a:avLst/>
          </a:prstGeom>
          <a:solidFill>
            <a:srgbClr val="EEF5FB"/>
          </a:solidFill>
          <a:ln w="12700">
            <a:solidFill>
              <a:srgbClr val="22C7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C031C46-3EE6-97E2-2A99-7FD2E0F1A18F}"/>
              </a:ext>
            </a:extLst>
          </p:cNvPr>
          <p:cNvSpPr>
            <a:spLocks noGrp="1"/>
          </p:cNvSpPr>
          <p:nvPr/>
        </p:nvSpPr>
        <p:spPr>
          <a:xfrm>
            <a:off x="4343400" y="1333500"/>
            <a:ext cx="26924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轻量生成模型</a:t>
            </a:r>
          </a:p>
          <a:p>
            <a:pPr algn="ctr">
              <a:buNone/>
            </a:pPr>
            <a:r>
              <a:rPr sz="16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单图 → 基础+补充高斯</a:t>
            </a: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B98A5AC4-D780-4A69-B8FA-BB4F81EB2DFF}"/>
              </a:ext>
            </a:extLst>
          </p:cNvPr>
          <p:cNvSpPr>
            <a:spLocks noGrp="1"/>
          </p:cNvSpPr>
          <p:nvPr/>
        </p:nvSpPr>
        <p:spPr>
          <a:xfrm>
            <a:off x="7213600" y="1625600"/>
            <a:ext cx="1092200" cy="0"/>
          </a:xfrm>
          <a:prstGeom prst="line">
            <a:avLst/>
          </a:prstGeom>
          <a:ln w="31750">
            <a:solidFill>
              <a:srgbClr val="22C7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p/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4D8558F-F344-C5C0-40EC-AADC2E33E864}"/>
              </a:ext>
            </a:extLst>
          </p:cNvPr>
          <p:cNvSpPr>
            <a:spLocks noGrp="1"/>
          </p:cNvSpPr>
          <p:nvPr/>
        </p:nvSpPr>
        <p:spPr>
          <a:xfrm>
            <a:off x="8331200" y="1193800"/>
            <a:ext cx="3175000" cy="8636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C54A8C9-8F84-3315-F0FB-1993987B6FA0}"/>
              </a:ext>
            </a:extLst>
          </p:cNvPr>
          <p:cNvSpPr>
            <a:spLocks noGrp="1"/>
          </p:cNvSpPr>
          <p:nvPr/>
        </p:nvSpPr>
        <p:spPr>
          <a:xfrm>
            <a:off x="8483600" y="1333500"/>
            <a:ext cx="2870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移动端3DGS渲染</a:t>
            </a:r>
          </a:p>
          <a:p>
            <a:pPr algn="ctr">
              <a:buNone/>
            </a:pPr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交互阶段不运行重模型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9DA0A2-CB61-4C49-51A5-CCFC8089092D}"/>
              </a:ext>
            </a:extLst>
          </p:cNvPr>
          <p:cNvSpPr>
            <a:spLocks noGrp="1"/>
          </p:cNvSpPr>
          <p:nvPr/>
        </p:nvSpPr>
        <p:spPr>
          <a:xfrm>
            <a:off x="685800" y="2413000"/>
            <a:ext cx="108204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四阶段训练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1F00528-4259-8029-7571-C81BE748F4F4}"/>
              </a:ext>
            </a:extLst>
          </p:cNvPr>
          <p:cNvSpPr>
            <a:spLocks noGrp="1"/>
          </p:cNvSpPr>
          <p:nvPr/>
        </p:nvSpPr>
        <p:spPr>
          <a:xfrm>
            <a:off x="685800" y="2870200"/>
            <a:ext cx="2413000" cy="14859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4AD6BDA-993E-DDEF-559C-595CFD4FC2EB}"/>
              </a:ext>
            </a:extLst>
          </p:cNvPr>
          <p:cNvSpPr>
            <a:spLocks noGrp="1"/>
          </p:cNvSpPr>
          <p:nvPr/>
        </p:nvSpPr>
        <p:spPr>
          <a:xfrm>
            <a:off x="685800" y="2870200"/>
            <a:ext cx="2413000" cy="469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B56D282-CB8A-8CD3-8A93-673D5509D0B5}"/>
              </a:ext>
            </a:extLst>
          </p:cNvPr>
          <p:cNvSpPr>
            <a:spLocks noGrp="1"/>
          </p:cNvSpPr>
          <p:nvPr/>
        </p:nvSpPr>
        <p:spPr>
          <a:xfrm>
            <a:off x="838200" y="3530600"/>
            <a:ext cx="2108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深度、边缘、基础高斯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AF83492-559A-9947-2AFD-ECAAF354B1CF}"/>
              </a:ext>
            </a:extLst>
          </p:cNvPr>
          <p:cNvSpPr>
            <a:spLocks noGrp="1"/>
          </p:cNvSpPr>
          <p:nvPr/>
        </p:nvSpPr>
        <p:spPr>
          <a:xfrm>
            <a:off x="3429000" y="2870200"/>
            <a:ext cx="2413000" cy="14859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5955ABE-CC5A-08B5-BA30-A7E2DD068332}"/>
              </a:ext>
            </a:extLst>
          </p:cNvPr>
          <p:cNvSpPr>
            <a:spLocks noGrp="1"/>
          </p:cNvSpPr>
          <p:nvPr/>
        </p:nvSpPr>
        <p:spPr>
          <a:xfrm>
            <a:off x="3429000" y="2870200"/>
            <a:ext cx="2413000" cy="469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45E0595-D08C-0C1C-39D6-BB4A635E654B}"/>
              </a:ext>
            </a:extLst>
          </p:cNvPr>
          <p:cNvSpPr>
            <a:spLocks noGrp="1"/>
          </p:cNvSpPr>
          <p:nvPr/>
        </p:nvSpPr>
        <p:spPr>
          <a:xfrm>
            <a:off x="3581400" y="3530600"/>
            <a:ext cx="2108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由小视角逐步训练显露高斯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148B5C1-B3BE-6B2F-3145-C7525182C515}"/>
              </a:ext>
            </a:extLst>
          </p:cNvPr>
          <p:cNvSpPr>
            <a:spLocks noGrp="1"/>
          </p:cNvSpPr>
          <p:nvPr/>
        </p:nvSpPr>
        <p:spPr>
          <a:xfrm>
            <a:off x="6172200" y="2870200"/>
            <a:ext cx="2413000" cy="14859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5280FF7-35D3-30F8-5D87-51C6266920E5}"/>
              </a:ext>
            </a:extLst>
          </p:cNvPr>
          <p:cNvSpPr>
            <a:spLocks noGrp="1"/>
          </p:cNvSpPr>
          <p:nvPr/>
        </p:nvSpPr>
        <p:spPr>
          <a:xfrm>
            <a:off x="6172200" y="2870200"/>
            <a:ext cx="2413000" cy="469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19F1284-2917-0455-A8BB-F9838790E76E}"/>
              </a:ext>
            </a:extLst>
          </p:cNvPr>
          <p:cNvSpPr>
            <a:spLocks noGrp="1"/>
          </p:cNvSpPr>
          <p:nvPr/>
        </p:nvSpPr>
        <p:spPr>
          <a:xfrm>
            <a:off x="6324600" y="3530600"/>
            <a:ext cx="2108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材质外观与跨视角稳定</a:t>
            </a:r>
            <a:endParaRPr sz="125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AE15691-D12C-626F-7D2C-282EC4FB3ACD}"/>
              </a:ext>
            </a:extLst>
          </p:cNvPr>
          <p:cNvSpPr>
            <a:spLocks noGrp="1"/>
          </p:cNvSpPr>
          <p:nvPr/>
        </p:nvSpPr>
        <p:spPr>
          <a:xfrm>
            <a:off x="8915400" y="2870200"/>
            <a:ext cx="2413000" cy="14859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1327F61-BCF3-45A3-FB80-43331DBA1AD7}"/>
              </a:ext>
            </a:extLst>
          </p:cNvPr>
          <p:cNvSpPr>
            <a:spLocks noGrp="1"/>
          </p:cNvSpPr>
          <p:nvPr/>
        </p:nvSpPr>
        <p:spPr>
          <a:xfrm>
            <a:off x="8915400" y="2870200"/>
            <a:ext cx="2413000" cy="469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A9E71B1-9DEB-B0D3-6F97-6C539EB6D17C}"/>
              </a:ext>
            </a:extLst>
          </p:cNvPr>
          <p:cNvSpPr>
            <a:spLocks noGrp="1"/>
          </p:cNvSpPr>
          <p:nvPr/>
        </p:nvSpPr>
        <p:spPr>
          <a:xfrm>
            <a:off x="9067800" y="3530600"/>
            <a:ext cx="2108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剪枝、合并、量化与迁移</a:t>
            </a:r>
            <a:endParaRPr sz="125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A38E07F-6CF3-732D-5083-D7DD5D9AB151}"/>
              </a:ext>
            </a:extLst>
          </p:cNvPr>
          <p:cNvSpPr>
            <a:spLocks noGrp="1"/>
          </p:cNvSpPr>
          <p:nvPr/>
        </p:nvSpPr>
        <p:spPr>
          <a:xfrm>
            <a:off x="685800" y="4711700"/>
            <a:ext cx="10820400" cy="12065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EFF2C51-A5B3-27EC-CBBE-A65C603B45AC}"/>
              </a:ext>
            </a:extLst>
          </p:cNvPr>
          <p:cNvSpPr>
            <a:spLocks noGrp="1"/>
          </p:cNvSpPr>
          <p:nvPr/>
        </p:nvSpPr>
        <p:spPr>
          <a:xfrm>
            <a:off x="889000" y="4864100"/>
            <a:ext cx="1270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损失设计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7C1844C-72F7-2878-4A75-C80006C8E2F8}"/>
              </a:ext>
            </a:extLst>
          </p:cNvPr>
          <p:cNvSpPr>
            <a:spLocks noGrp="1"/>
          </p:cNvSpPr>
          <p:nvPr/>
        </p:nvSpPr>
        <p:spPr>
          <a:xfrm>
            <a:off x="2286000" y="4864100"/>
            <a:ext cx="1651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重建与感知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C5906BC-51F7-15F0-CA34-00897124B4A0}"/>
              </a:ext>
            </a:extLst>
          </p:cNvPr>
          <p:cNvSpPr>
            <a:spLocks noGrp="1"/>
          </p:cNvSpPr>
          <p:nvPr/>
        </p:nvSpPr>
        <p:spPr>
          <a:xfrm>
            <a:off x="2286000" y="5207000"/>
            <a:ext cx="1651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RGB · DISTS / LPIPS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A6D720F-AD52-1800-140B-6E9163215D4E}"/>
              </a:ext>
            </a:extLst>
          </p:cNvPr>
          <p:cNvSpPr>
            <a:spLocks noGrp="1"/>
          </p:cNvSpPr>
          <p:nvPr/>
        </p:nvSpPr>
        <p:spPr>
          <a:xfrm>
            <a:off x="4191000" y="4864100"/>
            <a:ext cx="1651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几何与结构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7246B58E-ED76-F385-8054-415678DF01ED}"/>
              </a:ext>
            </a:extLst>
          </p:cNvPr>
          <p:cNvSpPr>
            <a:spLocks noGrp="1"/>
          </p:cNvSpPr>
          <p:nvPr/>
        </p:nvSpPr>
        <p:spPr>
          <a:xfrm>
            <a:off x="4191000" y="5207000"/>
            <a:ext cx="1651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Depth · 边缘 · 连接性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65DE57C-08E6-7671-1365-E56AA30ACAC7}"/>
              </a:ext>
            </a:extLst>
          </p:cNvPr>
          <p:cNvSpPr>
            <a:spLocks noGrp="1"/>
          </p:cNvSpPr>
          <p:nvPr/>
        </p:nvSpPr>
        <p:spPr>
          <a:xfrm>
            <a:off x="6096000" y="4864100"/>
            <a:ext cx="1651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显露与连续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D2D1662-4FDB-34A1-97BA-87B8B5792642}"/>
              </a:ext>
            </a:extLst>
          </p:cNvPr>
          <p:cNvSpPr>
            <a:spLocks noGrp="1"/>
          </p:cNvSpPr>
          <p:nvPr/>
        </p:nvSpPr>
        <p:spPr>
          <a:xfrm>
            <a:off x="6096000" y="5207000"/>
            <a:ext cx="1905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补充高斯 · 锚点渲染一致性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E4B010C-19CE-BC58-727E-DC60D88F6DF2}"/>
              </a:ext>
            </a:extLst>
          </p:cNvPr>
          <p:cNvSpPr>
            <a:spLocks noGrp="1"/>
          </p:cNvSpPr>
          <p:nvPr/>
        </p:nvSpPr>
        <p:spPr>
          <a:xfrm>
            <a:off x="8509000" y="48641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效率正则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63E4E41-F418-4B41-56DB-0A41937ECDB5}"/>
              </a:ext>
            </a:extLst>
          </p:cNvPr>
          <p:cNvSpPr>
            <a:spLocks noGrp="1"/>
          </p:cNvSpPr>
          <p:nvPr/>
        </p:nvSpPr>
        <p:spPr>
          <a:xfrm>
            <a:off x="8255000" y="5207000"/>
            <a:ext cx="2286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高斯数量 · 大小 · 低贡献元素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DEEA426-513B-51C2-2F2C-890076ABA910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68558C8-7203-A4D4-B9A9-7D8A7CCDD49D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E3E3FFD-7CCC-7755-1511-9AC0F02A6179}"/>
              </a:ext>
            </a:extLst>
          </p:cNvPr>
          <p:cNvSpPr>
            <a:spLocks noGrp="1"/>
          </p:cNvSpPr>
          <p:nvPr/>
        </p:nvSpPr>
        <p:spPr>
          <a:xfrm>
            <a:off x="9017000" y="2870200"/>
            <a:ext cx="2209800" cy="4699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Stage 4</a:t>
            </a:r>
          </a:p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剪枝·合并·量化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599C73E-C50D-6343-5455-D727167BE4BF}"/>
              </a:ext>
            </a:extLst>
          </p:cNvPr>
          <p:cNvSpPr>
            <a:spLocks noGrp="1"/>
          </p:cNvSpPr>
          <p:nvPr/>
        </p:nvSpPr>
        <p:spPr>
          <a:xfrm>
            <a:off x="787400" y="2870200"/>
            <a:ext cx="2209800" cy="4699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Stage 1</a:t>
            </a:r>
          </a:p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基础高斯生成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C236AF4-D2C9-54D7-569B-36AD6BBB2B4D}"/>
              </a:ext>
            </a:extLst>
          </p:cNvPr>
          <p:cNvSpPr>
            <a:spLocks noGrp="1"/>
          </p:cNvSpPr>
          <p:nvPr/>
        </p:nvSpPr>
        <p:spPr>
          <a:xfrm>
            <a:off x="6273800" y="2870200"/>
            <a:ext cx="2209800" cy="4699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Stage 3</a:t>
            </a:r>
          </a:p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材质与真实图微调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13F77A4-A82D-D8BF-7554-B77E3D19C8E4}"/>
              </a:ext>
            </a:extLst>
          </p:cNvPr>
          <p:cNvSpPr>
            <a:spLocks noGrp="1"/>
          </p:cNvSpPr>
          <p:nvPr/>
        </p:nvSpPr>
        <p:spPr>
          <a:xfrm>
            <a:off x="3530600" y="2870200"/>
            <a:ext cx="2209800" cy="4699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Stage 2</a:t>
            </a:r>
          </a:p>
          <a:p>
            <a:pPr algn="ctr">
              <a:buNone/>
            </a:pPr>
            <a:r>
              <a:rPr sz="1200" b="1" dirty="0" err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显露与视角课程</a:t>
            </a:r>
            <a:endParaRPr sz="1200" b="1" dirty="0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28494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B633102-43F7-6DB5-D080-027DF9204C72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实验验证、技术风险与讨论问题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2546EDF-E5C3-9554-3ABB-0603F5F54E53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评价口径与适用场景构成下一阶段的核心讨论边界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76F3EC4-4D78-A980-298A-EAE2319A837E}"/>
              </a:ext>
            </a:extLst>
          </p:cNvPr>
          <p:cNvSpPr>
            <a:spLocks noGrp="1"/>
          </p:cNvSpPr>
          <p:nvPr/>
        </p:nvSpPr>
        <p:spPr>
          <a:xfrm>
            <a:off x="685800" y="1221906"/>
            <a:ext cx="275844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验证实验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E27B15F-320B-1811-67AA-249E51E1DB65}"/>
              </a:ext>
            </a:extLst>
          </p:cNvPr>
          <p:cNvSpPr>
            <a:spLocks noGrp="1"/>
          </p:cNvSpPr>
          <p:nvPr/>
        </p:nvSpPr>
        <p:spPr>
          <a:xfrm>
            <a:off x="685800" y="1786394"/>
            <a:ext cx="6248400" cy="685800"/>
          </a:xfrm>
          <a:prstGeom prst="rect">
            <a:avLst/>
          </a:prstGeom>
          <a:solidFill>
            <a:srgbClr val="EEF5FB"/>
          </a:solidFill>
          <a:ln w="889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B17A3E2-B18D-4DF9-C5A2-2E79E1C70035}"/>
              </a:ext>
            </a:extLst>
          </p:cNvPr>
          <p:cNvSpPr>
            <a:spLocks noGrp="1"/>
          </p:cNvSpPr>
          <p:nvPr/>
        </p:nvSpPr>
        <p:spPr>
          <a:xfrm>
            <a:off x="838200" y="1875294"/>
            <a:ext cx="149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视角范围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487D25-3DE2-E6D9-D1D8-59CEC1119F09}"/>
              </a:ext>
            </a:extLst>
          </p:cNvPr>
          <p:cNvSpPr>
            <a:spLocks noGrp="1"/>
          </p:cNvSpPr>
          <p:nvPr/>
        </p:nvSpPr>
        <p:spPr>
          <a:xfrm>
            <a:off x="2413000" y="1875294"/>
            <a:ext cx="4368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5° / 15° / 30°连续轨迹；记录首次明显伪影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E6D88E5-3B21-F7A6-4576-DAF23CAE25BC}"/>
              </a:ext>
            </a:extLst>
          </p:cNvPr>
          <p:cNvSpPr>
            <a:spLocks noGrp="1"/>
          </p:cNvSpPr>
          <p:nvPr/>
        </p:nvSpPr>
        <p:spPr>
          <a:xfrm>
            <a:off x="685800" y="2611894"/>
            <a:ext cx="6248400" cy="685800"/>
          </a:xfrm>
          <a:prstGeom prst="rect">
            <a:avLst/>
          </a:prstGeom>
          <a:solidFill>
            <a:srgbClr val="FFFFFF"/>
          </a:solidFill>
          <a:ln w="889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108B659-9C9D-2D6B-9C8F-1FA8ABE73358}"/>
              </a:ext>
            </a:extLst>
          </p:cNvPr>
          <p:cNvSpPr>
            <a:spLocks noGrp="1"/>
          </p:cNvSpPr>
          <p:nvPr/>
        </p:nvSpPr>
        <p:spPr>
          <a:xfrm>
            <a:off x="838200" y="2700794"/>
            <a:ext cx="149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画质与一致性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F425CB-1A8B-58F8-46A9-AA897CF8DA6C}"/>
              </a:ext>
            </a:extLst>
          </p:cNvPr>
          <p:cNvSpPr>
            <a:spLocks noGrp="1"/>
          </p:cNvSpPr>
          <p:nvPr/>
        </p:nvSpPr>
        <p:spPr>
          <a:xfrm>
            <a:off x="2413000" y="2700794"/>
            <a:ext cx="4368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DISTS、LPIPS、SSIM与人工跨视角评分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ED11E9A-A6AC-051A-A456-8A5326AC17C8}"/>
              </a:ext>
            </a:extLst>
          </p:cNvPr>
          <p:cNvSpPr>
            <a:spLocks noGrp="1"/>
          </p:cNvSpPr>
          <p:nvPr/>
        </p:nvSpPr>
        <p:spPr>
          <a:xfrm>
            <a:off x="685800" y="3437394"/>
            <a:ext cx="6248400" cy="685800"/>
          </a:xfrm>
          <a:prstGeom prst="rect">
            <a:avLst/>
          </a:prstGeom>
          <a:solidFill>
            <a:srgbClr val="EEF5FB"/>
          </a:solidFill>
          <a:ln w="889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22E604-56F6-23A2-6572-5342ADE46046}"/>
              </a:ext>
            </a:extLst>
          </p:cNvPr>
          <p:cNvSpPr>
            <a:spLocks noGrp="1"/>
          </p:cNvSpPr>
          <p:nvPr/>
        </p:nvSpPr>
        <p:spPr>
          <a:xfrm>
            <a:off x="838200" y="3526294"/>
            <a:ext cx="149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模块消融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C4737C-ABF1-7B69-D78E-4E56E3EAC7C9}"/>
              </a:ext>
            </a:extLst>
          </p:cNvPr>
          <p:cNvSpPr>
            <a:spLocks noGrp="1"/>
          </p:cNvSpPr>
          <p:nvPr/>
        </p:nvSpPr>
        <p:spPr>
          <a:xfrm>
            <a:off x="2413000" y="3526294"/>
            <a:ext cx="4368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高斯分配、显露补全、双锚点和材质外观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22F666A-4AD1-36B3-D7CA-3D4A22BCC3CB}"/>
              </a:ext>
            </a:extLst>
          </p:cNvPr>
          <p:cNvSpPr>
            <a:spLocks noGrp="1"/>
          </p:cNvSpPr>
          <p:nvPr/>
        </p:nvSpPr>
        <p:spPr>
          <a:xfrm>
            <a:off x="685800" y="4262894"/>
            <a:ext cx="6248400" cy="685800"/>
          </a:xfrm>
          <a:prstGeom prst="rect">
            <a:avLst/>
          </a:prstGeom>
          <a:solidFill>
            <a:srgbClr val="FFFFFF"/>
          </a:solidFill>
          <a:ln w="889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E212260-D88A-337B-BBF6-A8CE3CFC6AE3}"/>
              </a:ext>
            </a:extLst>
          </p:cNvPr>
          <p:cNvSpPr>
            <a:spLocks noGrp="1"/>
          </p:cNvSpPr>
          <p:nvPr/>
        </p:nvSpPr>
        <p:spPr>
          <a:xfrm>
            <a:off x="838200" y="4351794"/>
            <a:ext cx="149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效率与表示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99C0796-AF58-F1C4-1700-8E471CDC3991}"/>
              </a:ext>
            </a:extLst>
          </p:cNvPr>
          <p:cNvSpPr>
            <a:spLocks noGrp="1"/>
          </p:cNvSpPr>
          <p:nvPr/>
        </p:nvSpPr>
        <p:spPr>
          <a:xfrm>
            <a:off x="2413000" y="4351794"/>
            <a:ext cx="4368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高斯数量、文件大小、2K时间、内存及端侧帧率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60E902E-1E96-6455-C4EB-F4171268CB5C}"/>
              </a:ext>
            </a:extLst>
          </p:cNvPr>
          <p:cNvSpPr>
            <a:spLocks noGrp="1"/>
          </p:cNvSpPr>
          <p:nvPr/>
        </p:nvSpPr>
        <p:spPr>
          <a:xfrm>
            <a:off x="7366000" y="1221078"/>
            <a:ext cx="112776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 dirty="0" err="1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主要风险</a:t>
            </a:r>
            <a:endParaRPr sz="1600" b="1" dirty="0">
              <a:solidFill>
                <a:srgbClr val="C6282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DB4857E-4434-8A3D-78D4-7F861D1230E1}"/>
              </a:ext>
            </a:extLst>
          </p:cNvPr>
          <p:cNvSpPr>
            <a:spLocks noGrp="1"/>
          </p:cNvSpPr>
          <p:nvPr/>
        </p:nvSpPr>
        <p:spPr>
          <a:xfrm>
            <a:off x="7366000" y="1785566"/>
            <a:ext cx="4140200" cy="996563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E77974E-0581-2B1A-CD83-CB32BD53897D}"/>
              </a:ext>
            </a:extLst>
          </p:cNvPr>
          <p:cNvSpPr>
            <a:spLocks noGrp="1"/>
          </p:cNvSpPr>
          <p:nvPr/>
        </p:nvSpPr>
        <p:spPr>
          <a:xfrm>
            <a:off x="7543800" y="1912566"/>
            <a:ext cx="3784600" cy="770394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30°可能只适用于部分场景</a:t>
            </a:r>
          </a:p>
          <a:p>
            <a:pPr>
              <a:spcAft>
                <a:spcPts val="500"/>
              </a:spcAft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补充高斯生成可能与2K&lt;5s冲突</a:t>
            </a:r>
          </a:p>
          <a:p>
            <a:pPr>
              <a:spcAft>
                <a:spcPts val="500"/>
              </a:spcAft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移动端高斯渲染与复杂材质仍有工程风险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9103D3-33C0-737E-E42E-354DCB4A466A}"/>
              </a:ext>
            </a:extLst>
          </p:cNvPr>
          <p:cNvSpPr>
            <a:spLocks noGrp="1"/>
          </p:cNvSpPr>
          <p:nvPr/>
        </p:nvSpPr>
        <p:spPr>
          <a:xfrm>
            <a:off x="7366000" y="3276600"/>
            <a:ext cx="41402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需要讨论的点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D3427FE-E39E-2936-7590-9AF8BC87D12F}"/>
              </a:ext>
            </a:extLst>
          </p:cNvPr>
          <p:cNvSpPr>
            <a:spLocks noGrp="1"/>
          </p:cNvSpPr>
          <p:nvPr/>
        </p:nvSpPr>
        <p:spPr>
          <a:xfrm>
            <a:off x="7366000" y="3708400"/>
            <a:ext cx="4140200" cy="1229747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8DA2619-5060-D543-87E2-5F4B82324732}"/>
              </a:ext>
            </a:extLst>
          </p:cNvPr>
          <p:cNvSpPr>
            <a:spLocks noGrp="1"/>
          </p:cNvSpPr>
          <p:nvPr/>
        </p:nvSpPr>
        <p:spPr>
          <a:xfrm>
            <a:off x="7543800" y="3835400"/>
            <a:ext cx="3784600" cy="1102747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30°目标：全场景硬性要求或推荐场景目标</a:t>
            </a:r>
          </a:p>
          <a:p>
            <a:pPr>
              <a:spcAft>
                <a:spcPts val="500"/>
              </a:spcAft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DISTS参考图像与目标视角的获取口径</a:t>
            </a:r>
            <a:endParaRPr sz="125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spcAft>
                <a:spcPts val="500"/>
              </a:spcAft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2K&lt;5s：是否计入完整生成与压缩过程</a:t>
            </a:r>
          </a:p>
          <a:p>
            <a:pPr>
              <a:spcAft>
                <a:spcPts val="500"/>
              </a:spcAft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移动端优先采用Vulkan、Metal还是其他渲染接口</a:t>
            </a:r>
            <a:endParaRPr sz="125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7D06AD8-9694-8012-2E7B-0C22E3D35E9A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10820400" cy="4318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4CF5ECA-C718-2183-7E39-DBA1FA169C23}"/>
              </a:ext>
            </a:extLst>
          </p:cNvPr>
          <p:cNvSpPr>
            <a:spLocks noGrp="1"/>
          </p:cNvSpPr>
          <p:nvPr/>
        </p:nvSpPr>
        <p:spPr>
          <a:xfrm>
            <a:off x="889000" y="5829300"/>
            <a:ext cx="10414000" cy="612648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讨论目标：先冻结评价边界，再确定高斯生成、压缩与移动端渲染方案。</a:t>
            </a:r>
          </a:p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实施优先级：SHARP结论 → 补充高斯与双锚点 → 高斯剪枝量化 → 材质及端侧优化。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2ED8996-0BF6-773C-E107-289130731432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651D344-33FE-AC7F-D822-7FAAE95C0945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43541752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609</Words>
  <Application>Microsoft Office PowerPoint</Application>
  <DocSecurity>0</DocSecurity>
  <PresentationFormat>宽屏</PresentationFormat>
  <Paragraphs>216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等线</vt:lpstr>
      <vt:lpstr>微软雅黑</vt:lpstr>
      <vt:lpstr>微软雅黑</vt:lpstr>
      <vt:lpstr>微软雅黑 Light</vt:lpstr>
      <vt:lpstr>Arial</vt:lpstr>
      <vt:lpstr>WPS</vt:lpstr>
      <vt:lpstr>单张2D图像转浅3D表达 总体Framework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7</cp:revision>
  <dcterms:created xsi:type="dcterms:W3CDTF">2026-07-22T08:34:18Z</dcterms:created>
  <dcterms:modified xsi:type="dcterms:W3CDTF">2026-07-22T13:31:34Z</dcterms:modified>
</cp:coreProperties>
</file>