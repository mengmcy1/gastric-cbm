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62560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333ACE-43EF-67B5-513F-C022A97C7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F666B4C-85CA-C1B9-75B6-4C9BB4162F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B3077A-0E98-C83E-0253-FAE8295A1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1F9E7-341D-46EE-89F1-C1CB51B6E5EA}" type="datetimeFigureOut">
              <a:rPr lang="zh-CN" altLang="en-US" smtClean="0"/>
              <a:t>2026-07-09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10A17D-8715-13AB-0480-E8B2391BD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D86C13-5FB8-9332-03EC-88157D43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DA324-1535-4BAB-85B7-857159BF5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1259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53B0F5-7AA9-115A-4112-9E75CC8CF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F898A0-ED18-6CD7-81BD-8A95F8461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BB4E21-BF30-110F-A0C9-7F7325B4E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1F9E7-341D-46EE-89F1-C1CB51B6E5EA}" type="datetimeFigureOut">
              <a:rPr lang="zh-CN" altLang="en-US" smtClean="0"/>
              <a:t>2026-07-09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545BC4-091A-7142-07D3-19868AFA2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45DF8A-2FC7-4A40-9458-DB0110FC9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DA324-1535-4BAB-85B7-857159BF5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2650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C63A8-5A8D-E3FB-55CF-D675177F1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A69AA9-33AE-B980-0067-D9FD6CAEA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282ED7-4350-BC04-8F02-1CD61C932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1F9E7-341D-46EE-89F1-C1CB51B6E5EA}" type="datetimeFigureOut">
              <a:rPr lang="zh-CN" altLang="en-US" smtClean="0"/>
              <a:t>2026-07-09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A46894-F5EE-C981-821A-502C0CA9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A5D850-EFB7-CFA6-4B33-A36441AF7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DA324-1535-4BAB-85B7-857159BF5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6193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535E42-AA9B-3921-2F27-60E315C9E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7CFEED-1C3B-2C1A-7987-FF93750391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5FEFE3E-7307-F941-1725-C10538454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B2A272-B91B-E8BD-5557-FDC0D380E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1F9E7-341D-46EE-89F1-C1CB51B6E5EA}" type="datetimeFigureOut">
              <a:rPr lang="zh-CN" altLang="en-US" smtClean="0"/>
              <a:t>2026-07-09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9A175A-5721-1DBA-164C-2F58833BA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C4ACC7-A0EE-A274-0FFC-80C01E23E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DA324-1535-4BAB-85B7-857159BF5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5724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68B5DA-3253-23E0-102B-01B2A18EF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37EE96-15A8-5672-9D3C-BEB5AF17A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05DA6A6-E1F4-2CDA-0A86-A7F6F6424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7246AEE-934B-31B9-1836-FDB45FFD84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474BD08-B4DF-D69E-96F5-CC65CB092A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A29835C-D355-44A9-5911-88A024556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1F9E7-341D-46EE-89F1-C1CB51B6E5EA}" type="datetimeFigureOut">
              <a:rPr lang="zh-CN" altLang="en-US" smtClean="0"/>
              <a:t>2026-07-09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DB668A8-35D7-F128-B18B-DFAE3E6C7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D4F1A10-C5C0-7B64-6C48-889D3D5B3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DA324-1535-4BAB-85B7-857159BF5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128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E087A6-794D-BF5F-69FA-EDA8B7867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B6CE8BC-8345-EFC9-3029-6E17B6806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1F9E7-341D-46EE-89F1-C1CB51B6E5EA}" type="datetimeFigureOut">
              <a:rPr lang="zh-CN" altLang="en-US" smtClean="0"/>
              <a:t>2026-07-09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13E5EFA-8322-9FCB-9843-D67983DB1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0FAD798-523F-21F0-4FD8-DFE321353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DA324-1535-4BAB-85B7-857159BF5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854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63B2341-1FE2-78BD-9900-18415A70A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1F9E7-341D-46EE-89F1-C1CB51B6E5EA}" type="datetimeFigureOut">
              <a:rPr lang="zh-CN" altLang="en-US" smtClean="0"/>
              <a:t>2026-07-09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F67C06A-0E67-50D9-08EF-FF278C7EE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0352A8-10FC-5D33-E10F-6ACC0299B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DA324-1535-4BAB-85B7-857159BF5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3499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6D9250-839B-27E1-1888-8CD2192D0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C918D8-DED9-D5FA-71B3-BDB62EE53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3255B0D-1864-D116-C35B-2A85D4030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C2276E-8538-9A3C-4C94-743A55179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1F9E7-341D-46EE-89F1-C1CB51B6E5EA}" type="datetimeFigureOut">
              <a:rPr lang="zh-CN" altLang="en-US" smtClean="0"/>
              <a:t>2026-07-09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74BB83-33E5-E96C-8683-0CCCB56FC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9727E5-5368-F816-3763-AF0A9013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DA324-1535-4BAB-85B7-857159BF5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108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065E90-74C8-096A-9A7D-8B2F3FADB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7225556-61AD-F503-7804-817D85B67D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8FA1F3-7B36-27C2-04FF-083552B2A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21B960-829B-F856-399E-261C71636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1F9E7-341D-46EE-89F1-C1CB51B6E5EA}" type="datetimeFigureOut">
              <a:rPr lang="zh-CN" altLang="en-US" smtClean="0"/>
              <a:t>2026-07-09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882D0E-5FA7-7491-A719-D0DFFBCF2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5D56FD-939B-7D20-B47E-18F3678B4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DA324-1535-4BAB-85B7-857159BF5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755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25711F-9D1A-2845-B4EC-1723AA3E5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4313D5-0CB0-2D08-B6FB-0902BF10E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B5D532-FB0F-D0C2-5212-CA4B89369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1F9E7-341D-46EE-89F1-C1CB51B6E5EA}" type="datetimeFigureOut">
              <a:rPr lang="zh-CN" altLang="en-US" smtClean="0"/>
              <a:t>2026-07-09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BF6B2A-1817-A13F-2480-BB3480D74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D6309E-329C-84AB-6906-13CA62B22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DA324-1535-4BAB-85B7-857159BF5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561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06EE350-FD4F-A743-DA60-6E59B76E4A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0EFBDE-34E2-21D8-769B-64577ED3C7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7977A0-2DE6-4686-789A-A70FA5C7A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1F9E7-341D-46EE-89F1-C1CB51B6E5EA}" type="datetimeFigureOut">
              <a:rPr lang="zh-CN" altLang="en-US" smtClean="0"/>
              <a:t>2026-07-09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08653A-B31A-35D0-C079-92C383B96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0701CC-6D80-D42F-72D8-6C6129152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DA324-1535-4BAB-85B7-857159BF5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9275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0EB27BA-FAA4-AF4B-2AD0-23BC24978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1A83C8-0725-7D8F-A4F9-7FD26B284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0E92C4-637A-E51F-A4B3-2955B378BD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1F9E7-341D-46EE-89F1-C1CB51B6E5EA}" type="datetimeFigureOut">
              <a:rPr lang="zh-CN" altLang="en-US" smtClean="0"/>
              <a:t>2026-07-09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3E371E-EBC4-70D8-A867-1073214836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3A7C04-1252-8C12-225D-1EBAD6C1EB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DA324-1535-4BAB-85B7-857159BF5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24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D87B5DD-C55D-416E-54D9-6E87D2E7B567}"/>
              </a:ext>
            </a:extLst>
          </p:cNvPr>
          <p:cNvSpPr txBox="1"/>
          <p:nvPr/>
        </p:nvSpPr>
        <p:spPr>
          <a:xfrm>
            <a:off x="965200" y="1397000"/>
            <a:ext cx="12700000" cy="71814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4000" b="1">
                <a:solidFill>
                  <a:srgbClr val="000000"/>
                </a:solidFill>
                <a:latin typeface="Microsoft YaHei" panose="020B0503020204020204" pitchFamily="34" charset="-122"/>
              </a:rPr>
              <a:t>NeRF · 3DGS · 3D Photography</a:t>
            </a:r>
            <a:endParaRPr lang="zh-CN" altLang="en-US" sz="4000" b="1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280ECB3-8903-9593-5D40-C197BDC708D0}"/>
              </a:ext>
            </a:extLst>
          </p:cNvPr>
          <p:cNvSpPr txBox="1"/>
          <p:nvPr/>
        </p:nvSpPr>
        <p:spPr>
          <a:xfrm>
            <a:off x="990600" y="2476500"/>
            <a:ext cx="11430000" cy="4565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2300">
                <a:solidFill>
                  <a:srgbClr val="000000"/>
                </a:solidFill>
                <a:latin typeface="Microsoft YaHei" panose="020B0503020204020204" pitchFamily="34" charset="-122"/>
              </a:rPr>
              <a:t>论文学习总结：从新视角合成基础到单图 </a:t>
            </a:r>
            <a:r>
              <a:rPr lang="en-US" altLang="zh-CN" sz="2300">
                <a:solidFill>
                  <a:srgbClr val="000000"/>
                </a:solidFill>
                <a:latin typeface="Microsoft YaHei" panose="020B0503020204020204" pitchFamily="34" charset="-122"/>
              </a:rPr>
              <a:t>3D photo</a:t>
            </a:r>
            <a:endParaRPr lang="zh-CN" altLang="en-US" sz="230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1449618-E31F-9ED3-D6B3-E604F8980AA6}"/>
              </a:ext>
            </a:extLst>
          </p:cNvPr>
          <p:cNvSpPr txBox="1"/>
          <p:nvPr/>
        </p:nvSpPr>
        <p:spPr>
          <a:xfrm>
            <a:off x="1016000" y="3365500"/>
            <a:ext cx="12446000" cy="42575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2100">
                <a:solidFill>
                  <a:srgbClr val="808080"/>
                </a:solidFill>
                <a:latin typeface="Microsoft YaHei" panose="020B0503020204020204" pitchFamily="34" charset="-122"/>
              </a:rPr>
              <a:t>重点：我学到了哪些场景表示、渲染加速和分层表达思想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203D183-A907-B9F6-5932-EE02F76536A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4889500"/>
            <a:ext cx="4572000" cy="13335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746BDCF-EA82-C957-C04C-A1DB2288AC0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4572000"/>
            <a:ext cx="4572000" cy="10922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E549092-58E4-ACC9-8C8A-E24D85C3716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0" y="4445000"/>
            <a:ext cx="3810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494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2EFF448-48BC-ED40-3A14-8FA201769893}"/>
              </a:ext>
            </a:extLst>
          </p:cNvPr>
          <p:cNvSpPr txBox="1"/>
          <p:nvPr/>
        </p:nvSpPr>
        <p:spPr>
          <a:xfrm>
            <a:off x="406400" y="355600"/>
            <a:ext cx="2413000" cy="47192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2400" b="1">
                <a:solidFill>
                  <a:srgbClr val="C00000"/>
                </a:solidFill>
                <a:latin typeface="Microsoft YaHei" panose="020B0503020204020204" pitchFamily="34" charset="-122"/>
              </a:rPr>
              <a:t>概述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BF1998E-EF79-019C-AAAB-F935D9F90620}"/>
              </a:ext>
            </a:extLst>
          </p:cNvPr>
          <p:cNvSpPr/>
          <p:nvPr/>
        </p:nvSpPr>
        <p:spPr>
          <a:xfrm>
            <a:off x="406400" y="965200"/>
            <a:ext cx="1168400" cy="50800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B0A10A8-34DD-ACC2-310A-CC865DDCC8B8}"/>
              </a:ext>
            </a:extLst>
          </p:cNvPr>
          <p:cNvSpPr txBox="1"/>
          <p:nvPr/>
        </p:nvSpPr>
        <p:spPr>
          <a:xfrm>
            <a:off x="3111500" y="355600"/>
            <a:ext cx="12192000" cy="52835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三篇论文形成从基础到单图浅 </a:t>
            </a:r>
            <a:r>
              <a:rPr lang="en-US" altLang="zh-CN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3D </a:t>
            </a:r>
            <a:r>
              <a:rPr lang="zh-CN" altLang="en-US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的阅读链路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F569CB5-3314-5585-F53D-D5F4C75BD7E6}"/>
              </a:ext>
            </a:extLst>
          </p:cNvPr>
          <p:cNvSpPr txBox="1"/>
          <p:nvPr/>
        </p:nvSpPr>
        <p:spPr>
          <a:xfrm>
            <a:off x="1016000" y="1841500"/>
            <a:ext cx="9398000" cy="127727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CN" sz="2100">
                <a:solidFill>
                  <a:srgbClr val="000000"/>
                </a:solidFill>
                <a:latin typeface="Microsoft YaHei" panose="020B0503020204020204" pitchFamily="34" charset="-122"/>
              </a:rPr>
              <a:t>• NeRF</a:t>
            </a:r>
            <a:r>
              <a:rPr lang="zh-CN" altLang="en-US" sz="2100">
                <a:solidFill>
                  <a:srgbClr val="000000"/>
                </a:solidFill>
                <a:latin typeface="Microsoft YaHei" panose="020B0503020204020204" pitchFamily="34" charset="-122"/>
              </a:rPr>
              <a:t>：用神经网络连续表示 </a:t>
            </a:r>
            <a:r>
              <a:rPr lang="en-US" altLang="zh-CN" sz="2100">
                <a:solidFill>
                  <a:srgbClr val="000000"/>
                </a:solidFill>
                <a:latin typeface="Microsoft YaHei" panose="020B0503020204020204" pitchFamily="34" charset="-122"/>
              </a:rPr>
              <a:t>3D </a:t>
            </a:r>
            <a:r>
              <a:rPr lang="zh-CN" altLang="en-US" sz="2100">
                <a:solidFill>
                  <a:srgbClr val="000000"/>
                </a:solidFill>
                <a:latin typeface="Microsoft YaHei" panose="020B0503020204020204" pitchFamily="34" charset="-122"/>
              </a:rPr>
              <a:t>场景，再用体积渲染生成新视角。</a:t>
            </a:r>
          </a:p>
          <a:p>
            <a:pPr>
              <a:spcAft>
                <a:spcPts val="800"/>
              </a:spcAft>
            </a:pPr>
            <a:r>
              <a:rPr lang="en-US" altLang="zh-CN" sz="2100">
                <a:solidFill>
                  <a:srgbClr val="000000"/>
                </a:solidFill>
                <a:latin typeface="Microsoft YaHei" panose="020B0503020204020204" pitchFamily="34" charset="-122"/>
              </a:rPr>
              <a:t>• 3DGS</a:t>
            </a:r>
            <a:r>
              <a:rPr lang="zh-CN" altLang="en-US" sz="2100">
                <a:solidFill>
                  <a:srgbClr val="000000"/>
                </a:solidFill>
                <a:latin typeface="Microsoft YaHei" panose="020B0503020204020204" pitchFamily="34" charset="-122"/>
              </a:rPr>
              <a:t>：用显式 </a:t>
            </a:r>
            <a:r>
              <a:rPr lang="en-US" altLang="zh-CN" sz="2100">
                <a:solidFill>
                  <a:srgbClr val="000000"/>
                </a:solidFill>
                <a:latin typeface="Microsoft YaHei" panose="020B0503020204020204" pitchFamily="34" charset="-122"/>
              </a:rPr>
              <a:t>3D </a:t>
            </a:r>
            <a:r>
              <a:rPr lang="zh-CN" altLang="en-US" sz="2100">
                <a:solidFill>
                  <a:srgbClr val="000000"/>
                </a:solidFill>
                <a:latin typeface="Microsoft YaHei" panose="020B0503020204020204" pitchFamily="34" charset="-122"/>
              </a:rPr>
              <a:t>高斯表示场景，把高质量渲染推进到实时。</a:t>
            </a:r>
          </a:p>
          <a:p>
            <a:pPr>
              <a:spcAft>
                <a:spcPts val="800"/>
              </a:spcAft>
            </a:pPr>
            <a:r>
              <a:rPr lang="en-US" altLang="zh-CN" sz="2100">
                <a:solidFill>
                  <a:srgbClr val="000000"/>
                </a:solidFill>
                <a:latin typeface="Microsoft YaHei" panose="020B0503020204020204" pitchFamily="34" charset="-122"/>
              </a:rPr>
              <a:t>• 3D Photography</a:t>
            </a:r>
            <a:r>
              <a:rPr lang="zh-CN" altLang="en-US" sz="2100">
                <a:solidFill>
                  <a:srgbClr val="000000"/>
                </a:solidFill>
                <a:latin typeface="Microsoft YaHei" panose="020B0503020204020204" pitchFamily="34" charset="-122"/>
              </a:rPr>
              <a:t>：从单张 </a:t>
            </a:r>
            <a:r>
              <a:rPr lang="en-US" altLang="zh-CN" sz="2100">
                <a:solidFill>
                  <a:srgbClr val="000000"/>
                </a:solidFill>
                <a:latin typeface="Microsoft YaHei" panose="020B0503020204020204" pitchFamily="34" charset="-122"/>
              </a:rPr>
              <a:t>RGB-D </a:t>
            </a:r>
            <a:r>
              <a:rPr lang="zh-CN" altLang="en-US" sz="2100">
                <a:solidFill>
                  <a:srgbClr val="000000"/>
                </a:solidFill>
                <a:latin typeface="Microsoft YaHei" panose="020B0503020204020204" pitchFamily="34" charset="-122"/>
              </a:rPr>
              <a:t>图像生成可小幅晃动的 </a:t>
            </a:r>
            <a:r>
              <a:rPr lang="en-US" altLang="zh-CN" sz="2100">
                <a:solidFill>
                  <a:srgbClr val="000000"/>
                </a:solidFill>
                <a:latin typeface="Microsoft YaHei" panose="020B0503020204020204" pitchFamily="34" charset="-122"/>
              </a:rPr>
              <a:t>3D photo</a:t>
            </a:r>
            <a:r>
              <a:rPr lang="zh-CN" altLang="en-US" sz="2100">
                <a:solidFill>
                  <a:srgbClr val="00000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98F6A14-5294-9109-1303-05ADE73261D2}"/>
              </a:ext>
            </a:extLst>
          </p:cNvPr>
          <p:cNvSpPr/>
          <p:nvPr/>
        </p:nvSpPr>
        <p:spPr>
          <a:xfrm>
            <a:off x="11112500" y="1841500"/>
            <a:ext cx="3810000" cy="13335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DC01E67-7727-D8A0-74E5-7DEE86BA741A}"/>
              </a:ext>
            </a:extLst>
          </p:cNvPr>
          <p:cNvSpPr txBox="1"/>
          <p:nvPr/>
        </p:nvSpPr>
        <p:spPr>
          <a:xfrm>
            <a:off x="11264900" y="1968500"/>
            <a:ext cx="35052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Microsoft YaHei" panose="020B0503020204020204" pitchFamily="34" charset="-122"/>
              </a:rPr>
              <a:t>阅读方式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F5BD3B9-C375-EDB8-0C83-9714E6E6C488}"/>
              </a:ext>
            </a:extLst>
          </p:cNvPr>
          <p:cNvSpPr txBox="1"/>
          <p:nvPr/>
        </p:nvSpPr>
        <p:spPr>
          <a:xfrm>
            <a:off x="11264900" y="2400300"/>
            <a:ext cx="3505200" cy="33342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500">
                <a:solidFill>
                  <a:srgbClr val="000000"/>
                </a:solidFill>
                <a:latin typeface="Microsoft YaHei" panose="020B0503020204020204" pitchFamily="34" charset="-122"/>
              </a:rPr>
              <a:t>逐段翻译 → 大意梳理 → 概念拆解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C5902A-846E-1555-F643-4E545A7F031D}"/>
              </a:ext>
            </a:extLst>
          </p:cNvPr>
          <p:cNvSpPr/>
          <p:nvPr/>
        </p:nvSpPr>
        <p:spPr>
          <a:xfrm>
            <a:off x="11112500" y="3873500"/>
            <a:ext cx="3810000" cy="15875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BC34A93-3C2D-5F2C-C8A4-2F7DE8104D0E}"/>
              </a:ext>
            </a:extLst>
          </p:cNvPr>
          <p:cNvSpPr txBox="1"/>
          <p:nvPr/>
        </p:nvSpPr>
        <p:spPr>
          <a:xfrm>
            <a:off x="11264900" y="4000500"/>
            <a:ext cx="35052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Microsoft YaHei" panose="020B0503020204020204" pitchFamily="34" charset="-122"/>
              </a:rPr>
              <a:t>本次新增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E44E2AA-4575-46A4-6964-84DC17B0276E}"/>
              </a:ext>
            </a:extLst>
          </p:cNvPr>
          <p:cNvSpPr txBox="1"/>
          <p:nvPr/>
        </p:nvSpPr>
        <p:spPr>
          <a:xfrm>
            <a:off x="11264900" y="4432300"/>
            <a:ext cx="3505200" cy="564257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Microsoft YaHei" panose="020B0503020204020204" pitchFamily="34" charset="-122"/>
              </a:rPr>
              <a:t>3D Photography </a:t>
            </a:r>
            <a:r>
              <a:rPr lang="zh-CN" altLang="en-US" sz="1500">
                <a:solidFill>
                  <a:srgbClr val="000000"/>
                </a:solidFill>
                <a:latin typeface="Microsoft YaHei" panose="020B0503020204020204" pitchFamily="34" charset="-122"/>
              </a:rPr>
              <a:t>开始直接对应单图浅 </a:t>
            </a:r>
            <a:r>
              <a:rPr lang="en-US" altLang="zh-CN" sz="1500">
                <a:solidFill>
                  <a:srgbClr val="000000"/>
                </a:solidFill>
                <a:latin typeface="Microsoft YaHei" panose="020B0503020204020204" pitchFamily="34" charset="-122"/>
              </a:rPr>
              <a:t>3D </a:t>
            </a:r>
            <a:r>
              <a:rPr lang="zh-CN" altLang="en-US" sz="1500">
                <a:solidFill>
                  <a:srgbClr val="000000"/>
                </a:solidFill>
                <a:latin typeface="Microsoft YaHei" panose="020B0503020204020204" pitchFamily="34" charset="-122"/>
              </a:rPr>
              <a:t>表达。</a:t>
            </a:r>
          </a:p>
        </p:txBody>
      </p:sp>
    </p:spTree>
    <p:extLst>
      <p:ext uri="{BB962C8B-B14F-4D97-AF65-F5344CB8AC3E}">
        <p14:creationId xmlns:p14="http://schemas.microsoft.com/office/powerpoint/2010/main" val="102882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37147B3-F778-7B35-B2FE-3521F1D114D3}"/>
              </a:ext>
            </a:extLst>
          </p:cNvPr>
          <p:cNvSpPr txBox="1"/>
          <p:nvPr/>
        </p:nvSpPr>
        <p:spPr>
          <a:xfrm>
            <a:off x="406400" y="355600"/>
            <a:ext cx="2413000" cy="47192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2400" b="1">
                <a:solidFill>
                  <a:srgbClr val="C00000"/>
                </a:solidFill>
                <a:latin typeface="Microsoft YaHei" panose="020B0503020204020204" pitchFamily="34" charset="-122"/>
              </a:rPr>
              <a:t>NeRF</a:t>
            </a:r>
            <a:endParaRPr lang="zh-CN" altLang="en-US" sz="2400" b="1">
              <a:solidFill>
                <a:srgbClr val="C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1DA112-88D2-8915-ED35-EB6D35188B34}"/>
              </a:ext>
            </a:extLst>
          </p:cNvPr>
          <p:cNvSpPr/>
          <p:nvPr/>
        </p:nvSpPr>
        <p:spPr>
          <a:xfrm>
            <a:off x="406400" y="965200"/>
            <a:ext cx="1168400" cy="50800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DBC081E-8C2B-AB2A-310C-ECADAA8FE5DD}"/>
              </a:ext>
            </a:extLst>
          </p:cNvPr>
          <p:cNvSpPr txBox="1"/>
          <p:nvPr/>
        </p:nvSpPr>
        <p:spPr>
          <a:xfrm>
            <a:off x="3111500" y="355600"/>
            <a:ext cx="12192000" cy="52835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NeRF </a:t>
            </a:r>
            <a:r>
              <a:rPr lang="zh-CN" altLang="en-US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用 </a:t>
            </a:r>
            <a:r>
              <a:rPr lang="en-US" altLang="zh-CN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MLP </a:t>
            </a:r>
            <a:r>
              <a:rPr lang="zh-CN" altLang="en-US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把整个场景编码进网络权重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ECD9202-273B-49A2-4F57-F5D06C1CAD01}"/>
              </a:ext>
            </a:extLst>
          </p:cNvPr>
          <p:cNvSpPr txBox="1"/>
          <p:nvPr/>
        </p:nvSpPr>
        <p:spPr>
          <a:xfrm>
            <a:off x="889000" y="1651000"/>
            <a:ext cx="7874000" cy="127727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CN" sz="2100" dirty="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100" dirty="0">
                <a:solidFill>
                  <a:srgbClr val="000000"/>
                </a:solidFill>
                <a:latin typeface="Microsoft YaHei" panose="020B0503020204020204" pitchFamily="34" charset="-122"/>
              </a:rPr>
              <a:t>输入：</a:t>
            </a:r>
            <a:r>
              <a:rPr lang="en-US" altLang="zh-CN" sz="2100" dirty="0">
                <a:solidFill>
                  <a:srgbClr val="000000"/>
                </a:solidFill>
                <a:latin typeface="Microsoft YaHei" panose="020B0503020204020204" pitchFamily="34" charset="-122"/>
              </a:rPr>
              <a:t>3D </a:t>
            </a:r>
            <a:r>
              <a:rPr lang="zh-CN" altLang="en-US" sz="2100" dirty="0">
                <a:solidFill>
                  <a:srgbClr val="000000"/>
                </a:solidFill>
                <a:latin typeface="Microsoft YaHei" panose="020B0503020204020204" pitchFamily="34" charset="-122"/>
              </a:rPr>
              <a:t>空间位置 </a:t>
            </a:r>
            <a:r>
              <a:rPr lang="en-US" altLang="zh-CN" sz="2100" dirty="0">
                <a:solidFill>
                  <a:srgbClr val="000000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2100" dirty="0">
                <a:solidFill>
                  <a:srgbClr val="000000"/>
                </a:solidFill>
                <a:latin typeface="Microsoft YaHei" panose="020B0503020204020204" pitchFamily="34" charset="-122"/>
              </a:rPr>
              <a:t>观察方向。</a:t>
            </a:r>
          </a:p>
          <a:p>
            <a:pPr>
              <a:spcAft>
                <a:spcPts val="800"/>
              </a:spcAft>
            </a:pPr>
            <a:r>
              <a:rPr lang="en-US" altLang="zh-CN" sz="2100" dirty="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100" dirty="0">
                <a:solidFill>
                  <a:srgbClr val="000000"/>
                </a:solidFill>
                <a:latin typeface="Microsoft YaHei" panose="020B0503020204020204" pitchFamily="34" charset="-122"/>
              </a:rPr>
              <a:t>输出：颜色 </a:t>
            </a:r>
            <a:r>
              <a:rPr lang="en-US" altLang="zh-CN" sz="2100" dirty="0">
                <a:solidFill>
                  <a:srgbClr val="000000"/>
                </a:solidFill>
                <a:latin typeface="Microsoft YaHei" panose="020B0503020204020204" pitchFamily="34" charset="-122"/>
              </a:rPr>
              <a:t>RGB + </a:t>
            </a:r>
            <a:r>
              <a:rPr lang="zh-CN" altLang="en-US" sz="2100" dirty="0">
                <a:solidFill>
                  <a:srgbClr val="000000"/>
                </a:solidFill>
                <a:latin typeface="Microsoft YaHei" panose="020B0503020204020204" pitchFamily="34" charset="-122"/>
              </a:rPr>
              <a:t>体积密度 </a:t>
            </a:r>
            <a:r>
              <a:rPr lang="en-US" altLang="zh-CN" sz="2100" dirty="0">
                <a:solidFill>
                  <a:srgbClr val="000000"/>
                </a:solidFill>
                <a:latin typeface="Microsoft YaHei" panose="020B0503020204020204" pitchFamily="34" charset="-122"/>
              </a:rPr>
              <a:t>sigma</a:t>
            </a:r>
            <a:r>
              <a:rPr lang="zh-CN" altLang="en-US" sz="2100" dirty="0">
                <a:solidFill>
                  <a:srgbClr val="000000"/>
                </a:solidFill>
                <a:latin typeface="Microsoft YaHei" panose="020B0503020204020204" pitchFamily="34" charset="-122"/>
              </a:rPr>
              <a:t>。</a:t>
            </a:r>
          </a:p>
          <a:p>
            <a:pPr>
              <a:spcAft>
                <a:spcPts val="800"/>
              </a:spcAft>
            </a:pPr>
            <a:r>
              <a:rPr lang="en-US" altLang="zh-CN" sz="2100" dirty="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100" dirty="0">
                <a:solidFill>
                  <a:srgbClr val="000000"/>
                </a:solidFill>
                <a:latin typeface="Microsoft YaHei" panose="020B0503020204020204" pitchFamily="34" charset="-122"/>
              </a:rPr>
              <a:t>直觉：给网络一个空间点，它回答这里是什么颜色、这里有多实。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1F97364-10BC-8FE4-4265-E912F1D1B25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1524000"/>
            <a:ext cx="4572000" cy="22225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A6FC25C-7B46-F201-EC94-D127DDD4A97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0" y="4572000"/>
            <a:ext cx="5969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300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005C5B6-483E-40A6-8213-731168910705}"/>
              </a:ext>
            </a:extLst>
          </p:cNvPr>
          <p:cNvSpPr txBox="1"/>
          <p:nvPr/>
        </p:nvSpPr>
        <p:spPr>
          <a:xfrm>
            <a:off x="406400" y="355600"/>
            <a:ext cx="2413000" cy="47192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2400" b="1">
                <a:solidFill>
                  <a:srgbClr val="C00000"/>
                </a:solidFill>
                <a:latin typeface="Microsoft YaHei" panose="020B0503020204020204" pitchFamily="34" charset="-122"/>
              </a:rPr>
              <a:t>NeRF</a:t>
            </a:r>
            <a:endParaRPr lang="zh-CN" altLang="en-US" sz="2400" b="1">
              <a:solidFill>
                <a:srgbClr val="C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5FEE51E-6DCA-0F44-05F0-009FC2C56638}"/>
              </a:ext>
            </a:extLst>
          </p:cNvPr>
          <p:cNvSpPr/>
          <p:nvPr/>
        </p:nvSpPr>
        <p:spPr>
          <a:xfrm>
            <a:off x="406400" y="965200"/>
            <a:ext cx="1168400" cy="50800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7FD2061-1978-6127-E412-EF23F915418D}"/>
              </a:ext>
            </a:extLst>
          </p:cNvPr>
          <p:cNvSpPr txBox="1"/>
          <p:nvPr/>
        </p:nvSpPr>
        <p:spPr>
          <a:xfrm>
            <a:off x="3111500" y="355600"/>
            <a:ext cx="12192000" cy="52835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位置编码让 </a:t>
            </a:r>
            <a:r>
              <a:rPr lang="en-US" altLang="zh-CN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MLP </a:t>
            </a:r>
            <a:r>
              <a:rPr lang="zh-CN" altLang="en-US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能学到更清晰的高频细节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B2FDEF2-1E36-5E50-8DE5-09DB3F4FD4F5}"/>
              </a:ext>
            </a:extLst>
          </p:cNvPr>
          <p:cNvSpPr/>
          <p:nvPr/>
        </p:nvSpPr>
        <p:spPr>
          <a:xfrm>
            <a:off x="889000" y="1841500"/>
            <a:ext cx="6096000" cy="19050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FCF3C30-66A3-D86F-3E37-0C7CAC6290D6}"/>
              </a:ext>
            </a:extLst>
          </p:cNvPr>
          <p:cNvSpPr txBox="1"/>
          <p:nvPr/>
        </p:nvSpPr>
        <p:spPr>
          <a:xfrm>
            <a:off x="1041400" y="1968500"/>
            <a:ext cx="57912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b="1">
                <a:solidFill>
                  <a:srgbClr val="C00000"/>
                </a:solidFill>
                <a:latin typeface="Microsoft YaHei" panose="020B0503020204020204" pitchFamily="34" charset="-122"/>
              </a:rPr>
              <a:t>MLP </a:t>
            </a:r>
            <a:r>
              <a:rPr lang="zh-CN" altLang="en-US" b="1">
                <a:solidFill>
                  <a:srgbClr val="C00000"/>
                </a:solidFill>
                <a:latin typeface="Microsoft YaHei" panose="020B0503020204020204" pitchFamily="34" charset="-122"/>
              </a:rPr>
              <a:t>替代体素网格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917CD54-734B-AFA2-A823-51A3B68112DA}"/>
              </a:ext>
            </a:extLst>
          </p:cNvPr>
          <p:cNvSpPr txBox="1"/>
          <p:nvPr/>
        </p:nvSpPr>
        <p:spPr>
          <a:xfrm>
            <a:off x="1041400" y="2400300"/>
            <a:ext cx="5791200" cy="564257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500">
                <a:solidFill>
                  <a:srgbClr val="000000"/>
                </a:solidFill>
                <a:latin typeface="Microsoft YaHei" panose="020B0503020204020204" pitchFamily="34" charset="-122"/>
              </a:rPr>
              <a:t>体素网格分辨率翻倍，存储约扩大 </a:t>
            </a:r>
            <a:r>
              <a:rPr lang="en-US" altLang="zh-CN" sz="1500">
                <a:solidFill>
                  <a:srgbClr val="000000"/>
                </a:solidFill>
                <a:latin typeface="Microsoft YaHei" panose="020B0503020204020204" pitchFamily="34" charset="-122"/>
              </a:rPr>
              <a:t>8 </a:t>
            </a:r>
            <a:r>
              <a:rPr lang="zh-CN" altLang="en-US" sz="1500">
                <a:solidFill>
                  <a:srgbClr val="000000"/>
                </a:solidFill>
                <a:latin typeface="Microsoft YaHei" panose="020B0503020204020204" pitchFamily="34" charset="-122"/>
              </a:rPr>
              <a:t>倍；</a:t>
            </a:r>
            <a:r>
              <a:rPr lang="en-US" altLang="zh-CN" sz="1500">
                <a:solidFill>
                  <a:srgbClr val="000000"/>
                </a:solidFill>
                <a:latin typeface="Microsoft YaHei" panose="020B0503020204020204" pitchFamily="34" charset="-122"/>
              </a:rPr>
              <a:t>NeRF </a:t>
            </a:r>
            <a:r>
              <a:rPr lang="zh-CN" altLang="en-US" sz="1500">
                <a:solidFill>
                  <a:srgbClr val="000000"/>
                </a:solidFill>
                <a:latin typeface="Microsoft YaHei" panose="020B0503020204020204" pitchFamily="34" charset="-122"/>
              </a:rPr>
              <a:t>用网络权重存场景，更紧凑。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794439-CB62-584E-D425-35FA9F02CB80}"/>
              </a:ext>
            </a:extLst>
          </p:cNvPr>
          <p:cNvSpPr/>
          <p:nvPr/>
        </p:nvSpPr>
        <p:spPr>
          <a:xfrm>
            <a:off x="889000" y="4254500"/>
            <a:ext cx="6096000" cy="19685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F7B90ED-BAF5-8526-8283-A76690D0E6CC}"/>
              </a:ext>
            </a:extLst>
          </p:cNvPr>
          <p:cNvSpPr txBox="1"/>
          <p:nvPr/>
        </p:nvSpPr>
        <p:spPr>
          <a:xfrm>
            <a:off x="1041400" y="4381500"/>
            <a:ext cx="57912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Microsoft YaHei" panose="020B0503020204020204" pitchFamily="34" charset="-122"/>
              </a:rPr>
              <a:t>位置编码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0A855A6-452F-A3C8-495C-2A0ADA9E8D40}"/>
              </a:ext>
            </a:extLst>
          </p:cNvPr>
          <p:cNvSpPr txBox="1"/>
          <p:nvPr/>
        </p:nvSpPr>
        <p:spPr>
          <a:xfrm>
            <a:off x="1041400" y="4813300"/>
            <a:ext cx="5791200" cy="564257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500">
                <a:solidFill>
                  <a:srgbClr val="000000"/>
                </a:solidFill>
                <a:latin typeface="Microsoft YaHei" panose="020B0503020204020204" pitchFamily="34" charset="-122"/>
              </a:rPr>
              <a:t>把 </a:t>
            </a:r>
            <a:r>
              <a:rPr lang="en-US" altLang="zh-CN" sz="1500">
                <a:solidFill>
                  <a:srgbClr val="000000"/>
                </a:solidFill>
                <a:latin typeface="Microsoft YaHei" panose="020B0503020204020204" pitchFamily="34" charset="-122"/>
              </a:rPr>
              <a:t>xyz </a:t>
            </a:r>
            <a:r>
              <a:rPr lang="zh-CN" altLang="en-US" sz="1500">
                <a:solidFill>
                  <a:srgbClr val="000000"/>
                </a:solidFill>
                <a:latin typeface="Microsoft YaHei" panose="020B0503020204020204" pitchFamily="34" charset="-122"/>
              </a:rPr>
              <a:t>坐标展开成 </a:t>
            </a:r>
            <a:r>
              <a:rPr lang="en-US" altLang="zh-CN" sz="1500">
                <a:solidFill>
                  <a:srgbClr val="000000"/>
                </a:solidFill>
                <a:latin typeface="Microsoft YaHei" panose="020B0503020204020204" pitchFamily="34" charset="-122"/>
              </a:rPr>
              <a:t>sin/cos </a:t>
            </a:r>
            <a:r>
              <a:rPr lang="zh-CN" altLang="en-US" sz="1500">
                <a:solidFill>
                  <a:srgbClr val="000000"/>
                </a:solidFill>
                <a:latin typeface="Microsoft YaHei" panose="020B0503020204020204" pitchFamily="34" charset="-122"/>
              </a:rPr>
              <a:t>多频率基底，缓解直接输入坐标导致的模糊。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215CDC1-4E9F-B6A0-FAE9-B1EA961CE075}"/>
              </a:ext>
            </a:extLst>
          </p:cNvPr>
          <p:cNvSpPr txBox="1"/>
          <p:nvPr/>
        </p:nvSpPr>
        <p:spPr>
          <a:xfrm>
            <a:off x="8128000" y="2095500"/>
            <a:ext cx="6350000" cy="14362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</a:rPr>
              <a:t>不是让 </a:t>
            </a: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</a:rPr>
              <a:t>MLP 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</a:rPr>
              <a:t>自己发明高频细节，而是提前把多种频率的表达材料给它。</a:t>
            </a:r>
          </a:p>
          <a:p>
            <a:pPr>
              <a:spcAft>
                <a:spcPts val="800"/>
              </a:spcAft>
            </a:pP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</a:rPr>
              <a:t>这解释了为什么去掉位置编码后，</a:t>
            </a: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</a:rPr>
              <a:t>NeRF 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</a:rPr>
              <a:t>结果会明显变模糊。</a:t>
            </a:r>
          </a:p>
        </p:txBody>
      </p:sp>
    </p:spTree>
    <p:extLst>
      <p:ext uri="{BB962C8B-B14F-4D97-AF65-F5344CB8AC3E}">
        <p14:creationId xmlns:p14="http://schemas.microsoft.com/office/powerpoint/2010/main" val="1653828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940D500-7F2A-5E86-E7DF-F23D83F5DE19}"/>
              </a:ext>
            </a:extLst>
          </p:cNvPr>
          <p:cNvSpPr txBox="1"/>
          <p:nvPr/>
        </p:nvSpPr>
        <p:spPr>
          <a:xfrm>
            <a:off x="406400" y="355600"/>
            <a:ext cx="2413000" cy="47192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2400" b="1">
                <a:solidFill>
                  <a:srgbClr val="C00000"/>
                </a:solidFill>
                <a:latin typeface="Microsoft YaHei" panose="020B0503020204020204" pitchFamily="34" charset="-122"/>
              </a:rPr>
              <a:t>Method</a:t>
            </a:r>
            <a:endParaRPr lang="zh-CN" altLang="en-US" sz="2400" b="1">
              <a:solidFill>
                <a:srgbClr val="C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0A2CB55-5519-B66D-EDBC-554EF21CBAE2}"/>
              </a:ext>
            </a:extLst>
          </p:cNvPr>
          <p:cNvSpPr/>
          <p:nvPr/>
        </p:nvSpPr>
        <p:spPr>
          <a:xfrm>
            <a:off x="406400" y="965200"/>
            <a:ext cx="1168400" cy="50800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8C3D60-4891-081E-2D70-7CF25C4A388D}"/>
              </a:ext>
            </a:extLst>
          </p:cNvPr>
          <p:cNvSpPr txBox="1"/>
          <p:nvPr/>
        </p:nvSpPr>
        <p:spPr>
          <a:xfrm>
            <a:off x="3111500" y="355600"/>
            <a:ext cx="12192000" cy="52835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NeRF </a:t>
            </a:r>
            <a:r>
              <a:rPr lang="zh-CN" altLang="en-US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沿光线采样，再用体积渲染叠加成像素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6D323DC-E580-B73C-BD37-D7805884784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1714500"/>
            <a:ext cx="8255000" cy="2921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193BF8F-9425-31DF-A53C-D76BE11FC603}"/>
              </a:ext>
            </a:extLst>
          </p:cNvPr>
          <p:cNvSpPr/>
          <p:nvPr/>
        </p:nvSpPr>
        <p:spPr>
          <a:xfrm>
            <a:off x="9779000" y="1587500"/>
            <a:ext cx="4572000" cy="15875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6BD17D6-935E-60D5-6243-2E45032420D3}"/>
              </a:ext>
            </a:extLst>
          </p:cNvPr>
          <p:cNvSpPr txBox="1"/>
          <p:nvPr/>
        </p:nvSpPr>
        <p:spPr>
          <a:xfrm>
            <a:off x="9931400" y="1714500"/>
            <a:ext cx="42672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Microsoft YaHei" panose="020B0503020204020204" pitchFamily="34" charset="-122"/>
              </a:rPr>
              <a:t>体积渲染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33A711A-B587-D43E-638B-8E065BED1536}"/>
              </a:ext>
            </a:extLst>
          </p:cNvPr>
          <p:cNvSpPr txBox="1"/>
          <p:nvPr/>
        </p:nvSpPr>
        <p:spPr>
          <a:xfrm>
            <a:off x="9931400" y="2146300"/>
            <a:ext cx="4267200" cy="564257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500">
                <a:solidFill>
                  <a:srgbClr val="000000"/>
                </a:solidFill>
                <a:latin typeface="Microsoft YaHei" panose="020B0503020204020204" pitchFamily="34" charset="-122"/>
              </a:rPr>
              <a:t>像穿过多层半透明玻璃：每层贡献颜色，越后面的层被前面削弱。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BC7E7C6-1394-8F36-E8C2-A4C2C589857B}"/>
              </a:ext>
            </a:extLst>
          </p:cNvPr>
          <p:cNvSpPr/>
          <p:nvPr/>
        </p:nvSpPr>
        <p:spPr>
          <a:xfrm>
            <a:off x="9779000" y="3746500"/>
            <a:ext cx="4572000" cy="15875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6C1BB1F-9693-745A-EA48-D6BF4364F20E}"/>
              </a:ext>
            </a:extLst>
          </p:cNvPr>
          <p:cNvSpPr txBox="1"/>
          <p:nvPr/>
        </p:nvSpPr>
        <p:spPr>
          <a:xfrm>
            <a:off x="9931400" y="3873500"/>
            <a:ext cx="42672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Microsoft YaHei" panose="020B0503020204020204" pitchFamily="34" charset="-122"/>
              </a:rPr>
              <a:t>分层采样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FA06F28-5A25-5297-8E2D-292A66EDBBB3}"/>
              </a:ext>
            </a:extLst>
          </p:cNvPr>
          <p:cNvSpPr txBox="1"/>
          <p:nvPr/>
        </p:nvSpPr>
        <p:spPr>
          <a:xfrm>
            <a:off x="9931400" y="4305300"/>
            <a:ext cx="4267200" cy="564257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500">
                <a:solidFill>
                  <a:srgbClr val="000000"/>
                </a:solidFill>
                <a:latin typeface="Microsoft YaHei" panose="020B0503020204020204" pitchFamily="34" charset="-122"/>
              </a:rPr>
              <a:t>粗网络先找物体大概位置，细网络把更多采样点放到重要区域。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77E22F8-1BA9-7C26-F776-2E271688FF18}"/>
              </a:ext>
            </a:extLst>
          </p:cNvPr>
          <p:cNvSpPr/>
          <p:nvPr/>
        </p:nvSpPr>
        <p:spPr>
          <a:xfrm>
            <a:off x="9779000" y="5905500"/>
            <a:ext cx="4572000" cy="12065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F0DF774-D80D-033D-EA23-FCCA0AD29916}"/>
              </a:ext>
            </a:extLst>
          </p:cNvPr>
          <p:cNvSpPr txBox="1"/>
          <p:nvPr/>
        </p:nvSpPr>
        <p:spPr>
          <a:xfrm>
            <a:off x="9931400" y="6032500"/>
            <a:ext cx="42672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Microsoft YaHei" panose="020B0503020204020204" pitchFamily="34" charset="-122"/>
              </a:rPr>
              <a:t>核心收益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B4DD00-0FF6-054A-0237-E3F1ED801A64}"/>
              </a:ext>
            </a:extLst>
          </p:cNvPr>
          <p:cNvSpPr txBox="1"/>
          <p:nvPr/>
        </p:nvSpPr>
        <p:spPr>
          <a:xfrm>
            <a:off x="9931400" y="6464300"/>
            <a:ext cx="4267200" cy="33342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500">
                <a:solidFill>
                  <a:srgbClr val="000000"/>
                </a:solidFill>
                <a:latin typeface="Microsoft YaHei" panose="020B0503020204020204" pitchFamily="34" charset="-122"/>
              </a:rPr>
              <a:t>减少在空白空间浪费计算，同时保持细节质量。</a:t>
            </a:r>
          </a:p>
        </p:txBody>
      </p:sp>
    </p:spTree>
    <p:extLst>
      <p:ext uri="{BB962C8B-B14F-4D97-AF65-F5344CB8AC3E}">
        <p14:creationId xmlns:p14="http://schemas.microsoft.com/office/powerpoint/2010/main" val="3300134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087DC9F-32F9-6C0B-771E-951250A69395}"/>
              </a:ext>
            </a:extLst>
          </p:cNvPr>
          <p:cNvSpPr txBox="1"/>
          <p:nvPr/>
        </p:nvSpPr>
        <p:spPr>
          <a:xfrm>
            <a:off x="406400" y="355600"/>
            <a:ext cx="2413000" cy="47192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2400" b="1">
                <a:solidFill>
                  <a:srgbClr val="C00000"/>
                </a:solidFill>
                <a:latin typeface="Microsoft YaHei" panose="020B0503020204020204" pitchFamily="34" charset="-122"/>
              </a:rPr>
              <a:t>局限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5F9547-FDB6-5231-A1CD-FFE31E3FAC84}"/>
              </a:ext>
            </a:extLst>
          </p:cNvPr>
          <p:cNvSpPr/>
          <p:nvPr/>
        </p:nvSpPr>
        <p:spPr>
          <a:xfrm>
            <a:off x="406400" y="965200"/>
            <a:ext cx="1168400" cy="50800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6BFE69E-50FC-4281-0790-6DBF81783CC7}"/>
              </a:ext>
            </a:extLst>
          </p:cNvPr>
          <p:cNvSpPr txBox="1"/>
          <p:nvPr/>
        </p:nvSpPr>
        <p:spPr>
          <a:xfrm>
            <a:off x="3111500" y="355600"/>
            <a:ext cx="12192000" cy="52835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NeRF </a:t>
            </a:r>
            <a:r>
              <a:rPr lang="zh-CN" altLang="en-US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质量高，但训练和渲染都很慢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4DA2107-47D5-662B-A402-C9C7D15F379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1714500"/>
            <a:ext cx="8255000" cy="2032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880313A-BEE3-FC4C-E2D4-C20EA221DB41}"/>
              </a:ext>
            </a:extLst>
          </p:cNvPr>
          <p:cNvSpPr txBox="1"/>
          <p:nvPr/>
        </p:nvSpPr>
        <p:spPr>
          <a:xfrm>
            <a:off x="9906000" y="1651000"/>
            <a:ext cx="4572000" cy="1872307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CN" sz="190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000000"/>
                </a:solidFill>
                <a:latin typeface="Microsoft YaHei" panose="020B0503020204020204" pitchFamily="34" charset="-122"/>
              </a:rPr>
              <a:t>需要几十张输入图和准确相机位姿。</a:t>
            </a:r>
          </a:p>
          <a:p>
            <a:pPr>
              <a:spcAft>
                <a:spcPts val="800"/>
              </a:spcAft>
            </a:pPr>
            <a:r>
              <a:rPr lang="en-US" altLang="zh-CN" sz="190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000000"/>
                </a:solidFill>
                <a:latin typeface="Microsoft YaHei" panose="020B0503020204020204" pitchFamily="34" charset="-122"/>
              </a:rPr>
              <a:t>每个场景都要单独训练，训练时间长。</a:t>
            </a:r>
          </a:p>
          <a:p>
            <a:pPr>
              <a:spcAft>
                <a:spcPts val="800"/>
              </a:spcAft>
            </a:pPr>
            <a:r>
              <a:rPr lang="en-US" altLang="zh-CN" sz="190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000000"/>
                </a:solidFill>
                <a:latin typeface="Microsoft YaHei" panose="020B0503020204020204" pitchFamily="34" charset="-122"/>
              </a:rPr>
              <a:t>渲染慢：每帧需要大量 </a:t>
            </a:r>
            <a:r>
              <a:rPr lang="en-US" altLang="zh-CN" sz="1900">
                <a:solidFill>
                  <a:srgbClr val="000000"/>
                </a:solidFill>
                <a:latin typeface="Microsoft YaHei" panose="020B0503020204020204" pitchFamily="34" charset="-122"/>
              </a:rPr>
              <a:t>MLP </a:t>
            </a:r>
            <a:r>
              <a:rPr lang="zh-CN" altLang="en-US" sz="1900">
                <a:solidFill>
                  <a:srgbClr val="000000"/>
                </a:solidFill>
                <a:latin typeface="Microsoft YaHei" panose="020B0503020204020204" pitchFamily="34" charset="-122"/>
              </a:rPr>
              <a:t>查询。</a:t>
            </a:r>
          </a:p>
          <a:p>
            <a:pPr>
              <a:spcAft>
                <a:spcPts val="800"/>
              </a:spcAft>
            </a:pPr>
            <a:r>
              <a:rPr lang="en-US" altLang="zh-CN" sz="190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000000"/>
                </a:solidFill>
                <a:latin typeface="Microsoft YaHei" panose="020B0503020204020204" pitchFamily="34" charset="-122"/>
              </a:rPr>
              <a:t>结论：</a:t>
            </a:r>
            <a:r>
              <a:rPr lang="en-US" altLang="zh-CN" sz="1900">
                <a:solidFill>
                  <a:srgbClr val="000000"/>
                </a:solidFill>
                <a:latin typeface="Microsoft YaHei" panose="020B0503020204020204" pitchFamily="34" charset="-122"/>
              </a:rPr>
              <a:t>NeRF </a:t>
            </a:r>
            <a:r>
              <a:rPr lang="zh-CN" altLang="en-US" sz="1900">
                <a:solidFill>
                  <a:srgbClr val="000000"/>
                </a:solidFill>
                <a:latin typeface="Microsoft YaHei" panose="020B0503020204020204" pitchFamily="34" charset="-122"/>
              </a:rPr>
              <a:t>是高质量新视角合成框架，但不是实时工程方案。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97106D4-484D-D092-008A-9B814068D90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4445000"/>
            <a:ext cx="5969000" cy="31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853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804D2FE-AF87-075C-5350-1CBA77B208D5}"/>
              </a:ext>
            </a:extLst>
          </p:cNvPr>
          <p:cNvSpPr txBox="1"/>
          <p:nvPr/>
        </p:nvSpPr>
        <p:spPr>
          <a:xfrm>
            <a:off x="406400" y="355600"/>
            <a:ext cx="2413000" cy="47192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2400" b="1">
                <a:solidFill>
                  <a:srgbClr val="C00000"/>
                </a:solidFill>
                <a:latin typeface="Microsoft YaHei" panose="020B0503020204020204" pitchFamily="34" charset="-122"/>
              </a:rPr>
              <a:t>3DGS</a:t>
            </a:r>
            <a:endParaRPr lang="zh-CN" altLang="en-US" sz="2400" b="1">
              <a:solidFill>
                <a:srgbClr val="C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30296E-D641-E733-AD3F-6D0FF4D1FD3E}"/>
              </a:ext>
            </a:extLst>
          </p:cNvPr>
          <p:cNvSpPr/>
          <p:nvPr/>
        </p:nvSpPr>
        <p:spPr>
          <a:xfrm>
            <a:off x="406400" y="965200"/>
            <a:ext cx="1168400" cy="50800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F7CE6E0-81AB-1458-E510-1061A86AD155}"/>
              </a:ext>
            </a:extLst>
          </p:cNvPr>
          <p:cNvSpPr txBox="1"/>
          <p:nvPr/>
        </p:nvSpPr>
        <p:spPr>
          <a:xfrm>
            <a:off x="3111500" y="355600"/>
            <a:ext cx="12192000" cy="52835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3DGS </a:t>
            </a:r>
            <a:r>
              <a:rPr lang="zh-CN" altLang="en-US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不用 </a:t>
            </a:r>
            <a:r>
              <a:rPr lang="en-US" altLang="zh-CN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MLP </a:t>
            </a:r>
            <a:r>
              <a:rPr lang="zh-CN" altLang="en-US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存场景，而是用显式 </a:t>
            </a:r>
            <a:r>
              <a:rPr lang="en-US" altLang="zh-CN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3D </a:t>
            </a:r>
            <a:r>
              <a:rPr lang="zh-CN" altLang="en-US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高斯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55016DD-0651-5103-EF69-1CB708C93337}"/>
              </a:ext>
            </a:extLst>
          </p:cNvPr>
          <p:cNvSpPr txBox="1"/>
          <p:nvPr/>
        </p:nvSpPr>
        <p:spPr>
          <a:xfrm>
            <a:off x="889000" y="1714500"/>
            <a:ext cx="7747000" cy="153888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</a:rPr>
              <a:t>每个高斯保存：位置、缩放、旋转、不透明度、球谐颜色系数。</a:t>
            </a:r>
          </a:p>
          <a:p>
            <a:pPr>
              <a:spcAft>
                <a:spcPts val="800"/>
              </a:spcAft>
            </a:pP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</a:rPr>
              <a:t>直觉：很多半透明小椭球组合起来，表示一个完整场景。</a:t>
            </a:r>
          </a:p>
          <a:p>
            <a:pPr>
              <a:spcAft>
                <a:spcPts val="800"/>
              </a:spcAft>
            </a:pP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</a:rPr>
              <a:t>显式表示的好处：渲染时可以直接投影到屏幕，不用反复查询网络。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3DE0DD6-6DAC-8603-C811-4C0A45EA519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500" y="1524000"/>
            <a:ext cx="5207000" cy="2667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BCD10A8-79BD-3862-A8FB-DCCF0C90373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500" y="5016500"/>
            <a:ext cx="45720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098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9DED1F9-8975-E634-3F54-6A52D97B79BE}"/>
              </a:ext>
            </a:extLst>
          </p:cNvPr>
          <p:cNvSpPr txBox="1"/>
          <p:nvPr/>
        </p:nvSpPr>
        <p:spPr>
          <a:xfrm>
            <a:off x="406400" y="355600"/>
            <a:ext cx="2413000" cy="47192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2400" b="1">
                <a:solidFill>
                  <a:srgbClr val="C00000"/>
                </a:solidFill>
                <a:latin typeface="Microsoft YaHei" panose="020B0503020204020204" pitchFamily="34" charset="-122"/>
              </a:rPr>
              <a:t>速度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E05DAE1-6B39-57B0-C472-F1D35CFE72FD}"/>
              </a:ext>
            </a:extLst>
          </p:cNvPr>
          <p:cNvSpPr/>
          <p:nvPr/>
        </p:nvSpPr>
        <p:spPr>
          <a:xfrm>
            <a:off x="406400" y="965200"/>
            <a:ext cx="1168400" cy="50800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7160B1E-79B9-6602-5A83-4E1A88F89025}"/>
              </a:ext>
            </a:extLst>
          </p:cNvPr>
          <p:cNvSpPr txBox="1"/>
          <p:nvPr/>
        </p:nvSpPr>
        <p:spPr>
          <a:xfrm>
            <a:off x="3111500" y="355600"/>
            <a:ext cx="12192000" cy="52835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3DGS </a:t>
            </a:r>
            <a:r>
              <a:rPr lang="zh-CN" altLang="en-US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快在把光线步进换成屏幕空间投影和混合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2D3BD9D-7D45-FBF6-4B0B-37FF24D388A2}"/>
              </a:ext>
            </a:extLst>
          </p:cNvPr>
          <p:cNvSpPr/>
          <p:nvPr/>
        </p:nvSpPr>
        <p:spPr>
          <a:xfrm>
            <a:off x="1016000" y="1905000"/>
            <a:ext cx="5461000" cy="17145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E604F43-5333-B952-2990-0012C37CE5B6}"/>
              </a:ext>
            </a:extLst>
          </p:cNvPr>
          <p:cNvSpPr txBox="1"/>
          <p:nvPr/>
        </p:nvSpPr>
        <p:spPr>
          <a:xfrm>
            <a:off x="1168400" y="2032000"/>
            <a:ext cx="51562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b="1">
                <a:solidFill>
                  <a:srgbClr val="C00000"/>
                </a:solidFill>
                <a:latin typeface="Microsoft YaHei" panose="020B0503020204020204" pitchFamily="34" charset="-122"/>
              </a:rPr>
              <a:t>NeRF </a:t>
            </a:r>
            <a:r>
              <a:rPr lang="zh-CN" altLang="en-US" b="1">
                <a:solidFill>
                  <a:srgbClr val="C00000"/>
                </a:solidFill>
                <a:latin typeface="Microsoft YaHei" panose="020B0503020204020204" pitchFamily="34" charset="-122"/>
              </a:rPr>
              <a:t>渲染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FC91D3F-6ED0-D0DF-D26B-71DB98ED7399}"/>
              </a:ext>
            </a:extLst>
          </p:cNvPr>
          <p:cNvSpPr txBox="1"/>
          <p:nvPr/>
        </p:nvSpPr>
        <p:spPr>
          <a:xfrm>
            <a:off x="1168400" y="2463800"/>
            <a:ext cx="5156200" cy="33342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500">
                <a:solidFill>
                  <a:srgbClr val="000000"/>
                </a:solidFill>
                <a:latin typeface="Microsoft YaHei" panose="020B0503020204020204" pitchFamily="34" charset="-122"/>
              </a:rPr>
              <a:t>每根光线采很多点，每个点查询 </a:t>
            </a:r>
            <a:r>
              <a:rPr lang="en-US" altLang="zh-CN" sz="1500">
                <a:solidFill>
                  <a:srgbClr val="000000"/>
                </a:solidFill>
                <a:latin typeface="Microsoft YaHei" panose="020B0503020204020204" pitchFamily="34" charset="-122"/>
              </a:rPr>
              <a:t>MLP</a:t>
            </a:r>
            <a:r>
              <a:rPr lang="zh-CN" altLang="en-US" sz="1500">
                <a:solidFill>
                  <a:srgbClr val="000000"/>
                </a:solidFill>
                <a:latin typeface="Microsoft YaHei" panose="020B0503020204020204" pitchFamily="34" charset="-122"/>
              </a:rPr>
              <a:t>，计算量大。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64D40A0-D537-E3BA-DD64-8278D3242DA8}"/>
              </a:ext>
            </a:extLst>
          </p:cNvPr>
          <p:cNvSpPr/>
          <p:nvPr/>
        </p:nvSpPr>
        <p:spPr>
          <a:xfrm>
            <a:off x="8255000" y="1905000"/>
            <a:ext cx="5461000" cy="17145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C306541-55DA-BFFE-A3E0-D7E580E9050D}"/>
              </a:ext>
            </a:extLst>
          </p:cNvPr>
          <p:cNvSpPr txBox="1"/>
          <p:nvPr/>
        </p:nvSpPr>
        <p:spPr>
          <a:xfrm>
            <a:off x="8407400" y="2032000"/>
            <a:ext cx="51562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b="1">
                <a:solidFill>
                  <a:srgbClr val="C00000"/>
                </a:solidFill>
                <a:latin typeface="Microsoft YaHei" panose="020B0503020204020204" pitchFamily="34" charset="-122"/>
              </a:rPr>
              <a:t>3DGS </a:t>
            </a:r>
            <a:r>
              <a:rPr lang="zh-CN" altLang="en-US" b="1">
                <a:solidFill>
                  <a:srgbClr val="C00000"/>
                </a:solidFill>
                <a:latin typeface="Microsoft YaHei" panose="020B0503020204020204" pitchFamily="34" charset="-122"/>
              </a:rPr>
              <a:t>渲染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D88573D-FE06-1D6B-1432-31DFA36160EF}"/>
              </a:ext>
            </a:extLst>
          </p:cNvPr>
          <p:cNvSpPr txBox="1"/>
          <p:nvPr/>
        </p:nvSpPr>
        <p:spPr>
          <a:xfrm>
            <a:off x="8407400" y="2463800"/>
            <a:ext cx="5156200" cy="33342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500">
                <a:solidFill>
                  <a:srgbClr val="000000"/>
                </a:solidFill>
                <a:latin typeface="Microsoft YaHei" panose="020B0503020204020204" pitchFamily="34" charset="-122"/>
              </a:rPr>
              <a:t>高斯投影到屏幕，按深度排序，再做 </a:t>
            </a:r>
            <a:r>
              <a:rPr lang="en-US" altLang="zh-CN" sz="1500">
                <a:solidFill>
                  <a:srgbClr val="000000"/>
                </a:solidFill>
                <a:latin typeface="Microsoft YaHei" panose="020B0503020204020204" pitchFamily="34" charset="-122"/>
              </a:rPr>
              <a:t>alpha </a:t>
            </a:r>
            <a:r>
              <a:rPr lang="zh-CN" altLang="en-US" sz="1500">
                <a:solidFill>
                  <a:srgbClr val="000000"/>
                </a:solidFill>
                <a:latin typeface="Microsoft YaHei" panose="020B0503020204020204" pitchFamily="34" charset="-122"/>
              </a:rPr>
              <a:t>混合。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C2C4CC9-5C72-CE2A-6A1D-5392AC19941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000" y="4762500"/>
            <a:ext cx="11430000" cy="26670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9D170AD8-1C34-9938-6918-E0A0584EB3E5}"/>
              </a:ext>
            </a:extLst>
          </p:cNvPr>
          <p:cNvSpPr txBox="1"/>
          <p:nvPr/>
        </p:nvSpPr>
        <p:spPr>
          <a:xfrm>
            <a:off x="2159000" y="7810500"/>
            <a:ext cx="11430000" cy="41036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</a:rPr>
              <a:t>核心理解：数学直觉仍是透明叠加，但实现方式更适合 </a:t>
            </a: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</a:rPr>
              <a:t>GPU 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</a:rPr>
              <a:t>并行。</a:t>
            </a:r>
          </a:p>
        </p:txBody>
      </p:sp>
    </p:spTree>
    <p:extLst>
      <p:ext uri="{BB962C8B-B14F-4D97-AF65-F5344CB8AC3E}">
        <p14:creationId xmlns:p14="http://schemas.microsoft.com/office/powerpoint/2010/main" val="3087773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8A16C5D-A5F6-FECB-86A4-96D40AE6C381}"/>
              </a:ext>
            </a:extLst>
          </p:cNvPr>
          <p:cNvSpPr txBox="1"/>
          <p:nvPr/>
        </p:nvSpPr>
        <p:spPr>
          <a:xfrm>
            <a:off x="406400" y="355600"/>
            <a:ext cx="2413000" cy="47192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2400" b="1">
                <a:solidFill>
                  <a:srgbClr val="C00000"/>
                </a:solidFill>
                <a:latin typeface="Microsoft YaHei" panose="020B0503020204020204" pitchFamily="34" charset="-122"/>
              </a:rPr>
              <a:t>Method</a:t>
            </a:r>
            <a:endParaRPr lang="zh-CN" altLang="en-US" sz="2400" b="1">
              <a:solidFill>
                <a:srgbClr val="C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8A90133-469A-7F9E-0FEF-07FF7240A8D9}"/>
              </a:ext>
            </a:extLst>
          </p:cNvPr>
          <p:cNvSpPr/>
          <p:nvPr/>
        </p:nvSpPr>
        <p:spPr>
          <a:xfrm>
            <a:off x="406400" y="965200"/>
            <a:ext cx="1168400" cy="50800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F17E498-9C66-5EB8-13BD-1406A3F57AB7}"/>
              </a:ext>
            </a:extLst>
          </p:cNvPr>
          <p:cNvSpPr txBox="1"/>
          <p:nvPr/>
        </p:nvSpPr>
        <p:spPr>
          <a:xfrm>
            <a:off x="3111500" y="355600"/>
            <a:ext cx="12192000" cy="52835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3DGS </a:t>
            </a:r>
            <a:r>
              <a:rPr lang="zh-CN" altLang="en-US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的三个关键技术点：表示、增密、光栅化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A2096A7-C846-022F-4299-F5E900F6EAF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1651000"/>
            <a:ext cx="9144000" cy="2667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0BF7DEF-44F3-1630-0863-4C4E8CFCED04}"/>
              </a:ext>
            </a:extLst>
          </p:cNvPr>
          <p:cNvSpPr/>
          <p:nvPr/>
        </p:nvSpPr>
        <p:spPr>
          <a:xfrm>
            <a:off x="1079500" y="5207000"/>
            <a:ext cx="3937000" cy="14605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9084301-F791-17AC-562B-71D3EBFFD038}"/>
              </a:ext>
            </a:extLst>
          </p:cNvPr>
          <p:cNvSpPr txBox="1"/>
          <p:nvPr/>
        </p:nvSpPr>
        <p:spPr>
          <a:xfrm>
            <a:off x="1231900" y="5334000"/>
            <a:ext cx="36322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b="1">
                <a:solidFill>
                  <a:srgbClr val="C00000"/>
                </a:solidFill>
                <a:latin typeface="Microsoft YaHei" panose="020B0503020204020204" pitchFamily="34" charset="-122"/>
              </a:rPr>
              <a:t>3D </a:t>
            </a:r>
            <a:r>
              <a:rPr lang="zh-CN" altLang="en-US" b="1">
                <a:solidFill>
                  <a:srgbClr val="C00000"/>
                </a:solidFill>
                <a:latin typeface="Microsoft YaHei" panose="020B0503020204020204" pitchFamily="34" charset="-122"/>
              </a:rPr>
              <a:t>高斯表示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DCC86D3-2AD1-6124-7F4E-6C79A53280DC}"/>
              </a:ext>
            </a:extLst>
          </p:cNvPr>
          <p:cNvSpPr txBox="1"/>
          <p:nvPr/>
        </p:nvSpPr>
        <p:spPr>
          <a:xfrm>
            <a:off x="1231900" y="5765800"/>
            <a:ext cx="3632200" cy="33342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500">
                <a:solidFill>
                  <a:srgbClr val="000000"/>
                </a:solidFill>
                <a:latin typeface="Microsoft YaHei" panose="020B0503020204020204" pitchFamily="34" charset="-122"/>
              </a:rPr>
              <a:t>协方差拆成缩放和旋转，优化更稳定。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44208CF-9E1F-BA1A-B072-F1D685A9B4C1}"/>
              </a:ext>
            </a:extLst>
          </p:cNvPr>
          <p:cNvSpPr/>
          <p:nvPr/>
        </p:nvSpPr>
        <p:spPr>
          <a:xfrm>
            <a:off x="5969000" y="5207000"/>
            <a:ext cx="3937000" cy="14605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F62752F-D085-C528-56F0-9DF0C5F0EFCF}"/>
              </a:ext>
            </a:extLst>
          </p:cNvPr>
          <p:cNvSpPr txBox="1"/>
          <p:nvPr/>
        </p:nvSpPr>
        <p:spPr>
          <a:xfrm>
            <a:off x="6121400" y="5334000"/>
            <a:ext cx="36322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Microsoft YaHei" panose="020B0503020204020204" pitchFamily="34" charset="-122"/>
              </a:rPr>
              <a:t>自适应密度控制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AB32723-DF50-1B1E-D6B3-AD3B4D795915}"/>
              </a:ext>
            </a:extLst>
          </p:cNvPr>
          <p:cNvSpPr txBox="1"/>
          <p:nvPr/>
        </p:nvSpPr>
        <p:spPr>
          <a:xfrm>
            <a:off x="6121400" y="5765800"/>
            <a:ext cx="3632200" cy="33342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500">
                <a:solidFill>
                  <a:srgbClr val="000000"/>
                </a:solidFill>
                <a:latin typeface="Microsoft YaHei" panose="020B0503020204020204" pitchFamily="34" charset="-122"/>
              </a:rPr>
              <a:t>细节不足就克隆或分裂；贡献低就删除。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844DFA5-F43B-9E38-9E3C-45303AD58482}"/>
              </a:ext>
            </a:extLst>
          </p:cNvPr>
          <p:cNvSpPr/>
          <p:nvPr/>
        </p:nvSpPr>
        <p:spPr>
          <a:xfrm>
            <a:off x="10858500" y="5207000"/>
            <a:ext cx="3937000" cy="14605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0A095C9-8CBC-D924-DD80-FE469C73ED2D}"/>
              </a:ext>
            </a:extLst>
          </p:cNvPr>
          <p:cNvSpPr txBox="1"/>
          <p:nvPr/>
        </p:nvSpPr>
        <p:spPr>
          <a:xfrm>
            <a:off x="11010900" y="5334000"/>
            <a:ext cx="36322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Microsoft YaHei" panose="020B0503020204020204" pitchFamily="34" charset="-122"/>
              </a:rPr>
              <a:t>瓦片光栅化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C1249A9-6EEC-DEA7-8AAF-BBCB4B69F9F0}"/>
              </a:ext>
            </a:extLst>
          </p:cNvPr>
          <p:cNvSpPr txBox="1"/>
          <p:nvPr/>
        </p:nvSpPr>
        <p:spPr>
          <a:xfrm>
            <a:off x="11010900" y="5765800"/>
            <a:ext cx="3632200" cy="564257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500">
                <a:solidFill>
                  <a:srgbClr val="000000"/>
                </a:solidFill>
                <a:latin typeface="Microsoft YaHei" panose="020B0503020204020204" pitchFamily="34" charset="-122"/>
              </a:rPr>
              <a:t>屏幕分块后并行排序、混合，提升实时速度。</a:t>
            </a:r>
          </a:p>
        </p:txBody>
      </p:sp>
    </p:spTree>
    <p:extLst>
      <p:ext uri="{BB962C8B-B14F-4D97-AF65-F5344CB8AC3E}">
        <p14:creationId xmlns:p14="http://schemas.microsoft.com/office/powerpoint/2010/main" val="1691813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4EE8356-758B-3681-0546-FB0F6F3E0861}"/>
              </a:ext>
            </a:extLst>
          </p:cNvPr>
          <p:cNvSpPr txBox="1"/>
          <p:nvPr/>
        </p:nvSpPr>
        <p:spPr>
          <a:xfrm>
            <a:off x="406400" y="355600"/>
            <a:ext cx="2413000" cy="47192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2400" b="1">
                <a:solidFill>
                  <a:srgbClr val="C00000"/>
                </a:solidFill>
                <a:latin typeface="Microsoft YaHei" panose="020B0503020204020204" pitchFamily="34" charset="-122"/>
              </a:rPr>
              <a:t>小结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48E0D49-5793-6F94-06CD-A23EDFC430AD}"/>
              </a:ext>
            </a:extLst>
          </p:cNvPr>
          <p:cNvSpPr/>
          <p:nvPr/>
        </p:nvSpPr>
        <p:spPr>
          <a:xfrm>
            <a:off x="406400" y="965200"/>
            <a:ext cx="1168400" cy="50800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6354E1D-F704-45BB-EFE3-E2D816054448}"/>
              </a:ext>
            </a:extLst>
          </p:cNvPr>
          <p:cNvSpPr txBox="1"/>
          <p:nvPr/>
        </p:nvSpPr>
        <p:spPr>
          <a:xfrm>
            <a:off x="3111500" y="355600"/>
            <a:ext cx="12192000" cy="52835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基础部分让我理解了新视角合成的两条主线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2411BF0-A212-5123-C74C-7696733D4212}"/>
              </a:ext>
            </a:extLst>
          </p:cNvPr>
          <p:cNvSpPr/>
          <p:nvPr/>
        </p:nvSpPr>
        <p:spPr>
          <a:xfrm>
            <a:off x="1206500" y="1841500"/>
            <a:ext cx="5334000" cy="16510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8E44C5B-A3BD-43A5-5E56-7F91B551EFFF}"/>
              </a:ext>
            </a:extLst>
          </p:cNvPr>
          <p:cNvSpPr txBox="1"/>
          <p:nvPr/>
        </p:nvSpPr>
        <p:spPr>
          <a:xfrm>
            <a:off x="1358900" y="1968500"/>
            <a:ext cx="50292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b="1">
                <a:solidFill>
                  <a:srgbClr val="C00000"/>
                </a:solidFill>
                <a:latin typeface="Microsoft YaHei" panose="020B0503020204020204" pitchFamily="34" charset="-122"/>
              </a:rPr>
              <a:t>NeRF</a:t>
            </a:r>
            <a:endParaRPr lang="zh-CN" altLang="en-US" b="1">
              <a:solidFill>
                <a:srgbClr val="C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060F24E-3330-9409-FA82-6789B8DD58A0}"/>
              </a:ext>
            </a:extLst>
          </p:cNvPr>
          <p:cNvSpPr txBox="1"/>
          <p:nvPr/>
        </p:nvSpPr>
        <p:spPr>
          <a:xfrm>
            <a:off x="1358900" y="2400300"/>
            <a:ext cx="5029200" cy="33342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500">
                <a:solidFill>
                  <a:srgbClr val="000000"/>
                </a:solidFill>
                <a:latin typeface="Microsoft YaHei" panose="020B0503020204020204" pitchFamily="34" charset="-122"/>
              </a:rPr>
              <a:t>隐式 </a:t>
            </a:r>
            <a:r>
              <a:rPr lang="en-US" altLang="zh-CN" sz="1500">
                <a:solidFill>
                  <a:srgbClr val="000000"/>
                </a:solidFill>
                <a:latin typeface="Microsoft YaHei" panose="020B0503020204020204" pitchFamily="34" charset="-122"/>
              </a:rPr>
              <a:t>MLP</a:t>
            </a:r>
            <a:r>
              <a:rPr lang="zh-CN" altLang="en-US" sz="1500">
                <a:solidFill>
                  <a:srgbClr val="000000"/>
                </a:solidFill>
                <a:latin typeface="Microsoft YaHei" panose="020B0503020204020204" pitchFamily="34" charset="-122"/>
              </a:rPr>
              <a:t>；质量高；存储小；训练和渲染慢。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82D81A-4506-F6A7-F742-AC8EF60C4A50}"/>
              </a:ext>
            </a:extLst>
          </p:cNvPr>
          <p:cNvSpPr/>
          <p:nvPr/>
        </p:nvSpPr>
        <p:spPr>
          <a:xfrm>
            <a:off x="8255000" y="1841500"/>
            <a:ext cx="5334000" cy="16510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BF86840-896B-2F4B-E6C1-8B37C7E50C6B}"/>
              </a:ext>
            </a:extLst>
          </p:cNvPr>
          <p:cNvSpPr txBox="1"/>
          <p:nvPr/>
        </p:nvSpPr>
        <p:spPr>
          <a:xfrm>
            <a:off x="8407400" y="1968500"/>
            <a:ext cx="50292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b="1">
                <a:solidFill>
                  <a:srgbClr val="C00000"/>
                </a:solidFill>
                <a:latin typeface="Microsoft YaHei" panose="020B0503020204020204" pitchFamily="34" charset="-122"/>
              </a:rPr>
              <a:t>3DGS</a:t>
            </a:r>
            <a:endParaRPr lang="zh-CN" altLang="en-US" b="1">
              <a:solidFill>
                <a:srgbClr val="C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46ADCCC-F315-33F9-956E-18AF0E765634}"/>
              </a:ext>
            </a:extLst>
          </p:cNvPr>
          <p:cNvSpPr txBox="1"/>
          <p:nvPr/>
        </p:nvSpPr>
        <p:spPr>
          <a:xfrm>
            <a:off x="8407400" y="2400300"/>
            <a:ext cx="5029200" cy="33342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500">
                <a:solidFill>
                  <a:srgbClr val="000000"/>
                </a:solidFill>
                <a:latin typeface="Microsoft YaHei" panose="020B0503020204020204" pitchFamily="34" charset="-122"/>
              </a:rPr>
              <a:t>显式高斯；渲染实时；训练更快；存储和排序更复杂。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7031F8F-5CA6-22BE-A28E-0C5B5BC99C4C}"/>
              </a:ext>
            </a:extLst>
          </p:cNvPr>
          <p:cNvSpPr txBox="1"/>
          <p:nvPr/>
        </p:nvSpPr>
        <p:spPr>
          <a:xfrm>
            <a:off x="1397000" y="4953000"/>
            <a:ext cx="12446000" cy="123110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</a:rPr>
              <a:t>场景表示决定了渲染方式，也决定了速度和存储取舍。</a:t>
            </a:r>
          </a:p>
          <a:p>
            <a:pPr>
              <a:spcAft>
                <a:spcPts val="800"/>
              </a:spcAft>
            </a:pP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</a:rPr>
              <a:t>但这两篇都依赖多图和相机位姿。</a:t>
            </a:r>
          </a:p>
          <a:p>
            <a:pPr>
              <a:spcAft>
                <a:spcPts val="800"/>
              </a:spcAft>
            </a:pP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</a:rPr>
              <a:t>接下来进入更贴近本课题的 </a:t>
            </a: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</a:rPr>
              <a:t>3D Photography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015357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1FCF94D-DCBE-3A70-9C9F-9D3D3F0DE2DF}"/>
              </a:ext>
            </a:extLst>
          </p:cNvPr>
          <p:cNvSpPr txBox="1"/>
          <p:nvPr/>
        </p:nvSpPr>
        <p:spPr>
          <a:xfrm>
            <a:off x="406400" y="355600"/>
            <a:ext cx="2413000" cy="47192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2400" b="1">
                <a:solidFill>
                  <a:srgbClr val="C00000"/>
                </a:solidFill>
                <a:latin typeface="Microsoft YaHei" panose="020B0503020204020204" pitchFamily="34" charset="-122"/>
              </a:rPr>
              <a:t>3D Photo</a:t>
            </a:r>
            <a:endParaRPr lang="zh-CN" altLang="en-US" sz="2400" b="1">
              <a:solidFill>
                <a:srgbClr val="C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1881FF9-FC45-D458-3A2E-1870E39112C6}"/>
              </a:ext>
            </a:extLst>
          </p:cNvPr>
          <p:cNvSpPr/>
          <p:nvPr/>
        </p:nvSpPr>
        <p:spPr>
          <a:xfrm>
            <a:off x="406400" y="965200"/>
            <a:ext cx="1168400" cy="50800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FD0B33B-838C-3C8C-19F0-22502FCC470F}"/>
              </a:ext>
            </a:extLst>
          </p:cNvPr>
          <p:cNvSpPr txBox="1"/>
          <p:nvPr/>
        </p:nvSpPr>
        <p:spPr>
          <a:xfrm>
            <a:off x="3111500" y="355600"/>
            <a:ext cx="12192000" cy="52835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3D Photography </a:t>
            </a:r>
            <a:r>
              <a:rPr lang="zh-CN" altLang="en-US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研究单张 </a:t>
            </a:r>
            <a:r>
              <a:rPr lang="en-US" altLang="zh-CN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RGB-D </a:t>
            </a:r>
            <a:r>
              <a:rPr lang="zh-CN" altLang="en-US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图像如何生成可晃动照片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2519F73-C94B-6333-DC16-9EBBE2EDA1F4}"/>
              </a:ext>
            </a:extLst>
          </p:cNvPr>
          <p:cNvSpPr txBox="1"/>
          <p:nvPr/>
        </p:nvSpPr>
        <p:spPr>
          <a:xfrm>
            <a:off x="889000" y="1778000"/>
            <a:ext cx="6731000" cy="184665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</a:rPr>
              <a:t>输入：一张 </a:t>
            </a: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</a:rPr>
              <a:t>RGB-D 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</a:rPr>
              <a:t>图像，即 </a:t>
            </a: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</a:rPr>
              <a:t>RGB 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</a:rPr>
              <a:t>彩色图 </a:t>
            </a: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</a:rPr>
              <a:t>+ Depth 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</a:rPr>
              <a:t>深度图。</a:t>
            </a:r>
          </a:p>
          <a:p>
            <a:pPr>
              <a:spcAft>
                <a:spcPts val="800"/>
              </a:spcAft>
            </a:pP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</a:rPr>
              <a:t>输出：可小幅视角移动的 </a:t>
            </a: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</a:rPr>
              <a:t>3D photo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</a:rPr>
              <a:t>。</a:t>
            </a:r>
          </a:p>
          <a:p>
            <a:pPr>
              <a:spcAft>
                <a:spcPts val="800"/>
              </a:spcAft>
            </a:pP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</a:rPr>
              <a:t>如果只有普通 </a:t>
            </a: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</a:rPr>
              <a:t>2D 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</a:rPr>
              <a:t>照片，需要先用单目深度估计得到深度图。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EE5CAD5-6EB5-40E6-F374-595C683AED1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0" y="1841500"/>
            <a:ext cx="6604000" cy="26670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3DEB3FF-D1C7-3C98-59A6-4C0B61E7AB93}"/>
              </a:ext>
            </a:extLst>
          </p:cNvPr>
          <p:cNvSpPr/>
          <p:nvPr/>
        </p:nvSpPr>
        <p:spPr>
          <a:xfrm>
            <a:off x="8255000" y="5334000"/>
            <a:ext cx="6350000" cy="13970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5F318D9-3288-F6F6-480C-61BE66B7F5E9}"/>
              </a:ext>
            </a:extLst>
          </p:cNvPr>
          <p:cNvSpPr txBox="1"/>
          <p:nvPr/>
        </p:nvSpPr>
        <p:spPr>
          <a:xfrm>
            <a:off x="8407400" y="5461000"/>
            <a:ext cx="60452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Microsoft YaHei" panose="020B0503020204020204" pitchFamily="34" charset="-122"/>
              </a:rPr>
              <a:t>与课题关系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DBCDD39-92FF-7584-2D19-151D58CFC67E}"/>
              </a:ext>
            </a:extLst>
          </p:cNvPr>
          <p:cNvSpPr txBox="1"/>
          <p:nvPr/>
        </p:nvSpPr>
        <p:spPr>
          <a:xfrm>
            <a:off x="8407400" y="5892800"/>
            <a:ext cx="6045200" cy="564257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500">
                <a:solidFill>
                  <a:srgbClr val="000000"/>
                </a:solidFill>
                <a:latin typeface="Microsoft YaHei" panose="020B0503020204020204" pitchFamily="34" charset="-122"/>
              </a:rPr>
              <a:t>目标不是完整 </a:t>
            </a:r>
            <a:r>
              <a:rPr lang="en-US" altLang="zh-CN" sz="1500">
                <a:solidFill>
                  <a:srgbClr val="000000"/>
                </a:solidFill>
                <a:latin typeface="Microsoft YaHei" panose="020B0503020204020204" pitchFamily="34" charset="-122"/>
              </a:rPr>
              <a:t>360 </a:t>
            </a:r>
            <a:r>
              <a:rPr lang="zh-CN" altLang="en-US" sz="1500">
                <a:solidFill>
                  <a:srgbClr val="000000"/>
                </a:solidFill>
                <a:latin typeface="Microsoft YaHei" panose="020B0503020204020204" pitchFamily="34" charset="-122"/>
              </a:rPr>
              <a:t>度重建，而是小范围视角变化带来的运动视差和立体感。</a:t>
            </a:r>
          </a:p>
        </p:txBody>
      </p:sp>
    </p:spTree>
    <p:extLst>
      <p:ext uri="{BB962C8B-B14F-4D97-AF65-F5344CB8AC3E}">
        <p14:creationId xmlns:p14="http://schemas.microsoft.com/office/powerpoint/2010/main" val="2253558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1F1AD0D-4722-8F87-9F11-07DF59277A0A}"/>
              </a:ext>
            </a:extLst>
          </p:cNvPr>
          <p:cNvSpPr txBox="1"/>
          <p:nvPr/>
        </p:nvSpPr>
        <p:spPr>
          <a:xfrm>
            <a:off x="406400" y="355600"/>
            <a:ext cx="2413000" cy="47192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2400" b="1">
                <a:solidFill>
                  <a:srgbClr val="C00000"/>
                </a:solidFill>
                <a:latin typeface="Microsoft YaHei" panose="020B0503020204020204" pitchFamily="34" charset="-122"/>
              </a:rPr>
              <a:t>问题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65668AA-CD6F-9C15-4756-8E98AA4932B0}"/>
              </a:ext>
            </a:extLst>
          </p:cNvPr>
          <p:cNvSpPr/>
          <p:nvPr/>
        </p:nvSpPr>
        <p:spPr>
          <a:xfrm>
            <a:off x="406400" y="965200"/>
            <a:ext cx="1168400" cy="50800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FE7DB3B-1467-837C-361F-73DADA0439E6}"/>
              </a:ext>
            </a:extLst>
          </p:cNvPr>
          <p:cNvSpPr txBox="1"/>
          <p:nvPr/>
        </p:nvSpPr>
        <p:spPr>
          <a:xfrm>
            <a:off x="3111500" y="355600"/>
            <a:ext cx="12192000" cy="52835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显露区域是单图 </a:t>
            </a:r>
            <a:r>
              <a:rPr lang="en-US" altLang="zh-CN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3D photo </a:t>
            </a:r>
            <a:r>
              <a:rPr lang="zh-CN" altLang="en-US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的核心困难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EABF2E3-080F-F360-E4A1-C10EE3BEA0E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1651000"/>
            <a:ext cx="7874000" cy="31115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85A06AC-3250-FC15-CF06-258ACFEFACB7}"/>
              </a:ext>
            </a:extLst>
          </p:cNvPr>
          <p:cNvSpPr txBox="1"/>
          <p:nvPr/>
        </p:nvSpPr>
        <p:spPr>
          <a:xfrm>
            <a:off x="9652000" y="1714500"/>
            <a:ext cx="4699000" cy="216469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CN" sz="190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000000"/>
                </a:solidFill>
                <a:latin typeface="Microsoft YaHei" panose="020B0503020204020204" pitchFamily="34" charset="-122"/>
              </a:rPr>
              <a:t>显露区域：原图中被前景遮挡，但新视角下露出来的背景内容。</a:t>
            </a:r>
          </a:p>
          <a:p>
            <a:pPr>
              <a:spcAft>
                <a:spcPts val="800"/>
              </a:spcAft>
            </a:pPr>
            <a:r>
              <a:rPr lang="en-US" altLang="zh-CN" sz="190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000000"/>
                </a:solidFill>
                <a:latin typeface="Microsoft YaHei" panose="020B0503020204020204" pitchFamily="34" charset="-122"/>
              </a:rPr>
              <a:t>直接按深度重投影会出现空洞。</a:t>
            </a:r>
          </a:p>
          <a:p>
            <a:pPr>
              <a:spcAft>
                <a:spcPts val="800"/>
              </a:spcAft>
            </a:pPr>
            <a:r>
              <a:rPr lang="en-US" altLang="zh-CN" sz="190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000000"/>
                </a:solidFill>
                <a:latin typeface="Microsoft YaHei" panose="020B0503020204020204" pitchFamily="34" charset="-122"/>
              </a:rPr>
              <a:t>强行拉伸周围像素会出现拉伸和模糊伪影。</a:t>
            </a:r>
          </a:p>
          <a:p>
            <a:pPr>
              <a:spcAft>
                <a:spcPts val="800"/>
              </a:spcAft>
            </a:pPr>
            <a:r>
              <a:rPr lang="en-US" altLang="zh-CN" sz="190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000000"/>
                </a:solidFill>
                <a:latin typeface="Microsoft YaHei" panose="020B0503020204020204" pitchFamily="34" charset="-122"/>
              </a:rPr>
              <a:t>因此需要对被遮挡区域进行合理补全。</a:t>
            </a:r>
          </a:p>
        </p:txBody>
      </p:sp>
    </p:spTree>
    <p:extLst>
      <p:ext uri="{BB962C8B-B14F-4D97-AF65-F5344CB8AC3E}">
        <p14:creationId xmlns:p14="http://schemas.microsoft.com/office/powerpoint/2010/main" val="689839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C765BDC-5D39-3036-D2C2-FFE1F6134C7A}"/>
              </a:ext>
            </a:extLst>
          </p:cNvPr>
          <p:cNvSpPr txBox="1"/>
          <p:nvPr/>
        </p:nvSpPr>
        <p:spPr>
          <a:xfrm>
            <a:off x="406400" y="355600"/>
            <a:ext cx="2413000" cy="47192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2400" b="1">
                <a:solidFill>
                  <a:srgbClr val="C00000"/>
                </a:solidFill>
                <a:latin typeface="Microsoft YaHei" panose="020B0503020204020204" pitchFamily="34" charset="-122"/>
              </a:rPr>
              <a:t>流程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D52CC1F-5445-8D3B-171D-4FE2CAF5D795}"/>
              </a:ext>
            </a:extLst>
          </p:cNvPr>
          <p:cNvSpPr/>
          <p:nvPr/>
        </p:nvSpPr>
        <p:spPr>
          <a:xfrm>
            <a:off x="406400" y="965200"/>
            <a:ext cx="1168400" cy="50800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ED38157-2551-9593-5CBC-07C5A3777F79}"/>
              </a:ext>
            </a:extLst>
          </p:cNvPr>
          <p:cNvSpPr txBox="1"/>
          <p:nvPr/>
        </p:nvSpPr>
        <p:spPr>
          <a:xfrm>
            <a:off x="3111500" y="355600"/>
            <a:ext cx="12192000" cy="52835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论文把单图 </a:t>
            </a:r>
            <a:r>
              <a:rPr lang="en-US" altLang="zh-CN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3D photo </a:t>
            </a:r>
            <a:r>
              <a:rPr lang="zh-CN" altLang="en-US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拆成分层、补全和轻量渲染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E156974-2228-F0CA-BD6C-A9C9C32BE197}"/>
              </a:ext>
            </a:extLst>
          </p:cNvPr>
          <p:cNvSpPr txBox="1"/>
          <p:nvPr/>
        </p:nvSpPr>
        <p:spPr>
          <a:xfrm>
            <a:off x="1079500" y="1714500"/>
            <a:ext cx="13208000" cy="205184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</a:rPr>
              <a:t>• RGB-D 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</a:rPr>
              <a:t>输入 → 深度预处理。</a:t>
            </a:r>
          </a:p>
          <a:p>
            <a:pPr>
              <a:spcAft>
                <a:spcPts val="800"/>
              </a:spcAft>
            </a:pP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</a:rPr>
              <a:t>构建 </a:t>
            </a: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</a:rPr>
              <a:t>Layered Depth Image (LDI)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</a:rPr>
              <a:t>。</a:t>
            </a:r>
          </a:p>
          <a:p>
            <a:pPr>
              <a:spcAft>
                <a:spcPts val="800"/>
              </a:spcAft>
            </a:pP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</a:rPr>
              <a:t>检测深度不连续边界，并切开前景</a:t>
            </a: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</a:rPr>
              <a:t>背景连接。</a:t>
            </a:r>
          </a:p>
          <a:p>
            <a:pPr>
              <a:spcAft>
                <a:spcPts val="800"/>
              </a:spcAft>
            </a:pP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</a:rPr>
              <a:t>为背景侧生成待补全区域，同时补全颜色和深度。</a:t>
            </a:r>
          </a:p>
          <a:p>
            <a:pPr>
              <a:spcAft>
                <a:spcPts val="800"/>
              </a:spcAft>
            </a:pP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</a:rPr>
              <a:t>合回 </a:t>
            </a: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</a:rPr>
              <a:t>LDI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</a:rPr>
              <a:t>，再转成 </a:t>
            </a: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</a:rPr>
              <a:t>textured mesh 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</a:rPr>
              <a:t>快速渲染。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C99E7F1-9D1E-E3A1-C59D-4E27A3437794}"/>
              </a:ext>
            </a:extLst>
          </p:cNvPr>
          <p:cNvSpPr/>
          <p:nvPr/>
        </p:nvSpPr>
        <p:spPr>
          <a:xfrm>
            <a:off x="2984500" y="5969000"/>
            <a:ext cx="9906000" cy="13970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9AB88EE-DE43-687F-514B-08A1B8F4E9C6}"/>
              </a:ext>
            </a:extLst>
          </p:cNvPr>
          <p:cNvSpPr txBox="1"/>
          <p:nvPr/>
        </p:nvSpPr>
        <p:spPr>
          <a:xfrm>
            <a:off x="3136900" y="6096000"/>
            <a:ext cx="96012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Microsoft YaHei" panose="020B0503020204020204" pitchFamily="34" charset="-122"/>
              </a:rPr>
              <a:t>重要理解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A438082-D863-59CD-ED44-910CE15F9BB2}"/>
              </a:ext>
            </a:extLst>
          </p:cNvPr>
          <p:cNvSpPr txBox="1"/>
          <p:nvPr/>
        </p:nvSpPr>
        <p:spPr>
          <a:xfrm>
            <a:off x="3136900" y="6527800"/>
            <a:ext cx="9601200" cy="33342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500">
                <a:solidFill>
                  <a:srgbClr val="000000"/>
                </a:solidFill>
                <a:latin typeface="Microsoft YaHei" panose="020B0503020204020204" pitchFamily="34" charset="-122"/>
              </a:rPr>
              <a:t>它不是直接端到端生成新视角，而是把浅 </a:t>
            </a:r>
            <a:r>
              <a:rPr lang="en-US" altLang="zh-CN" sz="1500">
                <a:solidFill>
                  <a:srgbClr val="000000"/>
                </a:solidFill>
                <a:latin typeface="Microsoft YaHei" panose="020B0503020204020204" pitchFamily="34" charset="-122"/>
              </a:rPr>
              <a:t>3D </a:t>
            </a:r>
            <a:r>
              <a:rPr lang="zh-CN" altLang="en-US" sz="1500">
                <a:solidFill>
                  <a:srgbClr val="000000"/>
                </a:solidFill>
                <a:latin typeface="Microsoft YaHei" panose="020B0503020204020204" pitchFamily="34" charset="-122"/>
              </a:rPr>
              <a:t>拆成多个可解释模块。</a:t>
            </a:r>
          </a:p>
        </p:txBody>
      </p:sp>
    </p:spTree>
    <p:extLst>
      <p:ext uri="{BB962C8B-B14F-4D97-AF65-F5344CB8AC3E}">
        <p14:creationId xmlns:p14="http://schemas.microsoft.com/office/powerpoint/2010/main" val="4294266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675F609-485B-7119-5578-700C958565BB}"/>
              </a:ext>
            </a:extLst>
          </p:cNvPr>
          <p:cNvSpPr txBox="1"/>
          <p:nvPr/>
        </p:nvSpPr>
        <p:spPr>
          <a:xfrm>
            <a:off x="406400" y="355600"/>
            <a:ext cx="2413000" cy="47192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2400" b="1">
                <a:solidFill>
                  <a:srgbClr val="C00000"/>
                </a:solidFill>
                <a:latin typeface="Microsoft YaHei" panose="020B0503020204020204" pitchFamily="34" charset="-122"/>
              </a:rPr>
              <a:t>LDI</a:t>
            </a:r>
            <a:endParaRPr lang="zh-CN" altLang="en-US" sz="2400" b="1">
              <a:solidFill>
                <a:srgbClr val="C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3F3BE9F-DBC2-D1C8-B940-DCB2FCEFF065}"/>
              </a:ext>
            </a:extLst>
          </p:cNvPr>
          <p:cNvSpPr/>
          <p:nvPr/>
        </p:nvSpPr>
        <p:spPr>
          <a:xfrm>
            <a:off x="406400" y="965200"/>
            <a:ext cx="1168400" cy="50800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9D59A9-B8FB-5CD0-D0B7-5AE9C9068643}"/>
              </a:ext>
            </a:extLst>
          </p:cNvPr>
          <p:cNvSpPr txBox="1"/>
          <p:nvPr/>
        </p:nvSpPr>
        <p:spPr>
          <a:xfrm>
            <a:off x="3111500" y="355600"/>
            <a:ext cx="12192000" cy="52835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LDI </a:t>
            </a:r>
            <a:r>
              <a:rPr lang="zh-CN" altLang="en-US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比普通 </a:t>
            </a:r>
            <a:r>
              <a:rPr lang="en-US" altLang="zh-CN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RGB-D </a:t>
            </a:r>
            <a:r>
              <a:rPr lang="zh-CN" altLang="en-US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多了保存遮挡背景的能力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D404107-07E4-9CC2-E426-AF3EA73ABE0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1587500"/>
            <a:ext cx="8255000" cy="2667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F7A1D8D-2483-5A83-7636-BE521C911C1C}"/>
              </a:ext>
            </a:extLst>
          </p:cNvPr>
          <p:cNvSpPr txBox="1"/>
          <p:nvPr/>
        </p:nvSpPr>
        <p:spPr>
          <a:xfrm>
            <a:off x="9779000" y="1587500"/>
            <a:ext cx="4699000" cy="262636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dirty="0">
                <a:solidFill>
                  <a:srgbClr val="000000"/>
                </a:solidFill>
                <a:latin typeface="Microsoft YaHei" panose="020B0503020204020204" pitchFamily="34" charset="-122"/>
              </a:rPr>
              <a:t>普通 </a:t>
            </a:r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</a:rPr>
              <a:t>RGB-D</a:t>
            </a:r>
            <a:r>
              <a:rPr lang="zh-CN" altLang="en-US" dirty="0">
                <a:solidFill>
                  <a:srgbClr val="000000"/>
                </a:solidFill>
                <a:latin typeface="Microsoft YaHei" panose="020B0503020204020204" pitchFamily="34" charset="-122"/>
              </a:rPr>
              <a:t>：每个像素位置只有一个颜色和一个深度。</a:t>
            </a:r>
          </a:p>
          <a:p>
            <a:pPr>
              <a:spcAft>
                <a:spcPts val="800"/>
              </a:spcAft>
            </a:pPr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</a:rPr>
              <a:t>• LDI</a:t>
            </a:r>
            <a:r>
              <a:rPr lang="zh-CN" altLang="en-US" dirty="0">
                <a:solidFill>
                  <a:srgbClr val="000000"/>
                </a:solidFill>
                <a:latin typeface="Microsoft YaHei" panose="020B0503020204020204" pitchFamily="34" charset="-122"/>
              </a:rPr>
              <a:t>：同一图像位置可以存多个颜色和深度样本。</a:t>
            </a:r>
          </a:p>
          <a:p>
            <a:pPr>
              <a:spcAft>
                <a:spcPts val="800"/>
              </a:spcAft>
            </a:pPr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dirty="0">
                <a:solidFill>
                  <a:srgbClr val="000000"/>
                </a:solidFill>
                <a:latin typeface="Microsoft YaHei" panose="020B0503020204020204" pitchFamily="34" charset="-122"/>
              </a:rPr>
              <a:t>在遮挡边界附近，</a:t>
            </a:r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</a:rPr>
              <a:t>LDI </a:t>
            </a:r>
            <a:r>
              <a:rPr lang="zh-CN" altLang="en-US" dirty="0">
                <a:solidFill>
                  <a:srgbClr val="000000"/>
                </a:solidFill>
                <a:latin typeface="Microsoft YaHei" panose="020B0503020204020204" pitchFamily="34" charset="-122"/>
              </a:rPr>
              <a:t>可以额外保存被前景挡住的背景内容。</a:t>
            </a:r>
          </a:p>
          <a:p>
            <a:pPr>
              <a:spcAft>
                <a:spcPts val="800"/>
              </a:spcAft>
            </a:pPr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dirty="0">
                <a:solidFill>
                  <a:srgbClr val="000000"/>
                </a:solidFill>
                <a:latin typeface="Microsoft YaHei" panose="020B0503020204020204" pitchFamily="34" charset="-122"/>
              </a:rPr>
              <a:t>论文还保存像素连接关系，避免前景和背景在深度突变处被错误粘连。</a:t>
            </a:r>
          </a:p>
        </p:txBody>
      </p:sp>
    </p:spTree>
    <p:extLst>
      <p:ext uri="{BB962C8B-B14F-4D97-AF65-F5344CB8AC3E}">
        <p14:creationId xmlns:p14="http://schemas.microsoft.com/office/powerpoint/2010/main" val="32189913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0D25572-2E41-2F93-01CF-D2A7C8DD765B}"/>
              </a:ext>
            </a:extLst>
          </p:cNvPr>
          <p:cNvSpPr txBox="1"/>
          <p:nvPr/>
        </p:nvSpPr>
        <p:spPr>
          <a:xfrm>
            <a:off x="406400" y="355600"/>
            <a:ext cx="2413000" cy="47192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2400" b="1">
                <a:solidFill>
                  <a:srgbClr val="C00000"/>
                </a:solidFill>
                <a:latin typeface="Microsoft YaHei" panose="020B0503020204020204" pitchFamily="34" charset="-122"/>
              </a:rPr>
              <a:t>预处理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B774EAA-A0AA-E2EB-4987-795EA3A5D515}"/>
              </a:ext>
            </a:extLst>
          </p:cNvPr>
          <p:cNvSpPr/>
          <p:nvPr/>
        </p:nvSpPr>
        <p:spPr>
          <a:xfrm>
            <a:off x="406400" y="965200"/>
            <a:ext cx="1168400" cy="50800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C2AD02D-9AFD-E581-7F79-4A9C20A82964}"/>
              </a:ext>
            </a:extLst>
          </p:cNvPr>
          <p:cNvSpPr txBox="1"/>
          <p:nvPr/>
        </p:nvSpPr>
        <p:spPr>
          <a:xfrm>
            <a:off x="3111500" y="355600"/>
            <a:ext cx="12192000" cy="52835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浅 </a:t>
            </a:r>
            <a:r>
              <a:rPr lang="en-US" altLang="zh-CN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3D </a:t>
            </a:r>
            <a:r>
              <a:rPr lang="zh-CN" altLang="en-US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最容易在前景和背景交界处出错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203E223-0CC0-7072-3D1F-2868A6135BA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651000"/>
            <a:ext cx="8763000" cy="2921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5802DC7-6599-F2D7-F220-9008E9A92CE5}"/>
              </a:ext>
            </a:extLst>
          </p:cNvPr>
          <p:cNvSpPr txBox="1"/>
          <p:nvPr/>
        </p:nvSpPr>
        <p:spPr>
          <a:xfrm>
            <a:off x="10033000" y="1587500"/>
            <a:ext cx="4635500" cy="245195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dirty="0">
                <a:solidFill>
                  <a:srgbClr val="000000"/>
                </a:solidFill>
                <a:latin typeface="Microsoft YaHei" panose="020B0503020204020204" pitchFamily="34" charset="-122"/>
              </a:rPr>
              <a:t>输入深度图的边界通常模糊，不能直接使用。</a:t>
            </a:r>
          </a:p>
          <a:p>
            <a:pPr>
              <a:spcAft>
                <a:spcPts val="800"/>
              </a:spcAft>
            </a:pPr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dirty="0">
                <a:solidFill>
                  <a:srgbClr val="000000"/>
                </a:solidFill>
                <a:latin typeface="Microsoft YaHei" panose="020B0503020204020204" pitchFamily="34" charset="-122"/>
              </a:rPr>
              <a:t>先把深度转换到视差空间并归一化。</a:t>
            </a:r>
          </a:p>
          <a:p>
            <a:pPr>
              <a:spcAft>
                <a:spcPts val="800"/>
              </a:spcAft>
            </a:pPr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dirty="0">
                <a:solidFill>
                  <a:srgbClr val="000000"/>
                </a:solidFill>
                <a:latin typeface="Microsoft YaHei" panose="020B0503020204020204" pitchFamily="34" charset="-122"/>
              </a:rPr>
              <a:t>用 </a:t>
            </a:r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</a:rPr>
              <a:t>bilateral median filter </a:t>
            </a:r>
            <a:r>
              <a:rPr lang="zh-CN" altLang="en-US" dirty="0">
                <a:solidFill>
                  <a:srgbClr val="000000"/>
                </a:solidFill>
                <a:latin typeface="Microsoft YaHei" panose="020B0503020204020204" pitchFamily="34" charset="-122"/>
              </a:rPr>
              <a:t>锐化深度边界。</a:t>
            </a:r>
          </a:p>
          <a:p>
            <a:pPr>
              <a:spcAft>
                <a:spcPts val="800"/>
              </a:spcAft>
            </a:pPr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dirty="0">
                <a:solidFill>
                  <a:srgbClr val="000000"/>
                </a:solidFill>
                <a:latin typeface="Microsoft YaHei" panose="020B0503020204020204" pitchFamily="34" charset="-122"/>
              </a:rPr>
              <a:t>根据相邻像素视差差异检测深度不连续位置。</a:t>
            </a:r>
          </a:p>
          <a:p>
            <a:pPr>
              <a:spcAft>
                <a:spcPts val="800"/>
              </a:spcAft>
            </a:pPr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dirty="0">
                <a:solidFill>
                  <a:srgbClr val="000000"/>
                </a:solidFill>
                <a:latin typeface="Microsoft YaHei" panose="020B0503020204020204" pitchFamily="34" charset="-122"/>
              </a:rPr>
              <a:t>清理噪声，并连接成 </a:t>
            </a:r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</a:rPr>
              <a:t>linked depth edges</a:t>
            </a:r>
            <a:r>
              <a:rPr lang="zh-CN" altLang="en-US" dirty="0">
                <a:solidFill>
                  <a:srgbClr val="000000"/>
                </a:solidFill>
                <a:latin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701128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706E02F-9705-AAF8-FEF9-85A17D3BEAF7}"/>
              </a:ext>
            </a:extLst>
          </p:cNvPr>
          <p:cNvSpPr txBox="1"/>
          <p:nvPr/>
        </p:nvSpPr>
        <p:spPr>
          <a:xfrm>
            <a:off x="406400" y="355600"/>
            <a:ext cx="2413000" cy="47192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2400" b="1">
                <a:solidFill>
                  <a:srgbClr val="C00000"/>
                </a:solidFill>
                <a:latin typeface="Microsoft YaHei" panose="020B0503020204020204" pitchFamily="34" charset="-122"/>
              </a:rPr>
              <a:t>启发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A47FD40-EC8C-3C97-24C3-39B961BB474C}"/>
              </a:ext>
            </a:extLst>
          </p:cNvPr>
          <p:cNvSpPr/>
          <p:nvPr/>
        </p:nvSpPr>
        <p:spPr>
          <a:xfrm>
            <a:off x="406400" y="965200"/>
            <a:ext cx="1168400" cy="50800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06AF12D-2345-58C8-1AC4-A423EE3EF6DB}"/>
              </a:ext>
            </a:extLst>
          </p:cNvPr>
          <p:cNvSpPr txBox="1"/>
          <p:nvPr/>
        </p:nvSpPr>
        <p:spPr>
          <a:xfrm>
            <a:off x="3111500" y="355600"/>
            <a:ext cx="12192000" cy="52835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这篇论文给出单图浅 </a:t>
            </a:r>
            <a:r>
              <a:rPr lang="en-US" altLang="zh-CN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3D </a:t>
            </a:r>
            <a:r>
              <a:rPr lang="zh-CN" altLang="en-US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的清晰工程拆分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CE31E1B-6AB8-8CEB-9FC8-A0454F135193}"/>
              </a:ext>
            </a:extLst>
          </p:cNvPr>
          <p:cNvSpPr/>
          <p:nvPr/>
        </p:nvSpPr>
        <p:spPr>
          <a:xfrm>
            <a:off x="1079500" y="1841500"/>
            <a:ext cx="3175000" cy="16510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E4142E-0CEB-0475-0D18-E06596EB1832}"/>
              </a:ext>
            </a:extLst>
          </p:cNvPr>
          <p:cNvSpPr txBox="1"/>
          <p:nvPr/>
        </p:nvSpPr>
        <p:spPr>
          <a:xfrm>
            <a:off x="1231900" y="1968500"/>
            <a:ext cx="28702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b="1">
                <a:solidFill>
                  <a:srgbClr val="C00000"/>
                </a:solidFill>
                <a:latin typeface="Microsoft YaHei" panose="020B0503020204020204" pitchFamily="34" charset="-122"/>
              </a:rPr>
              <a:t>1 </a:t>
            </a:r>
            <a:r>
              <a:rPr lang="zh-CN" altLang="en-US" b="1">
                <a:solidFill>
                  <a:srgbClr val="C00000"/>
                </a:solidFill>
                <a:latin typeface="Microsoft YaHei" panose="020B0503020204020204" pitchFamily="34" charset="-122"/>
              </a:rPr>
              <a:t>深度估计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573FCF5-17C5-3650-E057-72F83E883F63}"/>
              </a:ext>
            </a:extLst>
          </p:cNvPr>
          <p:cNvSpPr txBox="1"/>
          <p:nvPr/>
        </p:nvSpPr>
        <p:spPr>
          <a:xfrm>
            <a:off x="1231900" y="2400300"/>
            <a:ext cx="2870200" cy="564257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500">
                <a:solidFill>
                  <a:srgbClr val="000000"/>
                </a:solidFill>
                <a:latin typeface="Microsoft YaHei" panose="020B0503020204020204" pitchFamily="34" charset="-122"/>
              </a:rPr>
              <a:t>普通 </a:t>
            </a:r>
            <a:r>
              <a:rPr lang="en-US" altLang="zh-CN" sz="1500">
                <a:solidFill>
                  <a:srgbClr val="000000"/>
                </a:solidFill>
                <a:latin typeface="Microsoft YaHei" panose="020B0503020204020204" pitchFamily="34" charset="-122"/>
              </a:rPr>
              <a:t>RGB </a:t>
            </a:r>
            <a:r>
              <a:rPr lang="zh-CN" altLang="en-US" sz="1500">
                <a:solidFill>
                  <a:srgbClr val="000000"/>
                </a:solidFill>
                <a:latin typeface="Microsoft YaHei" panose="020B0503020204020204" pitchFamily="34" charset="-122"/>
              </a:rPr>
              <a:t>照片需要先估计深度；深度边界尤其关键。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E5F412D-1B84-2047-23A0-54CB50B90FAA}"/>
              </a:ext>
            </a:extLst>
          </p:cNvPr>
          <p:cNvSpPr/>
          <p:nvPr/>
        </p:nvSpPr>
        <p:spPr>
          <a:xfrm>
            <a:off x="4635500" y="1841500"/>
            <a:ext cx="3175000" cy="16510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1D35FE7-F3F3-F289-A000-18EF60A9CB21}"/>
              </a:ext>
            </a:extLst>
          </p:cNvPr>
          <p:cNvSpPr txBox="1"/>
          <p:nvPr/>
        </p:nvSpPr>
        <p:spPr>
          <a:xfrm>
            <a:off x="4787900" y="1968500"/>
            <a:ext cx="28702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b="1">
                <a:solidFill>
                  <a:srgbClr val="C00000"/>
                </a:solidFill>
                <a:latin typeface="Microsoft YaHei" panose="020B0503020204020204" pitchFamily="34" charset="-122"/>
              </a:rPr>
              <a:t>2 </a:t>
            </a:r>
            <a:r>
              <a:rPr lang="zh-CN" altLang="en-US" b="1">
                <a:solidFill>
                  <a:srgbClr val="C00000"/>
                </a:solidFill>
                <a:latin typeface="Microsoft YaHei" panose="020B0503020204020204" pitchFamily="34" charset="-122"/>
              </a:rPr>
              <a:t>分层表示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44F9E6D-8B69-18A6-6965-B15613C97CA6}"/>
              </a:ext>
            </a:extLst>
          </p:cNvPr>
          <p:cNvSpPr txBox="1"/>
          <p:nvPr/>
        </p:nvSpPr>
        <p:spPr>
          <a:xfrm>
            <a:off x="4787900" y="2400300"/>
            <a:ext cx="2870200" cy="564257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500">
                <a:solidFill>
                  <a:srgbClr val="000000"/>
                </a:solidFill>
                <a:latin typeface="Microsoft YaHei" panose="020B0503020204020204" pitchFamily="34" charset="-122"/>
              </a:rPr>
              <a:t>用 </a:t>
            </a:r>
            <a:r>
              <a:rPr lang="en-US" altLang="zh-CN" sz="1500">
                <a:solidFill>
                  <a:srgbClr val="000000"/>
                </a:solidFill>
                <a:latin typeface="Microsoft YaHei" panose="020B0503020204020204" pitchFamily="34" charset="-122"/>
              </a:rPr>
              <a:t>LDI </a:t>
            </a:r>
            <a:r>
              <a:rPr lang="zh-CN" altLang="en-US" sz="1500">
                <a:solidFill>
                  <a:srgbClr val="000000"/>
                </a:solidFill>
                <a:latin typeface="Microsoft YaHei" panose="020B0503020204020204" pitchFamily="34" charset="-122"/>
              </a:rPr>
              <a:t>或类似表示保存前景、背景和遮挡关系。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32A8A78-6FA3-A586-733E-E1CE85FBF77D}"/>
              </a:ext>
            </a:extLst>
          </p:cNvPr>
          <p:cNvSpPr/>
          <p:nvPr/>
        </p:nvSpPr>
        <p:spPr>
          <a:xfrm>
            <a:off x="8191500" y="1841500"/>
            <a:ext cx="3175000" cy="16510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431A2F3-8B6A-7B76-974F-9ABD27942069}"/>
              </a:ext>
            </a:extLst>
          </p:cNvPr>
          <p:cNvSpPr txBox="1"/>
          <p:nvPr/>
        </p:nvSpPr>
        <p:spPr>
          <a:xfrm>
            <a:off x="8343900" y="1968500"/>
            <a:ext cx="28702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b="1">
                <a:solidFill>
                  <a:srgbClr val="C00000"/>
                </a:solidFill>
                <a:latin typeface="Microsoft YaHei" panose="020B0503020204020204" pitchFamily="34" charset="-122"/>
              </a:rPr>
              <a:t>3 </a:t>
            </a:r>
            <a:r>
              <a:rPr lang="zh-CN" altLang="en-US" b="1">
                <a:solidFill>
                  <a:srgbClr val="C00000"/>
                </a:solidFill>
                <a:latin typeface="Microsoft YaHei" panose="020B0503020204020204" pitchFamily="34" charset="-122"/>
              </a:rPr>
              <a:t>遮挡补全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2F5DC46-D030-F6F9-F315-B56D4812B302}"/>
              </a:ext>
            </a:extLst>
          </p:cNvPr>
          <p:cNvSpPr txBox="1"/>
          <p:nvPr/>
        </p:nvSpPr>
        <p:spPr>
          <a:xfrm>
            <a:off x="8343900" y="2400300"/>
            <a:ext cx="2870200" cy="33342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500">
                <a:solidFill>
                  <a:srgbClr val="000000"/>
                </a:solidFill>
                <a:latin typeface="Microsoft YaHei" panose="020B0503020204020204" pitchFamily="34" charset="-122"/>
              </a:rPr>
              <a:t>显露区域需要同时补颜色和深度。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0E71D0F-26CD-BCF0-7F73-7C0611C91D80}"/>
              </a:ext>
            </a:extLst>
          </p:cNvPr>
          <p:cNvSpPr/>
          <p:nvPr/>
        </p:nvSpPr>
        <p:spPr>
          <a:xfrm>
            <a:off x="11747500" y="1841500"/>
            <a:ext cx="3175000" cy="16510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534FF3E-A61A-3F28-B2CD-D71980AFD5EC}"/>
              </a:ext>
            </a:extLst>
          </p:cNvPr>
          <p:cNvSpPr txBox="1"/>
          <p:nvPr/>
        </p:nvSpPr>
        <p:spPr>
          <a:xfrm>
            <a:off x="11899900" y="1968500"/>
            <a:ext cx="28702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b="1">
                <a:solidFill>
                  <a:srgbClr val="C00000"/>
                </a:solidFill>
                <a:latin typeface="Microsoft YaHei" panose="020B0503020204020204" pitchFamily="34" charset="-122"/>
              </a:rPr>
              <a:t>4 </a:t>
            </a:r>
            <a:r>
              <a:rPr lang="zh-CN" altLang="en-US" b="1">
                <a:solidFill>
                  <a:srgbClr val="C00000"/>
                </a:solidFill>
                <a:latin typeface="Microsoft YaHei" panose="020B0503020204020204" pitchFamily="34" charset="-122"/>
              </a:rPr>
              <a:t>实时渲染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498BEE6-611C-C4AC-CB0E-B073AA963FF2}"/>
              </a:ext>
            </a:extLst>
          </p:cNvPr>
          <p:cNvSpPr txBox="1"/>
          <p:nvPr/>
        </p:nvSpPr>
        <p:spPr>
          <a:xfrm>
            <a:off x="11899900" y="2400300"/>
            <a:ext cx="2870200" cy="564257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500">
                <a:solidFill>
                  <a:srgbClr val="000000"/>
                </a:solidFill>
                <a:latin typeface="Microsoft YaHei" panose="020B0503020204020204" pitchFamily="34" charset="-122"/>
              </a:rPr>
              <a:t>生成后转成 </a:t>
            </a:r>
            <a:r>
              <a:rPr lang="en-US" altLang="zh-CN" sz="1500">
                <a:solidFill>
                  <a:srgbClr val="000000"/>
                </a:solidFill>
                <a:latin typeface="Microsoft YaHei" panose="020B0503020204020204" pitchFamily="34" charset="-122"/>
              </a:rPr>
              <a:t>mesh </a:t>
            </a:r>
            <a:r>
              <a:rPr lang="zh-CN" altLang="en-US" sz="1500">
                <a:solidFill>
                  <a:srgbClr val="000000"/>
                </a:solidFill>
                <a:latin typeface="Microsoft YaHei" panose="020B0503020204020204" pitchFamily="34" charset="-122"/>
              </a:rPr>
              <a:t>等显式表达，交给图形引擎渲染。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5BFC314-02F4-75F0-52C7-3A24EAC55506}"/>
              </a:ext>
            </a:extLst>
          </p:cNvPr>
          <p:cNvSpPr txBox="1"/>
          <p:nvPr/>
        </p:nvSpPr>
        <p:spPr>
          <a:xfrm>
            <a:off x="1524000" y="5080000"/>
            <a:ext cx="12446000" cy="123110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</a:rPr>
              <a:t>深度图质量不只看整体误差，更要看前景</a:t>
            </a: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</a:rPr>
              <a:t>背景边界。</a:t>
            </a:r>
          </a:p>
          <a:p>
            <a:pPr>
              <a:spcAft>
                <a:spcPts val="800"/>
              </a:spcAft>
            </a:pP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</a:rPr>
              <a:t>只补 </a:t>
            </a: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</a:rPr>
              <a:t>RGB 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</a:rPr>
              <a:t>会有纹理但缺几何；只补深度又没有真实画面。</a:t>
            </a:r>
          </a:p>
          <a:p>
            <a:pPr>
              <a:spcAft>
                <a:spcPts val="800"/>
              </a:spcAft>
            </a:pP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</a:rPr>
              <a:t>颜色和深度需要一起补，浅 </a:t>
            </a: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</a:rPr>
              <a:t>3D 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</a:rPr>
              <a:t>才不容易露馅。</a:t>
            </a:r>
          </a:p>
        </p:txBody>
      </p:sp>
    </p:spTree>
    <p:extLst>
      <p:ext uri="{BB962C8B-B14F-4D97-AF65-F5344CB8AC3E}">
        <p14:creationId xmlns:p14="http://schemas.microsoft.com/office/powerpoint/2010/main" val="20134966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DE5F699-BD4C-7E0A-9455-C297151A7743}"/>
              </a:ext>
            </a:extLst>
          </p:cNvPr>
          <p:cNvSpPr txBox="1"/>
          <p:nvPr/>
        </p:nvSpPr>
        <p:spPr>
          <a:xfrm>
            <a:off x="406400" y="355600"/>
            <a:ext cx="2413000" cy="47192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2400" b="1">
                <a:solidFill>
                  <a:srgbClr val="C00000"/>
                </a:solidFill>
                <a:latin typeface="Microsoft YaHei" panose="020B0503020204020204" pitchFamily="34" charset="-122"/>
              </a:rPr>
              <a:t>下一步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59B7AF1-857F-9FF1-CD24-BD631D40DE60}"/>
              </a:ext>
            </a:extLst>
          </p:cNvPr>
          <p:cNvSpPr/>
          <p:nvPr/>
        </p:nvSpPr>
        <p:spPr>
          <a:xfrm>
            <a:off x="406400" y="965200"/>
            <a:ext cx="1168400" cy="50800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B9000FF-D0BD-2EC9-A827-4AC1CBD52735}"/>
              </a:ext>
            </a:extLst>
          </p:cNvPr>
          <p:cNvSpPr txBox="1"/>
          <p:nvPr/>
        </p:nvSpPr>
        <p:spPr>
          <a:xfrm>
            <a:off x="3111500" y="355600"/>
            <a:ext cx="12192000" cy="52835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读完 </a:t>
            </a:r>
            <a:r>
              <a:rPr lang="en-US" altLang="zh-CN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3D Photography </a:t>
            </a:r>
            <a:r>
              <a:rPr lang="zh-CN" altLang="en-US" sz="2800" b="1">
                <a:solidFill>
                  <a:srgbClr val="000000"/>
                </a:solidFill>
                <a:latin typeface="Microsoft YaHei" panose="020B0503020204020204" pitchFamily="34" charset="-122"/>
              </a:rPr>
              <a:t>后，后续重点看三组对比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C0A63BB-B1E4-715B-EC40-F35007DB88A8}"/>
              </a:ext>
            </a:extLst>
          </p:cNvPr>
          <p:cNvSpPr txBox="1"/>
          <p:nvPr/>
        </p:nvSpPr>
        <p:spPr>
          <a:xfrm>
            <a:off x="1206500" y="1841500"/>
            <a:ext cx="12192000" cy="170303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CN" sz="210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100">
                <a:solidFill>
                  <a:srgbClr val="000000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2100">
                <a:solidFill>
                  <a:srgbClr val="000000"/>
                </a:solidFill>
                <a:latin typeface="Microsoft YaHei" panose="020B0503020204020204" pitchFamily="34" charset="-122"/>
              </a:rPr>
              <a:t>SLIDE </a:t>
            </a:r>
            <a:r>
              <a:rPr lang="zh-CN" altLang="en-US" sz="2100">
                <a:solidFill>
                  <a:srgbClr val="000000"/>
                </a:solidFill>
                <a:latin typeface="Microsoft YaHei" panose="020B0503020204020204" pitchFamily="34" charset="-122"/>
              </a:rPr>
              <a:t>对比：硬分层为什么会损伤头发、细线、边缘结构？软分层如何缓解？</a:t>
            </a:r>
          </a:p>
          <a:p>
            <a:pPr>
              <a:spcAft>
                <a:spcPts val="800"/>
              </a:spcAft>
            </a:pPr>
            <a:r>
              <a:rPr lang="en-US" altLang="zh-CN" sz="210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100">
                <a:solidFill>
                  <a:srgbClr val="000000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2100">
                <a:solidFill>
                  <a:srgbClr val="000000"/>
                </a:solidFill>
                <a:latin typeface="Microsoft YaHei" panose="020B0503020204020204" pitchFamily="34" charset="-122"/>
              </a:rPr>
              <a:t>TMPI </a:t>
            </a:r>
            <a:r>
              <a:rPr lang="zh-CN" altLang="en-US" sz="2100">
                <a:solidFill>
                  <a:srgbClr val="000000"/>
                </a:solidFill>
                <a:latin typeface="Microsoft YaHei" panose="020B0503020204020204" pitchFamily="34" charset="-122"/>
              </a:rPr>
              <a:t>对比：</a:t>
            </a:r>
            <a:r>
              <a:rPr lang="en-US" altLang="zh-CN" sz="2100">
                <a:solidFill>
                  <a:srgbClr val="000000"/>
                </a:solidFill>
                <a:latin typeface="Microsoft YaHei" panose="020B0503020204020204" pitchFamily="34" charset="-122"/>
              </a:rPr>
              <a:t>LDI </a:t>
            </a:r>
            <a:r>
              <a:rPr lang="zh-CN" altLang="en-US" sz="2100">
                <a:solidFill>
                  <a:srgbClr val="000000"/>
                </a:solidFill>
                <a:latin typeface="Microsoft YaHei" panose="020B0503020204020204" pitchFamily="34" charset="-122"/>
              </a:rPr>
              <a:t>稀疏但结构复杂，</a:t>
            </a:r>
            <a:r>
              <a:rPr lang="en-US" altLang="zh-CN" sz="2100">
                <a:solidFill>
                  <a:srgbClr val="000000"/>
                </a:solidFill>
                <a:latin typeface="Microsoft YaHei" panose="020B0503020204020204" pitchFamily="34" charset="-122"/>
              </a:rPr>
              <a:t>MPI </a:t>
            </a:r>
            <a:r>
              <a:rPr lang="zh-CN" altLang="en-US" sz="2100">
                <a:solidFill>
                  <a:srgbClr val="000000"/>
                </a:solidFill>
                <a:latin typeface="Microsoft YaHei" panose="020B0503020204020204" pitchFamily="34" charset="-122"/>
              </a:rPr>
              <a:t>规则但冗余，</a:t>
            </a:r>
            <a:r>
              <a:rPr lang="en-US" altLang="zh-CN" sz="2100">
                <a:solidFill>
                  <a:srgbClr val="000000"/>
                </a:solidFill>
                <a:latin typeface="Microsoft YaHei" panose="020B0503020204020204" pitchFamily="34" charset="-122"/>
              </a:rPr>
              <a:t>TMPI </a:t>
            </a:r>
            <a:r>
              <a:rPr lang="zh-CN" altLang="en-US" sz="2100">
                <a:solidFill>
                  <a:srgbClr val="000000"/>
                </a:solidFill>
                <a:latin typeface="Microsoft YaHei" panose="020B0503020204020204" pitchFamily="34" charset="-122"/>
              </a:rPr>
              <a:t>如何折中？</a:t>
            </a:r>
          </a:p>
          <a:p>
            <a:pPr>
              <a:spcAft>
                <a:spcPts val="800"/>
              </a:spcAft>
            </a:pPr>
            <a:r>
              <a:rPr lang="en-US" altLang="zh-CN" sz="210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100">
                <a:solidFill>
                  <a:srgbClr val="000000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2100">
                <a:solidFill>
                  <a:srgbClr val="000000"/>
                </a:solidFill>
                <a:latin typeface="Microsoft YaHei" panose="020B0503020204020204" pitchFamily="34" charset="-122"/>
              </a:rPr>
              <a:t>MINE </a:t>
            </a:r>
            <a:r>
              <a:rPr lang="zh-CN" altLang="en-US" sz="2100">
                <a:solidFill>
                  <a:srgbClr val="000000"/>
                </a:solidFill>
                <a:latin typeface="Microsoft YaHei" panose="020B0503020204020204" pitchFamily="34" charset="-122"/>
              </a:rPr>
              <a:t>对比：离散深度层和连续深度表示各适合什么场景？</a:t>
            </a:r>
          </a:p>
          <a:p>
            <a:pPr>
              <a:spcAft>
                <a:spcPts val="800"/>
              </a:spcAft>
            </a:pPr>
            <a:r>
              <a:rPr lang="en-US" altLang="zh-CN" sz="2100">
                <a:solidFill>
                  <a:srgbClr val="000000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100">
                <a:solidFill>
                  <a:srgbClr val="000000"/>
                </a:solidFill>
                <a:latin typeface="Microsoft YaHei" panose="020B0503020204020204" pitchFamily="34" charset="-122"/>
              </a:rPr>
              <a:t>后续继续把 </a:t>
            </a:r>
            <a:r>
              <a:rPr lang="en-US" altLang="zh-CN" sz="2100">
                <a:solidFill>
                  <a:srgbClr val="000000"/>
                </a:solidFill>
                <a:latin typeface="Microsoft YaHei" panose="020B0503020204020204" pitchFamily="34" charset="-122"/>
              </a:rPr>
              <a:t>04-06 </a:t>
            </a:r>
            <a:r>
              <a:rPr lang="zh-CN" altLang="en-US" sz="2100">
                <a:solidFill>
                  <a:srgbClr val="000000"/>
                </a:solidFill>
                <a:latin typeface="Microsoft YaHei" panose="020B0503020204020204" pitchFamily="34" charset="-122"/>
              </a:rPr>
              <a:t>论文补进同一套汇报材料。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60580D1-0807-C32E-2160-C5D581A953BC}"/>
              </a:ext>
            </a:extLst>
          </p:cNvPr>
          <p:cNvSpPr/>
          <p:nvPr/>
        </p:nvSpPr>
        <p:spPr>
          <a:xfrm>
            <a:off x="2286000" y="5778500"/>
            <a:ext cx="10795000" cy="13970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076CCAF-B00A-1064-E593-74ADB7AF4835}"/>
              </a:ext>
            </a:extLst>
          </p:cNvPr>
          <p:cNvSpPr txBox="1"/>
          <p:nvPr/>
        </p:nvSpPr>
        <p:spPr>
          <a:xfrm>
            <a:off x="2438400" y="5905500"/>
            <a:ext cx="104902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Microsoft YaHei" panose="020B0503020204020204" pitchFamily="34" charset="-122"/>
              </a:rPr>
              <a:t>当前阶段小结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1ACAC6-9183-E6FB-0BF8-20D1A1AEB427}"/>
              </a:ext>
            </a:extLst>
          </p:cNvPr>
          <p:cNvSpPr txBox="1"/>
          <p:nvPr/>
        </p:nvSpPr>
        <p:spPr>
          <a:xfrm>
            <a:off x="2438400" y="6337300"/>
            <a:ext cx="10490200" cy="33342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500">
                <a:solidFill>
                  <a:srgbClr val="000000"/>
                </a:solidFill>
                <a:latin typeface="Microsoft YaHei" panose="020B0503020204020204" pitchFamily="34" charset="-122"/>
              </a:rPr>
              <a:t>基础：</a:t>
            </a:r>
            <a:r>
              <a:rPr lang="en-US" altLang="zh-CN" sz="1500">
                <a:solidFill>
                  <a:srgbClr val="000000"/>
                </a:solidFill>
                <a:latin typeface="Microsoft YaHei" panose="020B0503020204020204" pitchFamily="34" charset="-122"/>
              </a:rPr>
              <a:t>NeRF/3DGS → </a:t>
            </a:r>
            <a:r>
              <a:rPr lang="zh-CN" altLang="en-US" sz="1500">
                <a:solidFill>
                  <a:srgbClr val="000000"/>
                </a:solidFill>
                <a:latin typeface="Microsoft YaHei" panose="020B0503020204020204" pitchFamily="34" charset="-122"/>
              </a:rPr>
              <a:t>单图浅 </a:t>
            </a:r>
            <a:r>
              <a:rPr lang="en-US" altLang="zh-CN" sz="1500">
                <a:solidFill>
                  <a:srgbClr val="000000"/>
                </a:solidFill>
                <a:latin typeface="Microsoft YaHei" panose="020B0503020204020204" pitchFamily="34" charset="-122"/>
              </a:rPr>
              <a:t>3D</a:t>
            </a:r>
            <a:r>
              <a:rPr lang="zh-CN" altLang="en-US" sz="1500">
                <a:solidFill>
                  <a:srgbClr val="000000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500">
                <a:solidFill>
                  <a:srgbClr val="000000"/>
                </a:solidFill>
                <a:latin typeface="Microsoft YaHei" panose="020B0503020204020204" pitchFamily="34" charset="-122"/>
              </a:rPr>
              <a:t>3D Photography → </a:t>
            </a:r>
            <a:r>
              <a:rPr lang="zh-CN" altLang="en-US" sz="1500">
                <a:solidFill>
                  <a:srgbClr val="000000"/>
                </a:solidFill>
                <a:latin typeface="Microsoft YaHei" panose="020B0503020204020204" pitchFamily="34" charset="-122"/>
              </a:rPr>
              <a:t>下一步：</a:t>
            </a:r>
            <a:r>
              <a:rPr lang="en-US" altLang="zh-CN" sz="1500">
                <a:solidFill>
                  <a:srgbClr val="000000"/>
                </a:solidFill>
                <a:latin typeface="Microsoft YaHei" panose="020B0503020204020204" pitchFamily="34" charset="-122"/>
              </a:rPr>
              <a:t>SLIDE/TMPI/MINE</a:t>
            </a:r>
            <a:endParaRPr lang="zh-CN" altLang="en-US" sz="150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8545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1318</Words>
  <Application>Microsoft Office PowerPoint</Application>
  <PresentationFormat>自定义</PresentationFormat>
  <Paragraphs>124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辰洋 孟</dc:creator>
  <cp:lastModifiedBy>辰洋 孟</cp:lastModifiedBy>
  <cp:revision>1</cp:revision>
  <dcterms:created xsi:type="dcterms:W3CDTF">2026-07-09T13:41:44Z</dcterms:created>
  <dcterms:modified xsi:type="dcterms:W3CDTF">2026-07-09T14:04:14Z</dcterms:modified>
</cp:coreProperties>
</file>