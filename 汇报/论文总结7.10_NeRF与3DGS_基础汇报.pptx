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6256000" cy="9144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2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AF7787-CA94-F7C4-1152-8513482B6F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0406FD3-335E-9C4D-7B59-01888E01A5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5C9680-FC2B-3C2D-2DB2-351F1A807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DA503-D589-4E82-B458-E7DC25413A33}" type="datetimeFigureOut">
              <a:rPr lang="zh-CN" altLang="en-US" smtClean="0"/>
              <a:t>2026-07-09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1842DD-465D-6F49-A534-1C974247C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BED4081-D2EF-96C7-979F-DF3FE3E7D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697AF-3037-4C2E-A9C3-AB251DC9E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6721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9CE32F-2D02-DF73-BB1D-5D2E6DEE6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F57ECA-5E9D-D18D-FD51-66B592850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BFE5CC-2E62-CBBC-2BCE-8C56738F3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DA503-D589-4E82-B458-E7DC25413A33}" type="datetimeFigureOut">
              <a:rPr lang="zh-CN" altLang="en-US" smtClean="0"/>
              <a:t>2026-07-09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EE4EC10-AFD2-8410-844E-01463D28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B34F6B-3761-9EFD-C820-65FD470B6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697AF-3037-4C2E-A9C3-AB251DC9E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4560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648A73-DA06-0068-198E-9E834EA59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9133" y="2279653"/>
            <a:ext cx="14020800" cy="380364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8D450A-758A-AEFD-13FD-8FBAA445E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9133" y="6119286"/>
            <a:ext cx="14020800" cy="200024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379F88-B040-C596-49BC-E69C91438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DA503-D589-4E82-B458-E7DC25413A33}" type="datetimeFigureOut">
              <a:rPr lang="zh-CN" altLang="en-US" smtClean="0"/>
              <a:t>2026-07-09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69E300-40EC-7C6D-F719-6193E72DF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2E2091-E02C-BF9D-161B-104B14EE7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697AF-3037-4C2E-A9C3-AB251DC9E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30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F1D0DB-3226-2719-06A9-27B247E81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8AD08BF-9B6B-1EAF-A174-6C0E28BE9D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ED561D-2BE1-885F-F114-21258FAB05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0F8AD12-2A40-7A62-EC48-41D59B2A7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DA503-D589-4E82-B458-E7DC25413A33}" type="datetimeFigureOut">
              <a:rPr lang="zh-CN" altLang="en-US" smtClean="0"/>
              <a:t>2026-07-09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2E9DB6-A3AF-ED35-5663-07D46EC69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F2B814E-55D2-AFB1-8CCB-4F6C9BB2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697AF-3037-4C2E-A9C3-AB251DC9E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3823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BDC738-1F11-35A3-61C8-3377DBCFE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7" y="486836"/>
            <a:ext cx="14020800" cy="176741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B295B9E-413F-6162-5ABF-352A33E99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9719" y="2241551"/>
            <a:ext cx="6877049" cy="109854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A48F20B-C493-0F2A-F939-77DF63CD49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9719" y="3340100"/>
            <a:ext cx="6877049" cy="49127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B9A16B6-2BA8-1DF3-A8AF-C461F8D8D2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29601" y="2241551"/>
            <a:ext cx="6910917" cy="109854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E3A52A0-60CD-B077-70C4-1E4CC5482E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29601" y="3340100"/>
            <a:ext cx="6910917" cy="49127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F6F789-432A-5712-5A5D-FA1D65345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DA503-D589-4E82-B458-E7DC25413A33}" type="datetimeFigureOut">
              <a:rPr lang="zh-CN" altLang="en-US" smtClean="0"/>
              <a:t>2026-07-09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B041FBA-DE17-14FE-1381-443D3077A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BCAB276-5A41-6E35-E1C2-E96050D9A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697AF-3037-4C2E-A9C3-AB251DC9E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099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A36D86-4575-6136-2346-F31B47359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9E20182-7070-B012-59A4-35CD9C590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DA503-D589-4E82-B458-E7DC25413A33}" type="datetimeFigureOut">
              <a:rPr lang="zh-CN" altLang="en-US" smtClean="0"/>
              <a:t>2026-07-09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A924D98-C4CC-10AD-47CD-F2FB65797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C6C53CB-E78C-160F-E82C-170633E3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697AF-3037-4C2E-A9C3-AB251DC9E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5962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A6F44F5-28DA-80BF-4AAD-F76F750AD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DA503-D589-4E82-B458-E7DC25413A33}" type="datetimeFigureOut">
              <a:rPr lang="zh-CN" altLang="en-US" smtClean="0"/>
              <a:t>2026-07-09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38C81C7-57C6-9D31-BF03-2943C0967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47826A0-205A-9E00-71E6-88E7319DA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697AF-3037-4C2E-A9C3-AB251DC9E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5682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01DE74-C522-2250-E99E-C6FFA1C6B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9" y="609600"/>
            <a:ext cx="5242983" cy="2133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D937B99-75A6-0D6B-39D8-46A0F15A8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917" y="1316569"/>
            <a:ext cx="8229600" cy="649816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E6B2F68-D847-AE72-DB39-1A9DA8BFF9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9719" y="2743200"/>
            <a:ext cx="5242983" cy="508211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DD4F96-21BA-9AB6-D628-C84BFAC26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DA503-D589-4E82-B458-E7DC25413A33}" type="datetimeFigureOut">
              <a:rPr lang="zh-CN" altLang="en-US" smtClean="0"/>
              <a:t>2026-07-09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05D645-CA57-08F0-6A1B-B15AA3E4D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FE0A4CD-01DE-90FE-6C32-5783E46F1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697AF-3037-4C2E-A9C3-AB251DC9E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4827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ED0CBD-5D86-B78B-42AF-4E9FFDC88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9" y="609600"/>
            <a:ext cx="5242983" cy="2133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421DB7C-B09C-ED77-DF13-9A01C4D80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910917" y="1316569"/>
            <a:ext cx="8229600" cy="649816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632962A-F2B8-640D-8EAF-5C6B2D20D4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9719" y="2743200"/>
            <a:ext cx="5242983" cy="508211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59A5FCC-B43F-60AE-6320-197E84332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DA503-D589-4E82-B458-E7DC25413A33}" type="datetimeFigureOut">
              <a:rPr lang="zh-CN" altLang="en-US" smtClean="0"/>
              <a:t>2026-07-09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238E828-734D-0B90-6E25-7185FDFBB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A657073-0B4E-E01B-452B-60A5D7A3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697AF-3037-4C2E-A9C3-AB251DC9E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099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4FA64E-DF9D-6923-A233-43D2B8DE5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A18C994-E2F0-FAF6-9A51-004A2667CC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A0ED902-13A8-98B5-E699-8A659BCFF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DA503-D589-4E82-B458-E7DC25413A33}" type="datetimeFigureOut">
              <a:rPr lang="zh-CN" altLang="en-US" smtClean="0"/>
              <a:t>2026-07-09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0FCAA7-5ECF-3F6C-B7EA-BD1FE2071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E8D1730-A98D-9759-D661-D5CB1D9A7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697AF-3037-4C2E-A9C3-AB251DC9E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184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D72307B-3DD5-DDE0-769E-F39E52ABA6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FADB39D-D878-52CC-BDF0-1408641FA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BD0F3FF-8495-119A-F224-0B803E14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DA503-D589-4E82-B458-E7DC25413A33}" type="datetimeFigureOut">
              <a:rPr lang="zh-CN" altLang="en-US" smtClean="0"/>
              <a:t>2026-07-09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6CB0D5-88A5-779A-231F-B3F274D60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FC5F93-1E87-62C8-4F74-E67437CC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697AF-3037-4C2E-A9C3-AB251DC9E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7127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DEA4C2F-F035-826B-08C3-F403FF89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6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CF1BC6-6A82-5B83-551D-B8B303228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DAADB3-4A9C-6234-5E03-C93305DEE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7600" y="8475136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DA503-D589-4E82-B458-E7DC25413A33}" type="datetimeFigureOut">
              <a:rPr lang="zh-CN" altLang="en-US" smtClean="0"/>
              <a:t>2026-07-09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C48CCC-CBCA-007A-2AC9-E2115BB89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84800" y="8475136"/>
            <a:ext cx="5486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EE7077-4D8B-1BA0-AD03-BAD0FAE29A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0800" y="8475136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9697AF-3037-4C2E-A9C3-AB251DC9E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3211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7965EC0-59F5-3507-5980-8C4CB2A87A40}"/>
              </a:ext>
            </a:extLst>
          </p:cNvPr>
          <p:cNvSpPr txBox="1"/>
          <p:nvPr/>
        </p:nvSpPr>
        <p:spPr>
          <a:xfrm>
            <a:off x="965200" y="1422400"/>
            <a:ext cx="12446000" cy="74892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4200" b="1">
                <a:solidFill>
                  <a:srgbClr val="000000"/>
                </a:solidFill>
                <a:latin typeface="Microsoft YaHei" panose="020B0503020204020204" pitchFamily="34" charset="-122"/>
              </a:rPr>
              <a:t>NeRF </a:t>
            </a:r>
            <a:r>
              <a:rPr lang="zh-CN" altLang="en-US" sz="4200" b="1">
                <a:solidFill>
                  <a:srgbClr val="000000"/>
                </a:solidFill>
                <a:latin typeface="Microsoft YaHei" panose="020B0503020204020204" pitchFamily="34" charset="-122"/>
              </a:rPr>
              <a:t>与 </a:t>
            </a:r>
            <a:r>
              <a:rPr lang="en-US" altLang="zh-CN" sz="4200" b="1">
                <a:solidFill>
                  <a:srgbClr val="000000"/>
                </a:solidFill>
                <a:latin typeface="Microsoft YaHei" panose="020B0503020204020204" pitchFamily="34" charset="-122"/>
              </a:rPr>
              <a:t>3D Gaussian Splatting</a:t>
            </a:r>
            <a:endParaRPr lang="zh-CN" altLang="en-US" sz="4200" b="1">
              <a:solidFill>
                <a:srgbClr val="00000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60F82EB-4519-4200-ADA6-227DF859ED46}"/>
              </a:ext>
            </a:extLst>
          </p:cNvPr>
          <p:cNvSpPr txBox="1"/>
          <p:nvPr/>
        </p:nvSpPr>
        <p:spPr>
          <a:xfrm>
            <a:off x="990600" y="2476500"/>
            <a:ext cx="10414000" cy="47192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400">
                <a:solidFill>
                  <a:srgbClr val="000000"/>
                </a:solidFill>
                <a:latin typeface="Microsoft YaHei" panose="020B0503020204020204" pitchFamily="34" charset="-122"/>
              </a:rPr>
              <a:t>2D </a:t>
            </a:r>
            <a:r>
              <a:rPr lang="zh-CN" altLang="en-US" sz="2400">
                <a:solidFill>
                  <a:srgbClr val="000000"/>
                </a:solidFill>
                <a:latin typeface="Microsoft YaHei" panose="020B0503020204020204" pitchFamily="34" charset="-122"/>
              </a:rPr>
              <a:t>转浅 </a:t>
            </a:r>
            <a:r>
              <a:rPr lang="en-US" altLang="zh-CN" sz="2400">
                <a:solidFill>
                  <a:srgbClr val="000000"/>
                </a:solidFill>
                <a:latin typeface="Microsoft YaHei" panose="020B0503020204020204" pitchFamily="34" charset="-122"/>
              </a:rPr>
              <a:t>3D </a:t>
            </a:r>
            <a:r>
              <a:rPr lang="zh-CN" altLang="en-US" sz="2400">
                <a:solidFill>
                  <a:srgbClr val="000000"/>
                </a:solidFill>
                <a:latin typeface="Microsoft YaHei" panose="020B0503020204020204" pitchFamily="34" charset="-122"/>
              </a:rPr>
              <a:t>项目 </a:t>
            </a:r>
            <a:r>
              <a:rPr lang="en-US" altLang="zh-CN" sz="2400">
                <a:solidFill>
                  <a:srgbClr val="000000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2400">
                <a:solidFill>
                  <a:srgbClr val="000000"/>
                </a:solidFill>
                <a:latin typeface="Microsoft YaHei" panose="020B0503020204020204" pitchFamily="34" charset="-122"/>
              </a:rPr>
              <a:t>基础必读论文学习汇报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3BB3CA6-8D95-279F-6220-4C5AD39E3EB2}"/>
              </a:ext>
            </a:extLst>
          </p:cNvPr>
          <p:cNvSpPr txBox="1"/>
          <p:nvPr/>
        </p:nvSpPr>
        <p:spPr>
          <a:xfrm>
            <a:off x="1016000" y="3365500"/>
            <a:ext cx="12446000" cy="441146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2200">
                <a:solidFill>
                  <a:srgbClr val="808080"/>
                </a:solidFill>
                <a:latin typeface="Microsoft YaHei" panose="020B0503020204020204" pitchFamily="34" charset="-122"/>
              </a:rPr>
              <a:t>汇报重点：为什么这两篇是后续 </a:t>
            </a:r>
            <a:r>
              <a:rPr lang="en-US" altLang="zh-CN" sz="2200">
                <a:solidFill>
                  <a:srgbClr val="808080"/>
                </a:solidFill>
                <a:latin typeface="Microsoft YaHei" panose="020B0503020204020204" pitchFamily="34" charset="-122"/>
              </a:rPr>
              <a:t>3D Photo</a:t>
            </a:r>
            <a:r>
              <a:rPr lang="zh-CN" altLang="en-US" sz="2200">
                <a:solidFill>
                  <a:srgbClr val="808080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2200">
                <a:solidFill>
                  <a:srgbClr val="808080"/>
                </a:solidFill>
                <a:latin typeface="Microsoft YaHei" panose="020B0503020204020204" pitchFamily="34" charset="-122"/>
              </a:rPr>
              <a:t>TMPI </a:t>
            </a:r>
            <a:r>
              <a:rPr lang="zh-CN" altLang="en-US" sz="2200">
                <a:solidFill>
                  <a:srgbClr val="808080"/>
                </a:solidFill>
                <a:latin typeface="Microsoft YaHei" panose="020B0503020204020204" pitchFamily="34" charset="-122"/>
              </a:rPr>
              <a:t>与前馈 </a:t>
            </a:r>
            <a:r>
              <a:rPr lang="en-US" altLang="zh-CN" sz="2200">
                <a:solidFill>
                  <a:srgbClr val="808080"/>
                </a:solidFill>
                <a:latin typeface="Microsoft YaHei" panose="020B0503020204020204" pitchFamily="34" charset="-122"/>
              </a:rPr>
              <a:t>3DGS </a:t>
            </a:r>
            <a:r>
              <a:rPr lang="zh-CN" altLang="en-US" sz="2200">
                <a:solidFill>
                  <a:srgbClr val="808080"/>
                </a:solidFill>
                <a:latin typeface="Microsoft YaHei" panose="020B0503020204020204" pitchFamily="34" charset="-122"/>
              </a:rPr>
              <a:t>的基础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9C54BFB-E838-CFE5-8EA2-FA6C69D4F76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4889500"/>
            <a:ext cx="5969000" cy="17145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F55F56E9-1547-834F-BBED-C088722DDB7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4445000"/>
            <a:ext cx="6604000" cy="15875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EBEBF037-5F96-BB85-8956-2B00CF5B70F8}"/>
              </a:ext>
            </a:extLst>
          </p:cNvPr>
          <p:cNvSpPr txBox="1"/>
          <p:nvPr/>
        </p:nvSpPr>
        <p:spPr>
          <a:xfrm>
            <a:off x="1016000" y="7937500"/>
            <a:ext cx="12446000" cy="37959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>
                <a:solidFill>
                  <a:srgbClr val="808080"/>
                </a:solidFill>
                <a:latin typeface="Microsoft YaHei" panose="020B0503020204020204" pitchFamily="34" charset="-122"/>
              </a:rPr>
              <a:t>后续 </a:t>
            </a:r>
            <a:r>
              <a:rPr lang="en-US" altLang="zh-CN">
                <a:solidFill>
                  <a:srgbClr val="808080"/>
                </a:solidFill>
                <a:latin typeface="Microsoft YaHei" panose="020B0503020204020204" pitchFamily="34" charset="-122"/>
              </a:rPr>
              <a:t>03-06 </a:t>
            </a:r>
            <a:r>
              <a:rPr lang="zh-CN" altLang="en-US">
                <a:solidFill>
                  <a:srgbClr val="808080"/>
                </a:solidFill>
                <a:latin typeface="Microsoft YaHei" panose="020B0503020204020204" pitchFamily="34" charset="-122"/>
              </a:rPr>
              <a:t>论文读完后，可继续按同一模板补充到本汇报中。</a:t>
            </a:r>
          </a:p>
        </p:txBody>
      </p:sp>
    </p:spTree>
    <p:extLst>
      <p:ext uri="{BB962C8B-B14F-4D97-AF65-F5344CB8AC3E}">
        <p14:creationId xmlns:p14="http://schemas.microsoft.com/office/powerpoint/2010/main" val="1184796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0C2201F-7E43-B297-51CF-FEC1A865324A}"/>
              </a:ext>
            </a:extLst>
          </p:cNvPr>
          <p:cNvSpPr txBox="1"/>
          <p:nvPr/>
        </p:nvSpPr>
        <p:spPr>
          <a:xfrm>
            <a:off x="406400" y="355600"/>
            <a:ext cx="2413000" cy="47192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2400" b="1">
                <a:solidFill>
                  <a:srgbClr val="C00000"/>
                </a:solidFill>
                <a:latin typeface="Microsoft YaHei" panose="020B0503020204020204" pitchFamily="34" charset="-122"/>
              </a:rPr>
              <a:t>背景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D02C68-B367-0A86-3859-9A383BB608FC}"/>
              </a:ext>
            </a:extLst>
          </p:cNvPr>
          <p:cNvSpPr/>
          <p:nvPr/>
        </p:nvSpPr>
        <p:spPr>
          <a:xfrm>
            <a:off x="406400" y="965200"/>
            <a:ext cx="1168400" cy="50800"/>
          </a:xfrm>
          <a:prstGeom prst="rect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FB91FFA-47C5-6F09-34FB-4E7A0A258E98}"/>
              </a:ext>
            </a:extLst>
          </p:cNvPr>
          <p:cNvSpPr txBox="1"/>
          <p:nvPr/>
        </p:nvSpPr>
        <p:spPr>
          <a:xfrm>
            <a:off x="3111500" y="355600"/>
            <a:ext cx="12192000" cy="52835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两篇基础论文先建立新视角合成的共同语言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7F5E90-B2AF-05EE-4DDA-BF52AEAB6DEE}"/>
              </a:ext>
            </a:extLst>
          </p:cNvPr>
          <p:cNvSpPr txBox="1"/>
          <p:nvPr/>
        </p:nvSpPr>
        <p:spPr>
          <a:xfrm>
            <a:off x="1016000" y="1968500"/>
            <a:ext cx="9017000" cy="2000548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altLang="zh-CN" sz="2200">
                <a:solidFill>
                  <a:srgbClr val="000000"/>
                </a:solidFill>
                <a:latin typeface="Microsoft YaHei" panose="020B0503020204020204" pitchFamily="34" charset="-122"/>
              </a:rPr>
              <a:t>• NeRF </a:t>
            </a:r>
            <a:r>
              <a:rPr lang="zh-CN" altLang="en-US" sz="2200">
                <a:solidFill>
                  <a:srgbClr val="000000"/>
                </a:solidFill>
                <a:latin typeface="Microsoft YaHei" panose="020B0503020204020204" pitchFamily="34" charset="-122"/>
              </a:rPr>
              <a:t>说明：可以用连续神经场景表示来合成新视角。</a:t>
            </a:r>
          </a:p>
          <a:p>
            <a:pPr>
              <a:spcAft>
                <a:spcPts val="800"/>
              </a:spcAft>
            </a:pPr>
            <a:r>
              <a:rPr lang="en-US" altLang="zh-CN" sz="2200">
                <a:solidFill>
                  <a:srgbClr val="000000"/>
                </a:solidFill>
                <a:latin typeface="Microsoft YaHei" panose="020B0503020204020204" pitchFamily="34" charset="-122"/>
              </a:rPr>
              <a:t>• 3DGS </a:t>
            </a:r>
            <a:r>
              <a:rPr lang="zh-CN" altLang="en-US" sz="2200">
                <a:solidFill>
                  <a:srgbClr val="000000"/>
                </a:solidFill>
                <a:latin typeface="Microsoft YaHei" panose="020B0503020204020204" pitchFamily="34" charset="-122"/>
              </a:rPr>
              <a:t>说明：把场景改成显式高斯后，可以把高质量新视角渲染推进到实时。</a:t>
            </a:r>
          </a:p>
          <a:p>
            <a:pPr>
              <a:spcAft>
                <a:spcPts val="800"/>
              </a:spcAft>
            </a:pPr>
            <a:r>
              <a:rPr lang="en-US" altLang="zh-CN" sz="2200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 sz="2200">
                <a:solidFill>
                  <a:srgbClr val="000000"/>
                </a:solidFill>
                <a:latin typeface="Microsoft YaHei" panose="020B0503020204020204" pitchFamily="34" charset="-122"/>
              </a:rPr>
              <a:t>它们都需要多图、相机位姿和逐场景训练；这正是单图浅 </a:t>
            </a:r>
            <a:r>
              <a:rPr lang="en-US" altLang="zh-CN" sz="2200">
                <a:solidFill>
                  <a:srgbClr val="000000"/>
                </a:solidFill>
                <a:latin typeface="Microsoft YaHei" panose="020B0503020204020204" pitchFamily="34" charset="-122"/>
              </a:rPr>
              <a:t>3D </a:t>
            </a:r>
            <a:r>
              <a:rPr lang="zh-CN" altLang="en-US" sz="2200">
                <a:solidFill>
                  <a:srgbClr val="000000"/>
                </a:solidFill>
                <a:latin typeface="Microsoft YaHei" panose="020B0503020204020204" pitchFamily="34" charset="-122"/>
              </a:rPr>
              <a:t>需要绕开的限制。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A573EF-851B-4674-00D9-6CB2C7334D8F}"/>
              </a:ext>
            </a:extLst>
          </p:cNvPr>
          <p:cNvSpPr/>
          <p:nvPr/>
        </p:nvSpPr>
        <p:spPr>
          <a:xfrm>
            <a:off x="10795000" y="1905000"/>
            <a:ext cx="4064000" cy="15240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F969F7B-8177-B924-7F8C-95016C7DFABA}"/>
              </a:ext>
            </a:extLst>
          </p:cNvPr>
          <p:cNvSpPr txBox="1"/>
          <p:nvPr/>
        </p:nvSpPr>
        <p:spPr>
          <a:xfrm>
            <a:off x="10947400" y="2032000"/>
            <a:ext cx="3759200" cy="37959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b="1">
                <a:solidFill>
                  <a:srgbClr val="C00000"/>
                </a:solidFill>
                <a:latin typeface="Microsoft YaHei" panose="020B0503020204020204" pitchFamily="34" charset="-122"/>
              </a:rPr>
              <a:t>本课题目标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B55ED55-5F59-E2FE-2C89-798EA5D8F8C0}"/>
              </a:ext>
            </a:extLst>
          </p:cNvPr>
          <p:cNvSpPr txBox="1"/>
          <p:nvPr/>
        </p:nvSpPr>
        <p:spPr>
          <a:xfrm>
            <a:off x="10947400" y="2463800"/>
            <a:ext cx="3759200" cy="564257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单张 </a:t>
            </a:r>
            <a:r>
              <a:rPr lang="en-US" altLang="zh-CN" sz="1500">
                <a:solidFill>
                  <a:srgbClr val="000000"/>
                </a:solidFill>
                <a:latin typeface="Microsoft YaHei" panose="020B0503020204020204" pitchFamily="34" charset="-122"/>
              </a:rPr>
              <a:t>2D </a:t>
            </a:r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图像 → 深度</a:t>
            </a:r>
            <a:r>
              <a:rPr lang="en-US" altLang="zh-CN" sz="1500">
                <a:solidFill>
                  <a:srgbClr val="000000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分层表达 → 小幅新视角交互。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C7F044-9634-D5E7-857E-9A60E4B358F3}"/>
              </a:ext>
            </a:extLst>
          </p:cNvPr>
          <p:cNvSpPr/>
          <p:nvPr/>
        </p:nvSpPr>
        <p:spPr>
          <a:xfrm>
            <a:off x="10795000" y="3937000"/>
            <a:ext cx="4064000" cy="16510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16AD03F-F075-62D3-06C7-779897A5B8F4}"/>
              </a:ext>
            </a:extLst>
          </p:cNvPr>
          <p:cNvSpPr txBox="1"/>
          <p:nvPr/>
        </p:nvSpPr>
        <p:spPr>
          <a:xfrm>
            <a:off x="10947400" y="4064000"/>
            <a:ext cx="3759200" cy="37959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b="1">
                <a:solidFill>
                  <a:srgbClr val="C00000"/>
                </a:solidFill>
                <a:latin typeface="Microsoft YaHei" panose="020B0503020204020204" pitchFamily="34" charset="-122"/>
              </a:rPr>
              <a:t>后续阅读方向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E90445D-92A1-9DC2-D0AF-FAF9EE0F8377}"/>
              </a:ext>
            </a:extLst>
          </p:cNvPr>
          <p:cNvSpPr txBox="1"/>
          <p:nvPr/>
        </p:nvSpPr>
        <p:spPr>
          <a:xfrm>
            <a:off x="10947400" y="4495800"/>
            <a:ext cx="3759200" cy="564257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1500">
                <a:solidFill>
                  <a:srgbClr val="000000"/>
                </a:solidFill>
                <a:latin typeface="Microsoft YaHei" panose="020B0503020204020204" pitchFamily="34" charset="-122"/>
              </a:rPr>
              <a:t>03-06 </a:t>
            </a:r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将重点补上单图 </a:t>
            </a:r>
            <a:r>
              <a:rPr lang="en-US" altLang="zh-CN" sz="1500">
                <a:solidFill>
                  <a:srgbClr val="000000"/>
                </a:solidFill>
                <a:latin typeface="Microsoft YaHei" panose="020B0503020204020204" pitchFamily="34" charset="-122"/>
              </a:rPr>
              <a:t>3D Photo</a:t>
            </a:r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500">
                <a:solidFill>
                  <a:srgbClr val="000000"/>
                </a:solidFill>
                <a:latin typeface="Microsoft YaHei" panose="020B0503020204020204" pitchFamily="34" charset="-122"/>
              </a:rPr>
              <a:t>SLIDE</a:t>
            </a:r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500">
                <a:solidFill>
                  <a:srgbClr val="000000"/>
                </a:solidFill>
                <a:latin typeface="Microsoft YaHei" panose="020B0503020204020204" pitchFamily="34" charset="-122"/>
              </a:rPr>
              <a:t>TMPI</a:t>
            </a:r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500">
                <a:solidFill>
                  <a:srgbClr val="000000"/>
                </a:solidFill>
                <a:latin typeface="Microsoft YaHei" panose="020B0503020204020204" pitchFamily="34" charset="-122"/>
              </a:rPr>
              <a:t>MINE</a:t>
            </a:r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977842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5B58B8-22B8-3931-2383-EE1624AA043B}"/>
              </a:ext>
            </a:extLst>
          </p:cNvPr>
          <p:cNvSpPr txBox="1"/>
          <p:nvPr/>
        </p:nvSpPr>
        <p:spPr>
          <a:xfrm>
            <a:off x="406400" y="355600"/>
            <a:ext cx="2413000" cy="47192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400" b="1">
                <a:solidFill>
                  <a:srgbClr val="C00000"/>
                </a:solidFill>
                <a:latin typeface="Microsoft YaHei" panose="020B0503020204020204" pitchFamily="34" charset="-122"/>
              </a:rPr>
              <a:t>NeRF</a:t>
            </a:r>
            <a:endParaRPr lang="zh-CN" altLang="en-US" sz="2400" b="1">
              <a:solidFill>
                <a:srgbClr val="C0000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F972EB-DE2F-5B7C-6786-1A3ABC29F005}"/>
              </a:ext>
            </a:extLst>
          </p:cNvPr>
          <p:cNvSpPr/>
          <p:nvPr/>
        </p:nvSpPr>
        <p:spPr>
          <a:xfrm>
            <a:off x="406400" y="965200"/>
            <a:ext cx="1168400" cy="50800"/>
          </a:xfrm>
          <a:prstGeom prst="rect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C30A90E-B118-45B4-FE1C-712B7F965319}"/>
              </a:ext>
            </a:extLst>
          </p:cNvPr>
          <p:cNvSpPr txBox="1"/>
          <p:nvPr/>
        </p:nvSpPr>
        <p:spPr>
          <a:xfrm>
            <a:off x="3111500" y="355600"/>
            <a:ext cx="12192000" cy="52835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NeRF </a:t>
            </a:r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把一个场景编码进 </a:t>
            </a:r>
            <a:r>
              <a:rPr lang="en-US" altLang="zh-CN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MLP</a:t>
            </a:r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，用体渲染生成新视角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FC21697-2FF9-E59F-5B62-CC71F147775B}"/>
              </a:ext>
            </a:extLst>
          </p:cNvPr>
          <p:cNvSpPr txBox="1"/>
          <p:nvPr/>
        </p:nvSpPr>
        <p:spPr>
          <a:xfrm>
            <a:off x="889000" y="1651000"/>
            <a:ext cx="7874000" cy="153888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输入：多张同一场景图片，以及每张图片的相机位姿。</a:t>
            </a:r>
          </a:p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输出：任意新相机位置下的图像。</a:t>
            </a:r>
          </a:p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核心问题：如何用紧凑、连续的方式表示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3D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场景，并保持高质量视角合成。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A2B0134-E729-02DC-3F8E-CA7384420F4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000" y="1524000"/>
            <a:ext cx="4572000" cy="22225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F4F943D-69DB-BA9C-45AA-C8D2F58D2AD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000" y="4508500"/>
            <a:ext cx="5969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23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5B66CE9-C9DF-B0A9-ED2F-112A6BBE0165}"/>
              </a:ext>
            </a:extLst>
          </p:cNvPr>
          <p:cNvSpPr txBox="1"/>
          <p:nvPr/>
        </p:nvSpPr>
        <p:spPr>
          <a:xfrm>
            <a:off x="406400" y="355600"/>
            <a:ext cx="2413000" cy="47192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400" b="1">
                <a:solidFill>
                  <a:srgbClr val="C00000"/>
                </a:solidFill>
                <a:latin typeface="Microsoft YaHei" panose="020B0503020204020204" pitchFamily="34" charset="-122"/>
              </a:rPr>
              <a:t>Method</a:t>
            </a:r>
            <a:endParaRPr lang="zh-CN" altLang="en-US" sz="2400" b="1">
              <a:solidFill>
                <a:srgbClr val="C0000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6F63FE9-A498-FEB7-FFA0-47CE668AE611}"/>
              </a:ext>
            </a:extLst>
          </p:cNvPr>
          <p:cNvSpPr/>
          <p:nvPr/>
        </p:nvSpPr>
        <p:spPr>
          <a:xfrm>
            <a:off x="406400" y="965200"/>
            <a:ext cx="1168400" cy="50800"/>
          </a:xfrm>
          <a:prstGeom prst="rect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F7A4B6E-7BCC-4121-5DC9-72F7A477A0A1}"/>
              </a:ext>
            </a:extLst>
          </p:cNvPr>
          <p:cNvSpPr txBox="1"/>
          <p:nvPr/>
        </p:nvSpPr>
        <p:spPr>
          <a:xfrm>
            <a:off x="3111500" y="355600"/>
            <a:ext cx="12192000" cy="52835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NeRF </a:t>
            </a:r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的关键是采样空间点，再沿光线透明叠加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07D217B-A784-C8DB-70CE-BC695D9E3FD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00" y="1714500"/>
            <a:ext cx="8255000" cy="29210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FE170BD5-53BD-B8F6-E1A4-E70C62F7A8E3}"/>
              </a:ext>
            </a:extLst>
          </p:cNvPr>
          <p:cNvSpPr/>
          <p:nvPr/>
        </p:nvSpPr>
        <p:spPr>
          <a:xfrm>
            <a:off x="9779000" y="1587500"/>
            <a:ext cx="4572000" cy="13970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4FDD0BD-BD86-9340-9AEB-C0102BC567AB}"/>
              </a:ext>
            </a:extLst>
          </p:cNvPr>
          <p:cNvSpPr txBox="1"/>
          <p:nvPr/>
        </p:nvSpPr>
        <p:spPr>
          <a:xfrm>
            <a:off x="9931400" y="1714500"/>
            <a:ext cx="4267200" cy="37959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b="1">
                <a:solidFill>
                  <a:srgbClr val="C00000"/>
                </a:solidFill>
                <a:latin typeface="Microsoft YaHei" panose="020B0503020204020204" pitchFamily="34" charset="-122"/>
              </a:rPr>
              <a:t>位置编码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A06C568-CD09-F03A-3D17-C59FF4062E23}"/>
              </a:ext>
            </a:extLst>
          </p:cNvPr>
          <p:cNvSpPr txBox="1"/>
          <p:nvPr/>
        </p:nvSpPr>
        <p:spPr>
          <a:xfrm>
            <a:off x="9931400" y="2146300"/>
            <a:ext cx="4267200" cy="564257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把坐标映射到多频率 </a:t>
            </a:r>
            <a:r>
              <a:rPr lang="en-US" altLang="zh-CN" sz="1500">
                <a:solidFill>
                  <a:srgbClr val="000000"/>
                </a:solidFill>
                <a:latin typeface="Microsoft YaHei" panose="020B0503020204020204" pitchFamily="34" charset="-122"/>
              </a:rPr>
              <a:t>sin/cos </a:t>
            </a:r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特征，帮助 </a:t>
            </a:r>
            <a:r>
              <a:rPr lang="en-US" altLang="zh-CN" sz="1500">
                <a:solidFill>
                  <a:srgbClr val="000000"/>
                </a:solidFill>
                <a:latin typeface="Microsoft YaHei" panose="020B0503020204020204" pitchFamily="34" charset="-122"/>
              </a:rPr>
              <a:t>MLP </a:t>
            </a:r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表达高频细节。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C4128A9-E83E-077F-8363-CF875D17082A}"/>
              </a:ext>
            </a:extLst>
          </p:cNvPr>
          <p:cNvSpPr/>
          <p:nvPr/>
        </p:nvSpPr>
        <p:spPr>
          <a:xfrm>
            <a:off x="9779000" y="3429000"/>
            <a:ext cx="4572000" cy="16510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5ECADBD-4137-CD97-DB8E-BD6ECA9272EB}"/>
              </a:ext>
            </a:extLst>
          </p:cNvPr>
          <p:cNvSpPr txBox="1"/>
          <p:nvPr/>
        </p:nvSpPr>
        <p:spPr>
          <a:xfrm>
            <a:off x="9931400" y="3556000"/>
            <a:ext cx="4267200" cy="37959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b="1">
                <a:solidFill>
                  <a:srgbClr val="C00000"/>
                </a:solidFill>
                <a:latin typeface="Microsoft YaHei" panose="020B0503020204020204" pitchFamily="34" charset="-122"/>
              </a:rPr>
              <a:t>体积渲染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92EEB7D-D414-DCDE-81C3-4AE214ACF1FC}"/>
              </a:ext>
            </a:extLst>
          </p:cNvPr>
          <p:cNvSpPr txBox="1"/>
          <p:nvPr/>
        </p:nvSpPr>
        <p:spPr>
          <a:xfrm>
            <a:off x="9931400" y="3987800"/>
            <a:ext cx="4267200" cy="564257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每条相机光线采样多个点，根据颜色、密度和透射率累积成一个像素。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AABF2FB-BFF1-E3D2-BD01-F50DE1E2FC31}"/>
              </a:ext>
            </a:extLst>
          </p:cNvPr>
          <p:cNvSpPr/>
          <p:nvPr/>
        </p:nvSpPr>
        <p:spPr>
          <a:xfrm>
            <a:off x="9779000" y="5524500"/>
            <a:ext cx="4572000" cy="15240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5ABF346-EE9F-B289-D16D-6B5919E41B9B}"/>
              </a:ext>
            </a:extLst>
          </p:cNvPr>
          <p:cNvSpPr txBox="1"/>
          <p:nvPr/>
        </p:nvSpPr>
        <p:spPr>
          <a:xfrm>
            <a:off x="9931400" y="5651500"/>
            <a:ext cx="4267200" cy="37959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b="1">
                <a:solidFill>
                  <a:srgbClr val="C00000"/>
                </a:solidFill>
                <a:latin typeface="Microsoft YaHei" panose="020B0503020204020204" pitchFamily="34" charset="-122"/>
              </a:rPr>
              <a:t>分层采样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0CE659C-A6A3-C788-A5E1-28F4457AF51B}"/>
              </a:ext>
            </a:extLst>
          </p:cNvPr>
          <p:cNvSpPr txBox="1"/>
          <p:nvPr/>
        </p:nvSpPr>
        <p:spPr>
          <a:xfrm>
            <a:off x="9931400" y="6083300"/>
            <a:ext cx="4267200" cy="564257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粗网络先定位可能有物体的位置，细网络把计算集中到高贡献区域。</a:t>
            </a:r>
          </a:p>
        </p:txBody>
      </p:sp>
    </p:spTree>
    <p:extLst>
      <p:ext uri="{BB962C8B-B14F-4D97-AF65-F5344CB8AC3E}">
        <p14:creationId xmlns:p14="http://schemas.microsoft.com/office/powerpoint/2010/main" val="2528850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B8812A9-D274-A7B6-E103-70C0BD353E47}"/>
              </a:ext>
            </a:extLst>
          </p:cNvPr>
          <p:cNvSpPr txBox="1"/>
          <p:nvPr/>
        </p:nvSpPr>
        <p:spPr>
          <a:xfrm>
            <a:off x="406400" y="355600"/>
            <a:ext cx="2413000" cy="47192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400" b="1">
                <a:solidFill>
                  <a:srgbClr val="C00000"/>
                </a:solidFill>
                <a:latin typeface="Microsoft YaHei" panose="020B0503020204020204" pitchFamily="34" charset="-122"/>
              </a:rPr>
              <a:t>Results</a:t>
            </a:r>
            <a:endParaRPr lang="zh-CN" altLang="en-US" sz="2400" b="1">
              <a:solidFill>
                <a:srgbClr val="C0000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E3E7DE-41EA-8423-0211-CCC1B94A0464}"/>
              </a:ext>
            </a:extLst>
          </p:cNvPr>
          <p:cNvSpPr/>
          <p:nvPr/>
        </p:nvSpPr>
        <p:spPr>
          <a:xfrm>
            <a:off x="406400" y="965200"/>
            <a:ext cx="1168400" cy="50800"/>
          </a:xfrm>
          <a:prstGeom prst="rect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5DCCAEB-908B-989E-1F60-5AA21941D2D8}"/>
              </a:ext>
            </a:extLst>
          </p:cNvPr>
          <p:cNvSpPr txBox="1"/>
          <p:nvPr/>
        </p:nvSpPr>
        <p:spPr>
          <a:xfrm>
            <a:off x="3111500" y="355600"/>
            <a:ext cx="12192000" cy="52835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NeRF </a:t>
            </a:r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证明了高质量新视角合成可行，但速度和输入条件不适合本课题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8A5FD0A-A536-0689-0AA8-CC2DC926B0C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" y="1651000"/>
            <a:ext cx="8255000" cy="20320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EE643EE-B94E-FF6B-B015-268849FE507E}"/>
              </a:ext>
            </a:extLst>
          </p:cNvPr>
          <p:cNvSpPr txBox="1"/>
          <p:nvPr/>
        </p:nvSpPr>
        <p:spPr>
          <a:xfrm>
            <a:off x="9652000" y="1714500"/>
            <a:ext cx="4953000" cy="196977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altLang="zh-CN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>
                <a:solidFill>
                  <a:srgbClr val="000000"/>
                </a:solidFill>
                <a:latin typeface="Microsoft YaHei" panose="020B0503020204020204" pitchFamily="34" charset="-122"/>
              </a:rPr>
              <a:t>优势：连续表示、细节质量高、存储比体素网格小很多。</a:t>
            </a:r>
          </a:p>
          <a:p>
            <a:pPr>
              <a:spcAft>
                <a:spcPts val="800"/>
              </a:spcAft>
            </a:pPr>
            <a:r>
              <a:rPr lang="en-US" altLang="zh-CN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>
                <a:solidFill>
                  <a:srgbClr val="000000"/>
                </a:solidFill>
                <a:latin typeface="Microsoft YaHei" panose="020B0503020204020204" pitchFamily="34" charset="-122"/>
              </a:rPr>
              <a:t>局限：每个场景单独训练，通常需要几十张图和准确位姿。</a:t>
            </a:r>
          </a:p>
          <a:p>
            <a:pPr>
              <a:spcAft>
                <a:spcPts val="800"/>
              </a:spcAft>
            </a:pPr>
            <a:r>
              <a:rPr lang="en-US" altLang="zh-CN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>
                <a:solidFill>
                  <a:srgbClr val="000000"/>
                </a:solidFill>
                <a:latin typeface="Microsoft YaHei" panose="020B0503020204020204" pitchFamily="34" charset="-122"/>
              </a:rPr>
              <a:t>对本项目的启示：后续要重点看单图深度估计和前馈生成，不能直接照搬 </a:t>
            </a:r>
            <a:r>
              <a:rPr lang="en-US" altLang="zh-CN">
                <a:solidFill>
                  <a:srgbClr val="000000"/>
                </a:solidFill>
                <a:latin typeface="Microsoft YaHei" panose="020B0503020204020204" pitchFamily="34" charset="-122"/>
              </a:rPr>
              <a:t>NeRF</a:t>
            </a:r>
            <a:r>
              <a:rPr lang="zh-CN" altLang="en-US">
                <a:solidFill>
                  <a:srgbClr val="000000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9B8479A1-7A1F-3399-7D07-B28830A7825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000" y="4445000"/>
            <a:ext cx="6223000" cy="31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768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F8BEF34-7A7F-3E36-5DA9-3D93F73214D5}"/>
              </a:ext>
            </a:extLst>
          </p:cNvPr>
          <p:cNvSpPr txBox="1"/>
          <p:nvPr/>
        </p:nvSpPr>
        <p:spPr>
          <a:xfrm>
            <a:off x="406400" y="355600"/>
            <a:ext cx="2413000" cy="47192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400" b="1">
                <a:solidFill>
                  <a:srgbClr val="C00000"/>
                </a:solidFill>
                <a:latin typeface="Microsoft YaHei" panose="020B0503020204020204" pitchFamily="34" charset="-122"/>
              </a:rPr>
              <a:t>3DGS</a:t>
            </a:r>
            <a:endParaRPr lang="zh-CN" altLang="en-US" sz="2400" b="1">
              <a:solidFill>
                <a:srgbClr val="C0000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624657A-30CE-FEC1-574B-230590920B6C}"/>
              </a:ext>
            </a:extLst>
          </p:cNvPr>
          <p:cNvSpPr/>
          <p:nvPr/>
        </p:nvSpPr>
        <p:spPr>
          <a:xfrm>
            <a:off x="406400" y="965200"/>
            <a:ext cx="1168400" cy="50800"/>
          </a:xfrm>
          <a:prstGeom prst="rect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084F21-3E34-16E1-BA5A-FBE338325750}"/>
              </a:ext>
            </a:extLst>
          </p:cNvPr>
          <p:cNvSpPr txBox="1"/>
          <p:nvPr/>
        </p:nvSpPr>
        <p:spPr>
          <a:xfrm>
            <a:off x="3111500" y="355600"/>
            <a:ext cx="12192000" cy="52835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3DGS </a:t>
            </a:r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用显式高斯替代隐式网络，把渲染推向实时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56DAE2-89D9-3AF2-FAEC-9B24B4304870}"/>
              </a:ext>
            </a:extLst>
          </p:cNvPr>
          <p:cNvSpPr txBox="1"/>
          <p:nvPr/>
        </p:nvSpPr>
        <p:spPr>
          <a:xfrm>
            <a:off x="889000" y="1714500"/>
            <a:ext cx="7493000" cy="153888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NeRF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慢的根源：每个像素沿光线采样很多点，每个点都要查询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MLP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。</a:t>
            </a:r>
          </a:p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3DGS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的转换：用大量带颜色和透明度的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3D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高斯椭球表示场景。</a:t>
            </a:r>
          </a:p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渲染时把高斯投影到屏幕上做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alpha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混合，更适合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GPU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并行。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D362DE6-AE7D-BB67-8F13-81178C5DA8C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00" y="1460500"/>
            <a:ext cx="5080000" cy="2667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3EF4122-A6C5-0DF2-5790-1EB88A5E22E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0" y="4889500"/>
            <a:ext cx="6350000" cy="149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357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D0268C1-140D-551F-A3BF-B2497D308D4A}"/>
              </a:ext>
            </a:extLst>
          </p:cNvPr>
          <p:cNvSpPr txBox="1"/>
          <p:nvPr/>
        </p:nvSpPr>
        <p:spPr>
          <a:xfrm>
            <a:off x="406400" y="355600"/>
            <a:ext cx="2413000" cy="47192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400" b="1">
                <a:solidFill>
                  <a:srgbClr val="C00000"/>
                </a:solidFill>
                <a:latin typeface="Microsoft YaHei" panose="020B0503020204020204" pitchFamily="34" charset="-122"/>
              </a:rPr>
              <a:t>Method</a:t>
            </a:r>
            <a:endParaRPr lang="zh-CN" altLang="en-US" sz="2400" b="1">
              <a:solidFill>
                <a:srgbClr val="C0000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348B969-F144-7750-0581-4163EDBE0333}"/>
              </a:ext>
            </a:extLst>
          </p:cNvPr>
          <p:cNvSpPr/>
          <p:nvPr/>
        </p:nvSpPr>
        <p:spPr>
          <a:xfrm>
            <a:off x="406400" y="965200"/>
            <a:ext cx="1168400" cy="50800"/>
          </a:xfrm>
          <a:prstGeom prst="rect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F63786D-4F88-F2BE-5D38-A44C76499645}"/>
              </a:ext>
            </a:extLst>
          </p:cNvPr>
          <p:cNvSpPr txBox="1"/>
          <p:nvPr/>
        </p:nvSpPr>
        <p:spPr>
          <a:xfrm>
            <a:off x="3111500" y="355600"/>
            <a:ext cx="12192000" cy="52835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3DGS </a:t>
            </a:r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的工程优势来自显式表示、动态增密和瓦片光栅化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8B4FD12-FF83-F504-61E7-7B6E2808703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00" y="1651000"/>
            <a:ext cx="9144000" cy="26670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1578586-E105-1988-CC85-33E6826AC212}"/>
              </a:ext>
            </a:extLst>
          </p:cNvPr>
          <p:cNvSpPr/>
          <p:nvPr/>
        </p:nvSpPr>
        <p:spPr>
          <a:xfrm>
            <a:off x="1079500" y="5207000"/>
            <a:ext cx="3937000" cy="14605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22C26A7-08B5-AEFD-4248-9CEBD3F85FC7}"/>
              </a:ext>
            </a:extLst>
          </p:cNvPr>
          <p:cNvSpPr txBox="1"/>
          <p:nvPr/>
        </p:nvSpPr>
        <p:spPr>
          <a:xfrm>
            <a:off x="1231900" y="5334000"/>
            <a:ext cx="3632200" cy="37959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b="1">
                <a:solidFill>
                  <a:srgbClr val="C00000"/>
                </a:solidFill>
                <a:latin typeface="Microsoft YaHei" panose="020B0503020204020204" pitchFamily="34" charset="-122"/>
              </a:rPr>
              <a:t>显式高斯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7D6297-B7C9-453B-DD7E-D9DDFCB6BA73}"/>
              </a:ext>
            </a:extLst>
          </p:cNvPr>
          <p:cNvSpPr txBox="1"/>
          <p:nvPr/>
        </p:nvSpPr>
        <p:spPr>
          <a:xfrm>
            <a:off x="1231900" y="5765800"/>
            <a:ext cx="3632200" cy="564257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每个高斯保存位置、尺度、旋转、不透明度和方向相关颜色。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0D76718-B4B3-7590-E924-79FB1E44B75F}"/>
              </a:ext>
            </a:extLst>
          </p:cNvPr>
          <p:cNvSpPr/>
          <p:nvPr/>
        </p:nvSpPr>
        <p:spPr>
          <a:xfrm>
            <a:off x="5969000" y="5207000"/>
            <a:ext cx="3937000" cy="14605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0E3700-9FD5-7BF0-24E6-D51FC5F638B4}"/>
              </a:ext>
            </a:extLst>
          </p:cNvPr>
          <p:cNvSpPr txBox="1"/>
          <p:nvPr/>
        </p:nvSpPr>
        <p:spPr>
          <a:xfrm>
            <a:off x="6121400" y="5334000"/>
            <a:ext cx="3632200" cy="37959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b="1">
                <a:solidFill>
                  <a:srgbClr val="C00000"/>
                </a:solidFill>
                <a:latin typeface="Microsoft YaHei" panose="020B0503020204020204" pitchFamily="34" charset="-122"/>
              </a:rPr>
              <a:t>自适应密度控制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699208-C463-93D7-2E7B-1EB96AC079FE}"/>
              </a:ext>
            </a:extLst>
          </p:cNvPr>
          <p:cNvSpPr txBox="1"/>
          <p:nvPr/>
        </p:nvSpPr>
        <p:spPr>
          <a:xfrm>
            <a:off x="6121400" y="5765800"/>
            <a:ext cx="3632200" cy="564257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细节不足就克隆或分裂，贡献很低的高斯会被删除。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3FD882-31CB-B33D-410A-F87FADCA1AB0}"/>
              </a:ext>
            </a:extLst>
          </p:cNvPr>
          <p:cNvSpPr/>
          <p:nvPr/>
        </p:nvSpPr>
        <p:spPr>
          <a:xfrm>
            <a:off x="10858500" y="5207000"/>
            <a:ext cx="3937000" cy="14605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430B446-62B7-2E9E-A058-C7E2B57D41DC}"/>
              </a:ext>
            </a:extLst>
          </p:cNvPr>
          <p:cNvSpPr txBox="1"/>
          <p:nvPr/>
        </p:nvSpPr>
        <p:spPr>
          <a:xfrm>
            <a:off x="11010900" y="5334000"/>
            <a:ext cx="3632200" cy="37959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b="1">
                <a:solidFill>
                  <a:srgbClr val="C00000"/>
                </a:solidFill>
                <a:latin typeface="Microsoft YaHei" panose="020B0503020204020204" pitchFamily="34" charset="-122"/>
              </a:rPr>
              <a:t>瓦片光栅化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BCCCFA-244D-3B5F-C757-164DD04012D2}"/>
              </a:ext>
            </a:extLst>
          </p:cNvPr>
          <p:cNvSpPr txBox="1"/>
          <p:nvPr/>
        </p:nvSpPr>
        <p:spPr>
          <a:xfrm>
            <a:off x="11010900" y="5765800"/>
            <a:ext cx="3632200" cy="564257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屏幕分块后按深度排序并并行混合，获得实时速度。</a:t>
            </a:r>
          </a:p>
        </p:txBody>
      </p:sp>
    </p:spTree>
    <p:extLst>
      <p:ext uri="{BB962C8B-B14F-4D97-AF65-F5344CB8AC3E}">
        <p14:creationId xmlns:p14="http://schemas.microsoft.com/office/powerpoint/2010/main" val="119646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CA28AA4-8135-800C-009E-4F0F6A95DB37}"/>
              </a:ext>
            </a:extLst>
          </p:cNvPr>
          <p:cNvSpPr txBox="1"/>
          <p:nvPr/>
        </p:nvSpPr>
        <p:spPr>
          <a:xfrm>
            <a:off x="406400" y="355600"/>
            <a:ext cx="2413000" cy="47192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400" b="1">
                <a:solidFill>
                  <a:srgbClr val="C00000"/>
                </a:solidFill>
                <a:latin typeface="Microsoft YaHei" panose="020B0503020204020204" pitchFamily="34" charset="-122"/>
              </a:rPr>
              <a:t>Summary</a:t>
            </a:r>
            <a:endParaRPr lang="zh-CN" altLang="en-US" sz="2400" b="1">
              <a:solidFill>
                <a:srgbClr val="C0000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1386EC-2ACB-C769-9295-BE5FEF7F41DA}"/>
              </a:ext>
            </a:extLst>
          </p:cNvPr>
          <p:cNvSpPr/>
          <p:nvPr/>
        </p:nvSpPr>
        <p:spPr>
          <a:xfrm>
            <a:off x="406400" y="965200"/>
            <a:ext cx="1168400" cy="50800"/>
          </a:xfrm>
          <a:prstGeom prst="rect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32DA269-2895-DEFD-26BB-86CCC767CBC0}"/>
              </a:ext>
            </a:extLst>
          </p:cNvPr>
          <p:cNvSpPr txBox="1"/>
          <p:nvPr/>
        </p:nvSpPr>
        <p:spPr>
          <a:xfrm>
            <a:off x="3111500" y="355600"/>
            <a:ext cx="12192000" cy="52835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3DGS </a:t>
            </a:r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更接近移动端需要的实时交互，但仍不是单图方案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1B7135-6CBF-0EE3-2058-B9732CF68850}"/>
              </a:ext>
            </a:extLst>
          </p:cNvPr>
          <p:cNvSpPr txBox="1"/>
          <p:nvPr/>
        </p:nvSpPr>
        <p:spPr>
          <a:xfrm>
            <a:off x="1016000" y="1714500"/>
            <a:ext cx="7874000" cy="153888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优势：训练和渲染速度远快于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NeRF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，显式表示便于调试和压缩。</a:t>
            </a:r>
          </a:p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局限：仍依赖多视角输入、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SfM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位姿和逐场景优化。</a:t>
            </a:r>
          </a:p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对本项目的启示：可以把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3DGS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作为高质量实时表达参考，但单图场景更需要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Depth + Layer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或前馈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3DGS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A537670-2A8B-9AD5-FFB5-99BE33AEFC5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0" y="1841500"/>
            <a:ext cx="5334000" cy="1270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7C15DF50-F0DC-CD57-EE99-67E16B07FB8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000" y="4000500"/>
            <a:ext cx="5080000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177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36D5EBB-C0AE-0814-A13F-295CC241FBF5}"/>
              </a:ext>
            </a:extLst>
          </p:cNvPr>
          <p:cNvSpPr txBox="1"/>
          <p:nvPr/>
        </p:nvSpPr>
        <p:spPr>
          <a:xfrm>
            <a:off x="406400" y="355600"/>
            <a:ext cx="2413000" cy="47192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2400" b="1">
                <a:solidFill>
                  <a:srgbClr val="C00000"/>
                </a:solidFill>
                <a:latin typeface="Microsoft YaHei" panose="020B0503020204020204" pitchFamily="34" charset="-122"/>
              </a:rPr>
              <a:t>对比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612FAE-8260-7834-E4B5-1A0CF498322E}"/>
              </a:ext>
            </a:extLst>
          </p:cNvPr>
          <p:cNvSpPr/>
          <p:nvPr/>
        </p:nvSpPr>
        <p:spPr>
          <a:xfrm>
            <a:off x="406400" y="965200"/>
            <a:ext cx="1168400" cy="50800"/>
          </a:xfrm>
          <a:prstGeom prst="rect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2331D2-D791-9913-F5AE-AC22EBDB4F8E}"/>
              </a:ext>
            </a:extLst>
          </p:cNvPr>
          <p:cNvSpPr txBox="1"/>
          <p:nvPr/>
        </p:nvSpPr>
        <p:spPr>
          <a:xfrm>
            <a:off x="3111500" y="355600"/>
            <a:ext cx="12192000" cy="52835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NeRF </a:t>
            </a:r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与 </a:t>
            </a:r>
            <a:r>
              <a:rPr lang="en-US" altLang="zh-CN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3DGS </a:t>
            </a:r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是同一问题下的两种取舍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657747E-5192-2759-379E-4EDF405A85C2}"/>
              </a:ext>
            </a:extLst>
          </p:cNvPr>
          <p:cNvSpPr/>
          <p:nvPr/>
        </p:nvSpPr>
        <p:spPr>
          <a:xfrm>
            <a:off x="1270000" y="1905000"/>
            <a:ext cx="5207000" cy="17145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04C6E0D-D061-CAF2-40C2-C8234C5C6987}"/>
              </a:ext>
            </a:extLst>
          </p:cNvPr>
          <p:cNvSpPr txBox="1"/>
          <p:nvPr/>
        </p:nvSpPr>
        <p:spPr>
          <a:xfrm>
            <a:off x="1422400" y="2032000"/>
            <a:ext cx="4902200" cy="37959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b="1">
                <a:solidFill>
                  <a:srgbClr val="C00000"/>
                </a:solidFill>
                <a:latin typeface="Microsoft YaHei" panose="020B0503020204020204" pitchFamily="34" charset="-122"/>
              </a:rPr>
              <a:t>NeRF</a:t>
            </a:r>
            <a:endParaRPr lang="zh-CN" altLang="en-US" b="1">
              <a:solidFill>
                <a:srgbClr val="C0000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1F6B772-6808-B0B4-5A1B-023449D3194E}"/>
              </a:ext>
            </a:extLst>
          </p:cNvPr>
          <p:cNvSpPr txBox="1"/>
          <p:nvPr/>
        </p:nvSpPr>
        <p:spPr>
          <a:xfrm>
            <a:off x="1422400" y="2463800"/>
            <a:ext cx="4902200" cy="33342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隐式 </a:t>
            </a:r>
            <a:r>
              <a:rPr lang="en-US" altLang="zh-CN" sz="1500">
                <a:solidFill>
                  <a:srgbClr val="000000"/>
                </a:solidFill>
                <a:latin typeface="Microsoft YaHei" panose="020B0503020204020204" pitchFamily="34" charset="-122"/>
              </a:rPr>
              <a:t>MLP</a:t>
            </a:r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；存储小；质量高；训练和渲染慢。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67487AC-BF8F-B40C-4033-2AD4A62B185A}"/>
              </a:ext>
            </a:extLst>
          </p:cNvPr>
          <p:cNvSpPr/>
          <p:nvPr/>
        </p:nvSpPr>
        <p:spPr>
          <a:xfrm>
            <a:off x="8128000" y="1905000"/>
            <a:ext cx="5207000" cy="17145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CB3920-E833-7DA5-D5BB-C27B0C864613}"/>
              </a:ext>
            </a:extLst>
          </p:cNvPr>
          <p:cNvSpPr txBox="1"/>
          <p:nvPr/>
        </p:nvSpPr>
        <p:spPr>
          <a:xfrm>
            <a:off x="8280400" y="2032000"/>
            <a:ext cx="4902200" cy="37959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altLang="zh-CN" b="1">
                <a:solidFill>
                  <a:srgbClr val="C00000"/>
                </a:solidFill>
                <a:latin typeface="Microsoft YaHei" panose="020B0503020204020204" pitchFamily="34" charset="-122"/>
              </a:rPr>
              <a:t>3DGS</a:t>
            </a:r>
            <a:endParaRPr lang="zh-CN" altLang="en-US" b="1">
              <a:solidFill>
                <a:srgbClr val="C0000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7E891A-F86A-B801-2CEA-EBA5B2CFF34F}"/>
              </a:ext>
            </a:extLst>
          </p:cNvPr>
          <p:cNvSpPr txBox="1"/>
          <p:nvPr/>
        </p:nvSpPr>
        <p:spPr>
          <a:xfrm>
            <a:off x="8280400" y="2463800"/>
            <a:ext cx="4902200" cy="33342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显式高斯；渲染实时；训练更快；存储和排序更复杂。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E52D19A-5A2A-6BDF-8108-D5A693DCFAA1}"/>
              </a:ext>
            </a:extLst>
          </p:cNvPr>
          <p:cNvSpPr txBox="1"/>
          <p:nvPr/>
        </p:nvSpPr>
        <p:spPr>
          <a:xfrm>
            <a:off x="1397000" y="4953000"/>
            <a:ext cx="12446000" cy="1231106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共同点：都服务于新视角合成，都依赖多图和相机位姿。</a:t>
            </a:r>
          </a:p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本课题的切入点：把输入降到单张图，把交互范围限定在浅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3D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，并把渲染留在移动端。</a:t>
            </a:r>
          </a:p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因此下一组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03-06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论文更关键：它们直接处理单图分层表达和遮挡补全。</a:t>
            </a:r>
          </a:p>
        </p:txBody>
      </p:sp>
    </p:spTree>
    <p:extLst>
      <p:ext uri="{BB962C8B-B14F-4D97-AF65-F5344CB8AC3E}">
        <p14:creationId xmlns:p14="http://schemas.microsoft.com/office/powerpoint/2010/main" val="3361105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0EE78A-3468-EF19-8DD4-93F925D1E4C4}"/>
              </a:ext>
            </a:extLst>
          </p:cNvPr>
          <p:cNvSpPr txBox="1"/>
          <p:nvPr/>
        </p:nvSpPr>
        <p:spPr>
          <a:xfrm>
            <a:off x="406400" y="355600"/>
            <a:ext cx="2413000" cy="47192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2400" b="1">
                <a:solidFill>
                  <a:srgbClr val="C00000"/>
                </a:solidFill>
                <a:latin typeface="Microsoft YaHei" panose="020B0503020204020204" pitchFamily="34" charset="-122"/>
              </a:rPr>
              <a:t>下一步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A872547-199C-43E1-5F1E-A79F2BBA9630}"/>
              </a:ext>
            </a:extLst>
          </p:cNvPr>
          <p:cNvSpPr/>
          <p:nvPr/>
        </p:nvSpPr>
        <p:spPr>
          <a:xfrm>
            <a:off x="406400" y="965200"/>
            <a:ext cx="1168400" cy="50800"/>
          </a:xfrm>
          <a:prstGeom prst="rect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D6309D4-F334-B1A6-9BC7-919A06458BE6}"/>
              </a:ext>
            </a:extLst>
          </p:cNvPr>
          <p:cNvSpPr txBox="1"/>
          <p:nvPr/>
        </p:nvSpPr>
        <p:spPr>
          <a:xfrm>
            <a:off x="3111500" y="355600"/>
            <a:ext cx="12192000" cy="52835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后续把 </a:t>
            </a:r>
            <a:r>
              <a:rPr lang="en-US" altLang="zh-CN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03-06 </a:t>
            </a:r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论文补进来，形成完整单图浅 </a:t>
            </a:r>
            <a:r>
              <a:rPr lang="en-US" altLang="zh-CN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3D </a:t>
            </a:r>
            <a:r>
              <a:rPr lang="zh-CN" altLang="en-US" sz="2800" b="1">
                <a:solidFill>
                  <a:srgbClr val="000000"/>
                </a:solidFill>
                <a:latin typeface="Microsoft YaHei" panose="020B0503020204020204" pitchFamily="34" charset="-122"/>
              </a:rPr>
              <a:t>技术路线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75AABA-CD46-9E69-B002-D64820373F1B}"/>
              </a:ext>
            </a:extLst>
          </p:cNvPr>
          <p:cNvSpPr txBox="1"/>
          <p:nvPr/>
        </p:nvSpPr>
        <p:spPr>
          <a:xfrm>
            <a:off x="1206500" y="1714500"/>
            <a:ext cx="12192000" cy="164147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03 3D Photography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：深度图、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LDI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、遮挡边界补全，是单图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3D Photo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的经典路线。</a:t>
            </a:r>
          </a:p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04 SLIDE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：用软分层处理毛发、细线、边缘等硬切层容易出错的位置。</a:t>
            </a:r>
          </a:p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05 TMPI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：把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MPI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分块压缩，更贴近实际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3D Photo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和移动端表达。</a:t>
            </a:r>
          </a:p>
          <a:p>
            <a:pPr>
              <a:spcAft>
                <a:spcPts val="800"/>
              </a:spcAft>
            </a:pP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• 06 MINE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：把离散 </a:t>
            </a:r>
            <a:r>
              <a:rPr lang="en-US" altLang="zh-CN" sz="2000">
                <a:solidFill>
                  <a:srgbClr val="000000"/>
                </a:solidFill>
                <a:latin typeface="Microsoft YaHei" panose="020B0503020204020204" pitchFamily="34" charset="-122"/>
              </a:rPr>
              <a:t>MPI </a:t>
            </a:r>
            <a:r>
              <a:rPr lang="zh-CN" altLang="en-US" sz="2000">
                <a:solidFill>
                  <a:srgbClr val="000000"/>
                </a:solidFill>
                <a:latin typeface="Microsoft YaHei" panose="020B0503020204020204" pitchFamily="34" charset="-122"/>
              </a:rPr>
              <a:t>推向连续深度表达，用于理解分层方法的发展方向。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59A390-BB6E-00ED-D922-116E861E3005}"/>
              </a:ext>
            </a:extLst>
          </p:cNvPr>
          <p:cNvSpPr/>
          <p:nvPr/>
        </p:nvSpPr>
        <p:spPr>
          <a:xfrm>
            <a:off x="2286000" y="6350000"/>
            <a:ext cx="10795000" cy="13335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EB84A43-5F9D-74A3-0AF4-4376BA30366B}"/>
              </a:ext>
            </a:extLst>
          </p:cNvPr>
          <p:cNvSpPr txBox="1"/>
          <p:nvPr/>
        </p:nvSpPr>
        <p:spPr>
          <a:xfrm>
            <a:off x="2438400" y="6477000"/>
            <a:ext cx="10490200" cy="37959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b="1">
                <a:solidFill>
                  <a:srgbClr val="C00000"/>
                </a:solidFill>
                <a:latin typeface="Microsoft YaHei" panose="020B0503020204020204" pitchFamily="34" charset="-122"/>
              </a:rPr>
              <a:t>最终汇报主线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FC32B3C-CF91-B87E-360D-DD2E9CD18074}"/>
              </a:ext>
            </a:extLst>
          </p:cNvPr>
          <p:cNvSpPr txBox="1"/>
          <p:nvPr/>
        </p:nvSpPr>
        <p:spPr>
          <a:xfrm>
            <a:off x="2438400" y="6908800"/>
            <a:ext cx="10490200" cy="33342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基础：</a:t>
            </a:r>
            <a:r>
              <a:rPr lang="en-US" altLang="zh-CN" sz="1500">
                <a:solidFill>
                  <a:srgbClr val="000000"/>
                </a:solidFill>
                <a:latin typeface="Microsoft YaHei" panose="020B0503020204020204" pitchFamily="34" charset="-122"/>
              </a:rPr>
              <a:t>NeRF/3DGS → </a:t>
            </a:r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单图：</a:t>
            </a:r>
            <a:r>
              <a:rPr lang="en-US" altLang="zh-CN" sz="1500">
                <a:solidFill>
                  <a:srgbClr val="000000"/>
                </a:solidFill>
                <a:latin typeface="Microsoft YaHei" panose="020B0503020204020204" pitchFamily="34" charset="-122"/>
              </a:rPr>
              <a:t>3D Photo/SLIDE/TMPI → </a:t>
            </a:r>
            <a:r>
              <a:rPr lang="zh-CN" altLang="en-US" sz="1500">
                <a:solidFill>
                  <a:srgbClr val="000000"/>
                </a:solidFill>
                <a:latin typeface="Microsoft YaHei" panose="020B0503020204020204" pitchFamily="34" charset="-122"/>
              </a:rPr>
              <a:t>工程：深度估计、补全、移动端渲染。</a:t>
            </a:r>
          </a:p>
        </p:txBody>
      </p:sp>
    </p:spTree>
    <p:extLst>
      <p:ext uri="{BB962C8B-B14F-4D97-AF65-F5344CB8AC3E}">
        <p14:creationId xmlns:p14="http://schemas.microsoft.com/office/powerpoint/2010/main" val="3075501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850</Words>
  <Application>Microsoft Office PowerPoint</Application>
  <PresentationFormat>自定义</PresentationFormat>
  <Paragraphs>66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等线</vt:lpstr>
      <vt:lpstr>等线 Light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辰洋 孟</dc:creator>
  <cp:lastModifiedBy>辰洋 孟</cp:lastModifiedBy>
  <cp:revision>1</cp:revision>
  <dcterms:created xsi:type="dcterms:W3CDTF">2026-07-09T11:34:11Z</dcterms:created>
  <dcterms:modified xsi:type="dcterms:W3CDTF">2026-07-09T11:34:11Z</dcterms:modified>
</cp:coreProperties>
</file>