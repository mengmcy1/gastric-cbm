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63" r:id="rId2"/>
    <p:sldId id="265" r:id="rId3"/>
    <p:sldId id="267" r:id="rId4"/>
    <p:sldId id="268" r:id="rId5"/>
    <p:sldId id="269" r:id="rId6"/>
    <p:sldId id="270" r:id="rId7"/>
    <p:sldId id="272" r:id="rId8"/>
    <p:sldId id="273" r:id="rId9"/>
    <p:sldId id="283" r:id="rId10"/>
    <p:sldId id="282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38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>
        <p:scale>
          <a:sx n="79" d="100"/>
          <a:sy n="79" d="100"/>
        </p:scale>
        <p:origin x="3540" y="1864"/>
      </p:cViewPr>
      <p:guideLst>
        <p:guide orient="horz" pos="2143"/>
        <p:guide pos="386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7C6E9-B76F-4EEB-BC0B-74787FB92CC7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1463-49CD-5FA3-1020-A7BC62FD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978D5C-E9CB-7DED-DB9B-6222A102F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BF9860-F572-7B92-5BA2-EC96D6DE7E6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518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AF440-CD13-A048-F511-7C0686092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3A6010-E0C7-475B-C8FC-CC447515FB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E0C2E0-79EC-F2AB-21EE-114A8B99EE9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031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2026/7/10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 userDrawn="1"/>
        </p:nvSpPr>
        <p:spPr>
          <a:xfrm>
            <a:off x="191344" y="737562"/>
            <a:ext cx="11809312" cy="5067699"/>
          </a:xfrm>
          <a:prstGeom prst="rect">
            <a:avLst/>
          </a:prstGeom>
          <a:solidFill>
            <a:srgbClr val="005BAC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4" name="文本占位符 73"/>
          <p:cNvSpPr>
            <a:spLocks noGrp="1"/>
          </p:cNvSpPr>
          <p:nvPr>
            <p:ph type="body" sz="quarter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 anchorCtr="0"/>
          <a:lstStyle>
            <a:lvl1pPr algn="ctr">
              <a:defRPr sz="1800" b="1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>
              <a:defRPr b="0" i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</a:lstStyle>
          <a:p>
            <a:pPr lvl="0"/>
            <a:r>
              <a:rPr kumimoji="1" lang="zh-CN" altLang="en-US" dirty="0"/>
              <a:t>单击此处编辑</a:t>
            </a:r>
          </a:p>
        </p:txBody>
      </p:sp>
      <p:sp>
        <p:nvSpPr>
          <p:cNvPr id="76" name="标题 75"/>
          <p:cNvSpPr>
            <a:spLocks noGrp="1"/>
          </p:cNvSpPr>
          <p:nvPr>
            <p:ph type="title" hasCustomPrompt="1"/>
          </p:nvPr>
        </p:nvSpPr>
        <p:spPr>
          <a:xfrm>
            <a:off x="1523867" y="2087714"/>
            <a:ext cx="9144000" cy="677108"/>
          </a:xfrm>
        </p:spPr>
        <p:txBody>
          <a:bodyPr/>
          <a:lstStyle>
            <a:lvl1pPr algn="ctr">
              <a:defRPr sz="4400" b="1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kumimoji="1" lang="zh-CN" altLang="en-US" dirty="0"/>
              <a:t>编辑标题样式</a:t>
            </a:r>
          </a:p>
        </p:txBody>
      </p:sp>
      <p:sp>
        <p:nvSpPr>
          <p:cNvPr id="79" name="文本占位符 78"/>
          <p:cNvSpPr>
            <a:spLocks noGrp="1"/>
          </p:cNvSpPr>
          <p:nvPr>
            <p:ph type="body" sz="quarter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defRPr sz="2000" b="1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kumimoji="1" lang="zh-CN" altLang="en-US" dirty="0"/>
              <a:t>电子信息与通信学院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 userDrawn="1"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" name="矩形 16"/>
          <p:cNvSpPr/>
          <p:nvPr userDrawn="1"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18" name="直接连接符 23"/>
          <p:cNvCxnSpPr>
            <a:stCxn id="14" idx="2"/>
            <a:endCxn id="15" idx="2"/>
          </p:cNvCxnSpPr>
          <p:nvPr userDrawn="1"/>
        </p:nvCxnSpPr>
        <p:spPr>
          <a:xfrm>
            <a:off x="455647" y="652498"/>
            <a:ext cx="11280706" cy="0"/>
          </a:xfrm>
          <a:prstGeom prst="line">
            <a:avLst/>
          </a:prstGeom>
          <a:noFill/>
          <a:ln w="6350" cap="flat" cmpd="sng" algn="ctr">
            <a:solidFill>
              <a:srgbClr val="005BAD"/>
            </a:solidFill>
            <a:prstDash val="solid"/>
            <a:miter lim="800000"/>
          </a:ln>
          <a:effectLst/>
        </p:spPr>
      </p:cxn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4193" y="5877272"/>
            <a:ext cx="1203613" cy="914400"/>
          </a:xfrm>
          <a:prstGeom prst="rect">
            <a:avLst/>
          </a:prstGeom>
        </p:spPr>
      </p:pic>
      <p:sp>
        <p:nvSpPr>
          <p:cNvPr id="21" name="页脚占位符 136"/>
          <p:cNvSpPr txBox="1"/>
          <p:nvPr userDrawn="1"/>
        </p:nvSpPr>
        <p:spPr>
          <a:xfrm>
            <a:off x="3287688" y="284390"/>
            <a:ext cx="5616624" cy="36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dist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kern="1200" dirty="0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明德厚学 求是创新</a:t>
            </a:r>
          </a:p>
        </p:txBody>
      </p:sp>
      <p:sp>
        <p:nvSpPr>
          <p:cNvPr id="25" name="文本占位符 78"/>
          <p:cNvSpPr>
            <a:spLocks noGrp="1"/>
          </p:cNvSpPr>
          <p:nvPr>
            <p:ph type="body" sz="quarter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defRPr sz="2400" b="1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kumimoji="1" lang="zh-CN" altLang="en-US" dirty="0"/>
              <a:t>编辑副标题</a:t>
            </a:r>
          </a:p>
        </p:txBody>
      </p:sp>
      <p:sp>
        <p:nvSpPr>
          <p:cNvPr id="26" name="文本占位符 78"/>
          <p:cNvSpPr>
            <a:spLocks noGrp="1"/>
          </p:cNvSpPr>
          <p:nvPr>
            <p:ph type="body" sz="quarter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defRPr sz="2400" b="1" i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kumimoji="1" lang="en-US" altLang="zh-CN" dirty="0"/>
              <a:t>xxx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/>
          <p:cNvSpPr txBox="1">
            <a:spLocks noChangeArrowheads="1"/>
          </p:cNvSpPr>
          <p:nvPr/>
        </p:nvSpPr>
        <p:spPr bwMode="auto"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9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White markers indicate position of  Drawing Guides</a:t>
            </a:r>
          </a:p>
        </p:txBody>
      </p:sp>
      <p:sp>
        <p:nvSpPr>
          <p:cNvPr id="14" name="TextBox 17"/>
          <p:cNvSpPr txBox="1">
            <a:spLocks noChangeArrowheads="1"/>
          </p:cNvSpPr>
          <p:nvPr/>
        </p:nvSpPr>
        <p:spPr bwMode="auto"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7.40 cm</a:t>
            </a:r>
          </a:p>
          <a:p>
            <a:pPr algn="r">
              <a:spcAft>
                <a:spcPts val="300"/>
              </a:spcAft>
            </a:pPr>
            <a:r>
              <a:rPr lang="en-US" sz="7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2.91 Inches</a:t>
            </a:r>
          </a:p>
        </p:txBody>
      </p:sp>
      <p:sp>
        <p:nvSpPr>
          <p:cNvPr id="15" name="TextBox 18"/>
          <p:cNvSpPr txBox="1">
            <a:spLocks noChangeArrowheads="1"/>
          </p:cNvSpPr>
          <p:nvPr/>
        </p:nvSpPr>
        <p:spPr bwMode="auto"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6.00 cm</a:t>
            </a: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2.36 Inches</a:t>
            </a:r>
          </a:p>
        </p:txBody>
      </p:sp>
      <p:sp>
        <p:nvSpPr>
          <p:cNvPr id="16" name="TextBox 19"/>
          <p:cNvSpPr txBox="1">
            <a:spLocks noChangeArrowheads="1"/>
          </p:cNvSpPr>
          <p:nvPr/>
        </p:nvSpPr>
        <p:spPr bwMode="auto"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8.00 cm</a:t>
            </a: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3.15 Inches</a:t>
            </a:r>
          </a:p>
        </p:txBody>
      </p:sp>
      <p:sp>
        <p:nvSpPr>
          <p:cNvPr id="17" name="TextBox 20"/>
          <p:cNvSpPr txBox="1">
            <a:spLocks noChangeArrowheads="1"/>
          </p:cNvSpPr>
          <p:nvPr/>
        </p:nvSpPr>
        <p:spPr bwMode="auto"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</a:t>
            </a: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11.70 cm</a:t>
            </a:r>
          </a:p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 4.61 inches</a:t>
            </a:r>
            <a:endParaRPr lang="en-US" sz="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21"/>
          <p:cNvSpPr txBox="1">
            <a:spLocks noChangeArrowheads="1"/>
          </p:cNvSpPr>
          <p:nvPr/>
        </p:nvSpPr>
        <p:spPr bwMode="auto"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0.50 cm </a:t>
            </a: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</a:t>
            </a: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0.2 inches </a:t>
            </a:r>
            <a:endParaRPr lang="en-US" sz="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22"/>
          <p:cNvSpPr txBox="1">
            <a:spLocks noChangeArrowheads="1"/>
          </p:cNvSpPr>
          <p:nvPr/>
        </p:nvSpPr>
        <p:spPr bwMode="auto"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300"/>
              </a:spcAft>
              <a:buFont typeface="Wingdings" panose="05000000000000000000" pitchFamily="2" charset="2"/>
              <a:buChar char="ß"/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0.50 cm</a:t>
            </a:r>
          </a:p>
          <a:p>
            <a:pPr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 0.2 inches</a:t>
            </a:r>
            <a:endParaRPr lang="en-US" sz="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23"/>
          <p:cNvSpPr txBox="1">
            <a:spLocks noChangeArrowheads="1"/>
          </p:cNvSpPr>
          <p:nvPr/>
        </p:nvSpPr>
        <p:spPr bwMode="auto"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11.70 cm </a:t>
            </a: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</a:t>
            </a:r>
            <a:endParaRPr lang="en-US" sz="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r">
              <a:spcAft>
                <a:spcPts val="300"/>
              </a:spcAft>
            </a:pPr>
            <a:r>
              <a:rPr lang="en-US" sz="7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 4.61 inches </a:t>
            </a:r>
            <a:endParaRPr lang="en-US" sz="7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/>
          <p:cNvSpPr/>
          <p:nvPr/>
        </p:nvSpPr>
        <p:spPr bwMode="gray">
          <a:xfrm>
            <a:off x="-2055284" y="0"/>
            <a:ext cx="1871133" cy="692497"/>
          </a:xfrm>
          <a:prstGeom prst="rect">
            <a:avLst/>
          </a:prstGeom>
          <a:noFill/>
          <a:ln w="12700" algn="ctr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>
              <a:defRPr/>
            </a:pPr>
            <a:r>
              <a:rPr lang="en-US" sz="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To view  drawing guides:</a:t>
            </a:r>
          </a:p>
          <a:p>
            <a:pPr>
              <a:defRPr/>
            </a:pPr>
            <a:endParaRPr lang="en-US" sz="3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Right-click on slide and select ’Grid and Guides...’</a:t>
            </a: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Check ’Display drawing guides on screen’</a:t>
            </a:r>
          </a:p>
          <a:p>
            <a:pPr marL="180975" indent="-180975">
              <a:buFont typeface="+mj-lt"/>
              <a:buAutoNum type="arabicPeriod"/>
              <a:defRPr/>
            </a:pPr>
            <a:r>
              <a:rPr lang="en-US" sz="7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Select ’OK’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17"/>
          </p:nvPr>
        </p:nvSpPr>
        <p:spPr>
          <a:xfrm>
            <a:off x="477838" y="1066523"/>
            <a:ext cx="11231562" cy="5317329"/>
          </a:xfrm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50000"/>
              </a:lnSpc>
              <a:spcBef>
                <a:spcPts val="1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lang="zh-CN" altLang="en-US" sz="2000" b="0" i="0" dirty="0" smtClea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79705" marR="0" indent="-179705" algn="l" defTabSz="914400" rtl="0" eaLnBrk="1" fontAlgn="base" latinLnBrk="0" hangingPunct="1">
              <a:lnSpc>
                <a:spcPct val="15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sz="1800" b="0" i="0" dirty="0" smtClea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358775" marR="0" indent="-179705" algn="l" defTabSz="914400" rtl="0" eaLnBrk="1" fontAlgn="base" latinLnBrk="0" hangingPunct="1">
              <a:lnSpc>
                <a:spcPct val="15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b="0" i="0" dirty="0" smtClea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539750" marR="0" indent="-179705" algn="l" defTabSz="914400" rtl="0" eaLnBrk="1" fontAlgn="base" latinLnBrk="0" hangingPunct="1">
              <a:lnSpc>
                <a:spcPct val="15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 lang="zh-CN" altLang="en-US" sz="1400" b="0" i="0" dirty="0" smtClean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114550" indent="-285750">
              <a:buClr>
                <a:schemeClr val="tx2"/>
              </a:buClr>
              <a:buFont typeface="Wingdings" panose="05000000000000000000" pitchFamily="2" charset="2"/>
              <a:buChar char="n"/>
              <a:defRPr lang="zh-CN" altLang="en-US" sz="1400" b="0" i="0" dirty="0">
                <a:solidFill>
                  <a:schemeClr val="tx2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5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单击此处编辑母版文本样式</a:t>
            </a:r>
          </a:p>
          <a:p>
            <a:pPr marL="179705" marR="0" lvl="1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第二级</a:t>
            </a:r>
          </a:p>
          <a:p>
            <a:pPr marL="358775" marR="0" lvl="2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第三级</a:t>
            </a:r>
          </a:p>
          <a:p>
            <a:pPr marL="539750" marR="0" lvl="3" indent="-179705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277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j-cs"/>
              </a:rPr>
              <a:t>第四级</a:t>
            </a:r>
            <a:endParaRPr kumimoji="1" lang="zh-CN" altLang="en-US" dirty="0"/>
          </a:p>
        </p:txBody>
      </p:sp>
      <p:sp>
        <p:nvSpPr>
          <p:cNvPr id="42" name="矩形 41"/>
          <p:cNvSpPr/>
          <p:nvPr userDrawn="1"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3" name="矩形 42"/>
          <p:cNvSpPr/>
          <p:nvPr userDrawn="1"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ap="flat" cmpd="sng" algn="ctr">
            <a:solidFill>
              <a:srgbClr val="005BA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6" name="组合 45"/>
          <p:cNvGrpSpPr>
            <a:grpSpLocks noChangeAspect="1"/>
          </p:cNvGrpSpPr>
          <p:nvPr userDrawn="1"/>
        </p:nvGrpSpPr>
        <p:grpSpPr>
          <a:xfrm>
            <a:off x="11036334" y="371250"/>
            <a:ext cx="971869" cy="537470"/>
            <a:chOff x="10728252" y="116959"/>
            <a:chExt cx="1293558" cy="715373"/>
          </a:xfrm>
          <a:solidFill>
            <a:srgbClr val="005BAD"/>
          </a:solidFill>
        </p:grpSpPr>
        <p:sp>
          <p:nvSpPr>
            <p:cNvPr id="47" name="ïSļíḋe"/>
            <p:cNvSpPr/>
            <p:nvPr userDrawn="1"/>
          </p:nvSpPr>
          <p:spPr bwMode="auto">
            <a:xfrm>
              <a:off x="10844646" y="498022"/>
              <a:ext cx="156074" cy="250475"/>
            </a:xfrm>
            <a:custGeom>
              <a:avLst/>
              <a:gdLst>
                <a:gd name="T0" fmla="*/ 27 w 59"/>
                <a:gd name="T1" fmla="*/ 0 h 117"/>
                <a:gd name="T2" fmla="*/ 59 w 59"/>
                <a:gd name="T3" fmla="*/ 0 h 117"/>
                <a:gd name="T4" fmla="*/ 33 w 59"/>
                <a:gd name="T5" fmla="*/ 117 h 117"/>
                <a:gd name="T6" fmla="*/ 0 w 59"/>
                <a:gd name="T7" fmla="*/ 117 h 117"/>
                <a:gd name="T8" fmla="*/ 27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7" y="0"/>
                  </a:moveTo>
                  <a:lnTo>
                    <a:pt x="59" y="0"/>
                  </a:lnTo>
                  <a:lnTo>
                    <a:pt x="33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îSḷîḓé"/>
            <p:cNvSpPr/>
            <p:nvPr userDrawn="1"/>
          </p:nvSpPr>
          <p:spPr bwMode="auto">
            <a:xfrm>
              <a:off x="10963687" y="498022"/>
              <a:ext cx="166655" cy="250475"/>
            </a:xfrm>
            <a:custGeom>
              <a:avLst/>
              <a:gdLst>
                <a:gd name="T0" fmla="*/ 27 w 63"/>
                <a:gd name="T1" fmla="*/ 0 h 117"/>
                <a:gd name="T2" fmla="*/ 63 w 63"/>
                <a:gd name="T3" fmla="*/ 0 h 117"/>
                <a:gd name="T4" fmla="*/ 36 w 63"/>
                <a:gd name="T5" fmla="*/ 117 h 117"/>
                <a:gd name="T6" fmla="*/ 0 w 63"/>
                <a:gd name="T7" fmla="*/ 117 h 117"/>
                <a:gd name="T8" fmla="*/ 27 w 63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17">
                  <a:moveTo>
                    <a:pt x="27" y="0"/>
                  </a:moveTo>
                  <a:lnTo>
                    <a:pt x="63" y="0"/>
                  </a:lnTo>
                  <a:lnTo>
                    <a:pt x="36" y="117"/>
                  </a:lnTo>
                  <a:lnTo>
                    <a:pt x="0" y="117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işļïḑê"/>
            <p:cNvSpPr/>
            <p:nvPr userDrawn="1"/>
          </p:nvSpPr>
          <p:spPr bwMode="auto">
            <a:xfrm>
              <a:off x="10937233" y="650019"/>
              <a:ext cx="66134" cy="32113"/>
            </a:xfrm>
            <a:prstGeom prst="rect">
              <a:avLst/>
            </a:prstGeom>
            <a:grpFill/>
            <a:ln w="9525">
              <a:solidFill>
                <a:srgbClr val="005BAD">
                  <a:alpha val="60268"/>
                </a:srgb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iṣḷiḑè"/>
            <p:cNvSpPr/>
            <p:nvPr userDrawn="1"/>
          </p:nvSpPr>
          <p:spPr bwMode="auto">
            <a:xfrm>
              <a:off x="11088015" y="498022"/>
              <a:ext cx="158719" cy="250475"/>
            </a:xfrm>
            <a:custGeom>
              <a:avLst/>
              <a:gdLst>
                <a:gd name="T0" fmla="*/ 25 w 60"/>
                <a:gd name="T1" fmla="*/ 0 h 117"/>
                <a:gd name="T2" fmla="*/ 60 w 60"/>
                <a:gd name="T3" fmla="*/ 0 h 117"/>
                <a:gd name="T4" fmla="*/ 34 w 60"/>
                <a:gd name="T5" fmla="*/ 117 h 117"/>
                <a:gd name="T6" fmla="*/ 0 w 60"/>
                <a:gd name="T7" fmla="*/ 117 h 117"/>
                <a:gd name="T8" fmla="*/ 25 w 60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117">
                  <a:moveTo>
                    <a:pt x="25" y="0"/>
                  </a:moveTo>
                  <a:lnTo>
                    <a:pt x="60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ïṣľídè"/>
            <p:cNvSpPr/>
            <p:nvPr userDrawn="1"/>
          </p:nvSpPr>
          <p:spPr bwMode="auto">
            <a:xfrm>
              <a:off x="11207055" y="498022"/>
              <a:ext cx="156074" cy="250475"/>
            </a:xfrm>
            <a:custGeom>
              <a:avLst/>
              <a:gdLst>
                <a:gd name="T0" fmla="*/ 25 w 59"/>
                <a:gd name="T1" fmla="*/ 0 h 117"/>
                <a:gd name="T2" fmla="*/ 59 w 59"/>
                <a:gd name="T3" fmla="*/ 0 h 117"/>
                <a:gd name="T4" fmla="*/ 34 w 59"/>
                <a:gd name="T5" fmla="*/ 117 h 117"/>
                <a:gd name="T6" fmla="*/ 0 w 59"/>
                <a:gd name="T7" fmla="*/ 117 h 117"/>
                <a:gd name="T8" fmla="*/ 25 w 59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17">
                  <a:moveTo>
                    <a:pt x="25" y="0"/>
                  </a:moveTo>
                  <a:lnTo>
                    <a:pt x="59" y="0"/>
                  </a:lnTo>
                  <a:lnTo>
                    <a:pt x="34" y="117"/>
                  </a:lnTo>
                  <a:lnTo>
                    <a:pt x="0" y="117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íSļîḓé"/>
            <p:cNvSpPr/>
            <p:nvPr userDrawn="1"/>
          </p:nvSpPr>
          <p:spPr bwMode="auto">
            <a:xfrm>
              <a:off x="11170020" y="714243"/>
              <a:ext cx="66134" cy="34253"/>
            </a:xfrm>
            <a:prstGeom prst="rect">
              <a:avLst/>
            </a:prstGeom>
            <a:grpFill/>
            <a:ln w="9525">
              <a:solidFill>
                <a:srgbClr val="005BAD">
                  <a:alpha val="60268"/>
                </a:srgbClr>
              </a:solidFill>
              <a:miter lim="800000"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iṩ1ídè"/>
            <p:cNvSpPr/>
            <p:nvPr userDrawn="1"/>
          </p:nvSpPr>
          <p:spPr bwMode="auto">
            <a:xfrm>
              <a:off x="10728252" y="116959"/>
              <a:ext cx="1293558" cy="700044"/>
            </a:xfrm>
            <a:custGeom>
              <a:avLst/>
              <a:gdLst>
                <a:gd name="T0" fmla="*/ 0 w 989"/>
                <a:gd name="T1" fmla="*/ 662 h 662"/>
                <a:gd name="T2" fmla="*/ 572 w 989"/>
                <a:gd name="T3" fmla="*/ 662 h 662"/>
                <a:gd name="T4" fmla="*/ 643 w 989"/>
                <a:gd name="T5" fmla="*/ 503 h 662"/>
                <a:gd name="T6" fmla="*/ 545 w 989"/>
                <a:gd name="T7" fmla="*/ 374 h 662"/>
                <a:gd name="T8" fmla="*/ 343 w 989"/>
                <a:gd name="T9" fmla="*/ 134 h 662"/>
                <a:gd name="T10" fmla="*/ 821 w 989"/>
                <a:gd name="T11" fmla="*/ 251 h 662"/>
                <a:gd name="T12" fmla="*/ 800 w 989"/>
                <a:gd name="T13" fmla="*/ 283 h 662"/>
                <a:gd name="T14" fmla="*/ 620 w 989"/>
                <a:gd name="T15" fmla="*/ 357 h 662"/>
                <a:gd name="T16" fmla="*/ 871 w 989"/>
                <a:gd name="T17" fmla="*/ 297 h 662"/>
                <a:gd name="T18" fmla="*/ 751 w 989"/>
                <a:gd name="T19" fmla="*/ 55 h 662"/>
                <a:gd name="T20" fmla="*/ 341 w 989"/>
                <a:gd name="T21" fmla="*/ 118 h 662"/>
                <a:gd name="T22" fmla="*/ 322 w 989"/>
                <a:gd name="T23" fmla="*/ 249 h 662"/>
                <a:gd name="T24" fmla="*/ 545 w 989"/>
                <a:gd name="T25" fmla="*/ 406 h 662"/>
                <a:gd name="T26" fmla="*/ 349 w 989"/>
                <a:gd name="T27" fmla="*/ 622 h 662"/>
                <a:gd name="T28" fmla="*/ 93 w 989"/>
                <a:gd name="T29" fmla="*/ 621 h 662"/>
                <a:gd name="T30" fmla="*/ 0 w 989"/>
                <a:gd name="T31" fmla="*/ 662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89" h="662">
                  <a:moveTo>
                    <a:pt x="0" y="662"/>
                  </a:moveTo>
                  <a:cubicBezTo>
                    <a:pt x="572" y="662"/>
                    <a:pt x="572" y="662"/>
                    <a:pt x="572" y="662"/>
                  </a:cubicBezTo>
                  <a:cubicBezTo>
                    <a:pt x="580" y="662"/>
                    <a:pt x="643" y="581"/>
                    <a:pt x="643" y="503"/>
                  </a:cubicBezTo>
                  <a:cubicBezTo>
                    <a:pt x="643" y="456"/>
                    <a:pt x="585" y="416"/>
                    <a:pt x="545" y="374"/>
                  </a:cubicBezTo>
                  <a:cubicBezTo>
                    <a:pt x="470" y="245"/>
                    <a:pt x="301" y="204"/>
                    <a:pt x="343" y="134"/>
                  </a:cubicBezTo>
                  <a:cubicBezTo>
                    <a:pt x="369" y="66"/>
                    <a:pt x="740" y="197"/>
                    <a:pt x="821" y="251"/>
                  </a:cubicBezTo>
                  <a:cubicBezTo>
                    <a:pt x="870" y="284"/>
                    <a:pt x="858" y="291"/>
                    <a:pt x="800" y="283"/>
                  </a:cubicBezTo>
                  <a:cubicBezTo>
                    <a:pt x="706" y="284"/>
                    <a:pt x="656" y="271"/>
                    <a:pt x="620" y="357"/>
                  </a:cubicBezTo>
                  <a:cubicBezTo>
                    <a:pt x="776" y="351"/>
                    <a:pt x="840" y="364"/>
                    <a:pt x="871" y="297"/>
                  </a:cubicBezTo>
                  <a:cubicBezTo>
                    <a:pt x="989" y="132"/>
                    <a:pt x="901" y="86"/>
                    <a:pt x="751" y="55"/>
                  </a:cubicBezTo>
                  <a:cubicBezTo>
                    <a:pt x="480" y="0"/>
                    <a:pt x="375" y="65"/>
                    <a:pt x="341" y="118"/>
                  </a:cubicBezTo>
                  <a:cubicBezTo>
                    <a:pt x="245" y="121"/>
                    <a:pt x="212" y="179"/>
                    <a:pt x="322" y="249"/>
                  </a:cubicBezTo>
                  <a:cubicBezTo>
                    <a:pt x="441" y="324"/>
                    <a:pt x="539" y="351"/>
                    <a:pt x="545" y="406"/>
                  </a:cubicBezTo>
                  <a:cubicBezTo>
                    <a:pt x="555" y="526"/>
                    <a:pt x="481" y="610"/>
                    <a:pt x="349" y="622"/>
                  </a:cubicBezTo>
                  <a:cubicBezTo>
                    <a:pt x="264" y="630"/>
                    <a:pt x="178" y="630"/>
                    <a:pt x="93" y="621"/>
                  </a:cubicBezTo>
                  <a:cubicBezTo>
                    <a:pt x="53" y="617"/>
                    <a:pt x="31" y="649"/>
                    <a:pt x="0" y="662"/>
                  </a:cubicBez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5" name="ïşľíḑé"/>
            <p:cNvSpPr/>
            <p:nvPr userDrawn="1"/>
          </p:nvSpPr>
          <p:spPr bwMode="auto">
            <a:xfrm>
              <a:off x="11561527" y="472332"/>
              <a:ext cx="185172" cy="360000"/>
            </a:xfrm>
            <a:custGeom>
              <a:avLst/>
              <a:gdLst>
                <a:gd name="T0" fmla="*/ 31 w 70"/>
                <a:gd name="T1" fmla="*/ 0 h 158"/>
                <a:gd name="T2" fmla="*/ 70 w 70"/>
                <a:gd name="T3" fmla="*/ 0 h 158"/>
                <a:gd name="T4" fmla="*/ 39 w 70"/>
                <a:gd name="T5" fmla="*/ 158 h 158"/>
                <a:gd name="T6" fmla="*/ 0 w 70"/>
                <a:gd name="T7" fmla="*/ 158 h 158"/>
                <a:gd name="T8" fmla="*/ 31 w 70"/>
                <a:gd name="T9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158">
                  <a:moveTo>
                    <a:pt x="31" y="0"/>
                  </a:moveTo>
                  <a:lnTo>
                    <a:pt x="70" y="0"/>
                  </a:lnTo>
                  <a:lnTo>
                    <a:pt x="39" y="158"/>
                  </a:lnTo>
                  <a:lnTo>
                    <a:pt x="0" y="158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9525">
              <a:solidFill>
                <a:srgbClr val="005BAD">
                  <a:alpha val="60268"/>
                </a:srgbClr>
              </a:solidFill>
              <a:round/>
            </a:ln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9" name="日期占位符 135"/>
          <p:cNvSpPr txBox="1"/>
          <p:nvPr userDrawn="1"/>
        </p:nvSpPr>
        <p:spPr>
          <a:xfrm>
            <a:off x="9048328" y="6555494"/>
            <a:ext cx="2883976" cy="267573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dirty="0">
                <a:solidFill>
                  <a:srgbClr val="005BAD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华中科技大学电子信息与通信学院</a:t>
            </a:r>
          </a:p>
        </p:txBody>
      </p:sp>
      <p:sp>
        <p:nvSpPr>
          <p:cNvPr id="60" name="页脚占位符 136"/>
          <p:cNvSpPr txBox="1"/>
          <p:nvPr userDrawn="1"/>
        </p:nvSpPr>
        <p:spPr>
          <a:xfrm>
            <a:off x="187688" y="6552438"/>
            <a:ext cx="2880000" cy="2736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dist" defTabSz="9144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005BAD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明德厚学 求是创新</a:t>
            </a:r>
          </a:p>
        </p:txBody>
      </p:sp>
      <p:sp>
        <p:nvSpPr>
          <p:cNvPr id="61" name="Slide Number Placeholder 5"/>
          <p:cNvSpPr txBox="1"/>
          <p:nvPr userDrawn="1"/>
        </p:nvSpPr>
        <p:spPr>
          <a:xfrm>
            <a:off x="5853936" y="6626574"/>
            <a:ext cx="480484" cy="1254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US"/>
            </a:defPPr>
            <a:lvl1pPr mar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defRPr sz="1000" b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3DA0BB7-265A-403C-9275-D587AB510EDC}" type="slidenum">
              <a:rPr lang="zh-TW" altLang="en-US" b="0" smtClean="0">
                <a:solidFill>
                  <a:srgbClr val="005BAD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TW" altLang="en-US" b="0" dirty="0">
              <a:solidFill>
                <a:srgbClr val="005BAD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2" name="直接连接符 23"/>
          <p:cNvCxnSpPr/>
          <p:nvPr userDrawn="1"/>
        </p:nvCxnSpPr>
        <p:spPr>
          <a:xfrm>
            <a:off x="0" y="908720"/>
            <a:ext cx="12192000" cy="12363"/>
          </a:xfrm>
          <a:prstGeom prst="line">
            <a:avLst/>
          </a:prstGeom>
          <a:noFill/>
          <a:ln w="6350" cap="flat" cmpd="sng" algn="ctr">
            <a:solidFill>
              <a:srgbClr val="005BAD">
                <a:alpha val="80000"/>
              </a:srgbClr>
            </a:solidFill>
            <a:prstDash val="solid"/>
            <a:miter lim="800000"/>
          </a:ln>
          <a:effectLst/>
        </p:spPr>
      </p:cxnSp>
      <p:cxnSp>
        <p:nvCxnSpPr>
          <p:cNvPr id="63" name="直接连接符 23"/>
          <p:cNvCxnSpPr/>
          <p:nvPr userDrawn="1"/>
        </p:nvCxnSpPr>
        <p:spPr>
          <a:xfrm>
            <a:off x="-2381" y="6512981"/>
            <a:ext cx="12192000" cy="12363"/>
          </a:xfrm>
          <a:prstGeom prst="line">
            <a:avLst/>
          </a:prstGeom>
          <a:noFill/>
          <a:ln w="6350" cap="flat" cmpd="sng" algn="ctr">
            <a:solidFill>
              <a:srgbClr val="005BAD">
                <a:alpha val="75000"/>
              </a:srgbClr>
            </a:solidFill>
            <a:prstDash val="solid"/>
            <a:miter lim="800000"/>
          </a:ln>
          <a:effectLst/>
        </p:spPr>
      </p:cxnSp>
      <p:sp>
        <p:nvSpPr>
          <p:cNvPr id="39" name="Title 1"/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430887"/>
          </a:xfrm>
        </p:spPr>
        <p:txBody>
          <a:bodyPr lIns="108000"/>
          <a:lstStyle>
            <a:lvl1pPr>
              <a:defRPr sz="28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0" dirty="0"/>
              <a:t>单击此处编辑母版标题样式</a:t>
            </a:r>
            <a:endParaRPr lang="en-US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0" y="1764030"/>
            <a:ext cx="9144000" cy="1959610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50000"/>
              </a:lnSpc>
            </a:pPr>
            <a:r>
              <a:rPr lang="zh-CN" altLang="en-US" sz="3500">
                <a:sym typeface="+mn-ea"/>
              </a:rPr>
              <a:t>单张 </a:t>
            </a:r>
            <a:r>
              <a:rPr lang="en-US" altLang="zh-CN" sz="3500">
                <a:sym typeface="+mn-ea"/>
              </a:rPr>
              <a:t>2D </a:t>
            </a:r>
            <a:r>
              <a:rPr lang="zh-CN" altLang="en-US" sz="3500">
                <a:sym typeface="+mn-ea"/>
              </a:rPr>
              <a:t>图像转浅 </a:t>
            </a:r>
            <a:r>
              <a:rPr lang="en-US" altLang="zh-CN" sz="3500">
                <a:sym typeface="+mn-ea"/>
              </a:rPr>
              <a:t>3D </a:t>
            </a:r>
            <a:r>
              <a:rPr lang="zh-CN" altLang="en-US" sz="3500">
                <a:sym typeface="+mn-ea"/>
              </a:rPr>
              <a:t>表达</a:t>
            </a:r>
            <a:br>
              <a:rPr lang="zh-CN" altLang="en-US" sz="3500">
                <a:sym typeface="+mn-ea"/>
              </a:rPr>
            </a:br>
            <a:r>
              <a:rPr lang="zh-CN" altLang="en-US" sz="3500">
                <a:sym typeface="+mn-ea"/>
              </a:rPr>
              <a:t>研究进展</a:t>
            </a:r>
            <a:endParaRPr lang="en-US" altLang="zh-CN" sz="3500" dirty="0">
              <a:sym typeface="+mn-ea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3335655" y="4516120"/>
            <a:ext cx="2179320" cy="50292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3159760" y="4580255"/>
            <a:ext cx="2531110" cy="4387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2000" dirty="0">
                <a:solidFill>
                  <a:schemeClr val="accent1"/>
                </a:solidFill>
              </a:rPr>
              <a:t>汇报人：孟辰洋</a:t>
            </a:r>
          </a:p>
        </p:txBody>
      </p:sp>
      <p:sp>
        <p:nvSpPr>
          <p:cNvPr id="19" name="Shape 1"/>
          <p:cNvSpPr/>
          <p:nvPr/>
        </p:nvSpPr>
        <p:spPr>
          <a:xfrm>
            <a:off x="6307455" y="4516120"/>
            <a:ext cx="2179320" cy="50292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0" name="文本占位符 6"/>
          <p:cNvSpPr>
            <a:spLocks noGrp="1"/>
          </p:cNvSpPr>
          <p:nvPr/>
        </p:nvSpPr>
        <p:spPr>
          <a:xfrm>
            <a:off x="6131560" y="4580255"/>
            <a:ext cx="2531110" cy="4387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i="0" kern="12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>
                <a:solidFill>
                  <a:schemeClr val="accent1"/>
                </a:solidFill>
              </a:rPr>
              <a:t>时间：</a:t>
            </a:r>
            <a:r>
              <a:rPr lang="en-US" altLang="zh-CN" sz="2000">
                <a:solidFill>
                  <a:schemeClr val="accent1"/>
                </a:solidFill>
              </a:rPr>
              <a:t>2026.7.10</a:t>
            </a:r>
            <a:endParaRPr lang="zh-CN" altLang="en-US" sz="20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772020C3-EBC8-3E68-A923-885F3FB72CE2}"/>
              </a:ext>
            </a:extLst>
          </p:cNvPr>
          <p:cNvSpPr txBox="1"/>
          <p:nvPr/>
        </p:nvSpPr>
        <p:spPr>
          <a:xfrm>
            <a:off x="622915" y="205493"/>
            <a:ext cx="10541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25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本阶段完成的工作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1A512C-29FC-3441-37B9-D67F064C8266}"/>
              </a:ext>
            </a:extLst>
          </p:cNvPr>
          <p:cNvSpPr txBox="1"/>
          <p:nvPr/>
        </p:nvSpPr>
        <p:spPr>
          <a:xfrm>
            <a:off x="660400" y="673100"/>
            <a:ext cx="990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050" dirty="0">
                <a:solidFill>
                  <a:srgbClr val="667C97"/>
                </a:solidFill>
                <a:latin typeface="Microsoft YaHei" panose="020B0503020204020204" pitchFamily="34" charset="-122"/>
              </a:rPr>
              <a:t>两篇新视角合成基石论文 </a:t>
            </a:r>
            <a:r>
              <a:rPr lang="en-US" altLang="zh-CN" sz="1050" dirty="0">
                <a:solidFill>
                  <a:srgbClr val="667C97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050" dirty="0">
                <a:solidFill>
                  <a:srgbClr val="667C97"/>
                </a:solidFill>
                <a:latin typeface="Microsoft YaHei" panose="020B0503020204020204" pitchFamily="34" charset="-122"/>
              </a:rPr>
              <a:t>两篇单图浅 </a:t>
            </a:r>
            <a:r>
              <a:rPr lang="en-US" altLang="zh-CN" sz="1050" dirty="0">
                <a:solidFill>
                  <a:srgbClr val="667C97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1050" dirty="0">
                <a:solidFill>
                  <a:srgbClr val="667C97"/>
                </a:solidFill>
                <a:latin typeface="Microsoft YaHei" panose="020B0503020204020204" pitchFamily="34" charset="-122"/>
              </a:rPr>
              <a:t>核心论文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79DF0DE-B8A9-C149-D312-56183EE7BB40}"/>
              </a:ext>
            </a:extLst>
          </p:cNvPr>
          <p:cNvSpPr txBox="1"/>
          <p:nvPr/>
        </p:nvSpPr>
        <p:spPr>
          <a:xfrm>
            <a:off x="368300" y="4935087"/>
            <a:ext cx="228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650" b="1" dirty="0" err="1">
                <a:solidFill>
                  <a:srgbClr val="0D569A"/>
                </a:solidFill>
                <a:latin typeface="Microsoft YaHei" panose="020B0503020204020204" pitchFamily="34" charset="-122"/>
              </a:rPr>
              <a:t>NeRF</a:t>
            </a:r>
            <a:endParaRPr lang="zh-CN" altLang="en-US" sz="1650" b="1" dirty="0">
              <a:solidFill>
                <a:srgbClr val="0D56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5E73C2-0673-E3C1-735D-3D01558BA401}"/>
              </a:ext>
            </a:extLst>
          </p:cNvPr>
          <p:cNvSpPr txBox="1"/>
          <p:nvPr/>
        </p:nvSpPr>
        <p:spPr>
          <a:xfrm>
            <a:off x="368300" y="5392287"/>
            <a:ext cx="228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250">
                <a:solidFill>
                  <a:srgbClr val="667C97"/>
                </a:solidFill>
                <a:latin typeface="Microsoft YaHei" panose="020B0503020204020204" pitchFamily="34" charset="-122"/>
              </a:rPr>
              <a:t>连续场与体积渲染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AEC23AE-1BF2-8B23-183B-834FDEEA1B71}"/>
              </a:ext>
            </a:extLst>
          </p:cNvPr>
          <p:cNvSpPr txBox="1"/>
          <p:nvPr/>
        </p:nvSpPr>
        <p:spPr>
          <a:xfrm>
            <a:off x="3289300" y="4824598"/>
            <a:ext cx="22860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6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3D Gaussian Splatting</a:t>
            </a:r>
            <a:endParaRPr lang="zh-CN" altLang="en-US" sz="1650" b="1" dirty="0">
              <a:solidFill>
                <a:srgbClr val="0D56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7397CAF-BE25-A81F-9FDA-D99B96BFBDF5}"/>
              </a:ext>
            </a:extLst>
          </p:cNvPr>
          <p:cNvSpPr txBox="1"/>
          <p:nvPr/>
        </p:nvSpPr>
        <p:spPr>
          <a:xfrm>
            <a:off x="3289300" y="5392287"/>
            <a:ext cx="228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250" dirty="0">
                <a:solidFill>
                  <a:srgbClr val="667C97"/>
                </a:solidFill>
                <a:latin typeface="Microsoft YaHei" panose="020B0503020204020204" pitchFamily="34" charset="-122"/>
              </a:rPr>
              <a:t>显式高斯与实时渲染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D85160-AFA9-AA34-18E2-CC4037800709}"/>
              </a:ext>
            </a:extLst>
          </p:cNvPr>
          <p:cNvSpPr txBox="1"/>
          <p:nvPr/>
        </p:nvSpPr>
        <p:spPr>
          <a:xfrm>
            <a:off x="6210300" y="4935087"/>
            <a:ext cx="228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650" b="1">
                <a:solidFill>
                  <a:srgbClr val="0D569A"/>
                </a:solidFill>
                <a:latin typeface="Microsoft YaHei" panose="020B0503020204020204" pitchFamily="34" charset="-122"/>
              </a:rPr>
              <a:t>3D Photography</a:t>
            </a:r>
            <a:endParaRPr lang="zh-CN" altLang="en-US" sz="1650" b="1">
              <a:solidFill>
                <a:srgbClr val="0D56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CE0CED4-782F-0D0F-3D49-9F17384120FC}"/>
              </a:ext>
            </a:extLst>
          </p:cNvPr>
          <p:cNvSpPr txBox="1"/>
          <p:nvPr/>
        </p:nvSpPr>
        <p:spPr>
          <a:xfrm>
            <a:off x="6210300" y="5392287"/>
            <a:ext cx="228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250">
                <a:solidFill>
                  <a:srgbClr val="667C97"/>
                </a:solidFill>
                <a:latin typeface="Microsoft YaHei" panose="020B0503020204020204" pitchFamily="34" charset="-122"/>
              </a:rPr>
              <a:t>显露区域与 </a:t>
            </a:r>
            <a:r>
              <a:rPr lang="en-US" altLang="zh-CN" sz="1250">
                <a:solidFill>
                  <a:srgbClr val="667C97"/>
                </a:solidFill>
                <a:latin typeface="Microsoft YaHei" panose="020B0503020204020204" pitchFamily="34" charset="-122"/>
              </a:rPr>
              <a:t>LDI </a:t>
            </a:r>
            <a:r>
              <a:rPr lang="zh-CN" altLang="en-US" sz="1250">
                <a:solidFill>
                  <a:srgbClr val="667C97"/>
                </a:solidFill>
                <a:latin typeface="Microsoft YaHei" panose="020B0503020204020204" pitchFamily="34" charset="-122"/>
              </a:rPr>
              <a:t>补全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F36C573-C68F-D9EA-1B4C-D112893CCFD8}"/>
              </a:ext>
            </a:extLst>
          </p:cNvPr>
          <p:cNvSpPr txBox="1"/>
          <p:nvPr/>
        </p:nvSpPr>
        <p:spPr>
          <a:xfrm>
            <a:off x="9131300" y="4935087"/>
            <a:ext cx="228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650" b="1">
                <a:solidFill>
                  <a:srgbClr val="0D569A"/>
                </a:solidFill>
                <a:latin typeface="Microsoft YaHei" panose="020B0503020204020204" pitchFamily="34" charset="-122"/>
              </a:rPr>
              <a:t>SLIDE</a:t>
            </a:r>
            <a:endParaRPr lang="zh-CN" altLang="en-US" sz="1650" b="1">
              <a:solidFill>
                <a:srgbClr val="0D56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8EA844A-0C34-DCE9-D63F-F7DB80AF0EE1}"/>
              </a:ext>
            </a:extLst>
          </p:cNvPr>
          <p:cNvSpPr txBox="1"/>
          <p:nvPr/>
        </p:nvSpPr>
        <p:spPr>
          <a:xfrm>
            <a:off x="9131300" y="5392287"/>
            <a:ext cx="228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250">
                <a:solidFill>
                  <a:srgbClr val="667C97"/>
                </a:solidFill>
                <a:latin typeface="Microsoft YaHei" panose="020B0503020204020204" pitchFamily="34" charset="-122"/>
              </a:rPr>
              <a:t>软分层与细结构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DEC283A-5494-1D5F-ED2C-B5C5D8996E7E}"/>
              </a:ext>
            </a:extLst>
          </p:cNvPr>
          <p:cNvSpPr txBox="1"/>
          <p:nvPr/>
        </p:nvSpPr>
        <p:spPr>
          <a:xfrm>
            <a:off x="698500" y="6197600"/>
            <a:ext cx="107950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图源：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NeRF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（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ECCV 2020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）、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3DGS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（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SIGGRAPH 2023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）、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3D Photography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（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CVPR 2020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）、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SLIDE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（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2021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A1F5C4C-4DF5-5D52-8861-C6B97DFA72EC}"/>
              </a:ext>
            </a:extLst>
          </p:cNvPr>
          <p:cNvPicPr>
            <a:picLocks/>
          </p:cNvPicPr>
          <p:nvPr/>
        </p:nvPicPr>
        <p:blipFill>
          <a:blip r:embed="rId3"/>
          <a:srcRect r="50771"/>
          <a:stretch>
            <a:fillRect/>
          </a:stretch>
        </p:blipFill>
        <p:spPr>
          <a:xfrm>
            <a:off x="249439" y="1709493"/>
            <a:ext cx="2630411" cy="123063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2B859DC-8794-BAF5-15C4-58E19CD0F151}"/>
              </a:ext>
            </a:extLst>
          </p:cNvPr>
          <p:cNvPicPr>
            <a:picLocks/>
          </p:cNvPicPr>
          <p:nvPr/>
        </p:nvPicPr>
        <p:blipFill>
          <a:blip r:embed="rId3"/>
          <a:srcRect l="53646"/>
          <a:stretch>
            <a:fillRect/>
          </a:stretch>
        </p:blipFill>
        <p:spPr>
          <a:xfrm>
            <a:off x="256880" y="3112155"/>
            <a:ext cx="2699535" cy="136921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FADEF00-CA74-0645-085D-AE8496DBA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496" y="1817642"/>
            <a:ext cx="2916304" cy="136921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A4E8813-EC0F-04A0-4A53-15F7B79338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3496" y="3186854"/>
            <a:ext cx="2916304" cy="1357185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212F2916-6A53-8FD4-595B-DF05869A12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4389" y="1817642"/>
            <a:ext cx="2336943" cy="1493914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ED2E553B-936C-46D6-D71B-A9C6430AC5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433" y="3332024"/>
            <a:ext cx="2252854" cy="146844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76D30B91-02C0-B39E-8DB1-DBA477817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8761" y="2005303"/>
            <a:ext cx="3169239" cy="1319683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BD50BAE2-8332-2658-4E85-8498E525F8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8761" y="3402594"/>
            <a:ext cx="3185902" cy="13196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3C8A875B-4E2F-4A87-C8B8-E3CCF865B605}"/>
              </a:ext>
            </a:extLst>
          </p:cNvPr>
          <p:cNvSpPr txBox="1"/>
          <p:nvPr/>
        </p:nvSpPr>
        <p:spPr>
          <a:xfrm>
            <a:off x="635000" y="203200"/>
            <a:ext cx="10541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2550" b="1" dirty="0" err="1">
                <a:solidFill>
                  <a:srgbClr val="0D569A"/>
                </a:solidFill>
                <a:latin typeface="Microsoft YaHei" panose="020B0503020204020204" pitchFamily="34" charset="-122"/>
              </a:rPr>
              <a:t>NeRF</a:t>
            </a:r>
            <a:r>
              <a:rPr lang="en-US" altLang="zh-CN" sz="25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25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用神经网络表示连续三维场景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18CF3AF-EB3D-77CA-1217-C3162341B303}"/>
              </a:ext>
            </a:extLst>
          </p:cNvPr>
          <p:cNvSpPr txBox="1"/>
          <p:nvPr/>
        </p:nvSpPr>
        <p:spPr>
          <a:xfrm>
            <a:off x="660400" y="673100"/>
            <a:ext cx="990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1050">
                <a:solidFill>
                  <a:srgbClr val="667C97"/>
                </a:solidFill>
                <a:latin typeface="Microsoft YaHei" panose="020B0503020204020204" pitchFamily="34" charset="-122"/>
              </a:rPr>
              <a:t>Neural Radiance Fields</a:t>
            </a:r>
            <a:r>
              <a:rPr lang="zh-CN" altLang="en-US" sz="1050">
                <a:solidFill>
                  <a:srgbClr val="667C97"/>
                </a:solidFill>
                <a:latin typeface="Microsoft YaHei" panose="020B0503020204020204" pitchFamily="34" charset="-122"/>
              </a:rPr>
              <a:t>，神经辐射场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4C3C45-CE4F-78E0-6F12-8CB1A5884D9D}"/>
              </a:ext>
            </a:extLst>
          </p:cNvPr>
          <p:cNvSpPr txBox="1"/>
          <p:nvPr/>
        </p:nvSpPr>
        <p:spPr>
          <a:xfrm>
            <a:off x="7030720" y="1962715"/>
            <a:ext cx="43942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b="1" dirty="0">
                <a:solidFill>
                  <a:srgbClr val="22C7E2"/>
                </a:solidFill>
                <a:latin typeface="Microsoft YaHei" panose="020B0503020204020204" pitchFamily="34" charset="-122"/>
              </a:rPr>
              <a:t>Method Overview</a:t>
            </a:r>
            <a:endParaRPr lang="zh-CN" altLang="en-US" b="1" dirty="0">
              <a:solidFill>
                <a:srgbClr val="22C7E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F0F8ED-F9BA-1B18-2BE8-66FF2D808EF2}"/>
              </a:ext>
            </a:extLst>
          </p:cNvPr>
          <p:cNvSpPr txBox="1"/>
          <p:nvPr/>
        </p:nvSpPr>
        <p:spPr>
          <a:xfrm>
            <a:off x="7030720" y="2559615"/>
            <a:ext cx="5064760" cy="225806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dirty="0">
                <a:solidFill>
                  <a:schemeClr val="tx2"/>
                </a:solidFill>
                <a:latin typeface="Microsoft YaHei" panose="020B0503020204020204" pitchFamily="34" charset="-122"/>
              </a:rPr>
              <a:t>采用 </a:t>
            </a:r>
            <a:r>
              <a:rPr lang="en-US" altLang="zh-CN" dirty="0">
                <a:solidFill>
                  <a:schemeClr val="tx2"/>
                </a:solidFill>
                <a:latin typeface="Microsoft YaHei" panose="020B0503020204020204" pitchFamily="34" charset="-122"/>
              </a:rPr>
              <a:t>MLP </a:t>
            </a:r>
            <a:r>
              <a:rPr lang="zh-CN" altLang="en-US" dirty="0">
                <a:solidFill>
                  <a:schemeClr val="tx2"/>
                </a:solidFill>
                <a:latin typeface="Microsoft YaHei" panose="020B0503020204020204" pitchFamily="34" charset="-122"/>
              </a:rPr>
              <a:t>参数化连续 </a:t>
            </a:r>
            <a:r>
              <a:rPr lang="en-US" altLang="zh-CN" dirty="0">
                <a:solidFill>
                  <a:schemeClr val="tx2"/>
                </a:solidFill>
                <a:latin typeface="Microsoft YaHei" panose="020B0503020204020204" pitchFamily="34" charset="-122"/>
              </a:rPr>
              <a:t>5D </a:t>
            </a:r>
            <a:r>
              <a:rPr lang="zh-CN" altLang="en-US" dirty="0">
                <a:solidFill>
                  <a:schemeClr val="tx2"/>
                </a:solidFill>
                <a:latin typeface="Microsoft YaHei" panose="020B0503020204020204" pitchFamily="34" charset="-122"/>
              </a:rPr>
              <a:t>辐射场。</a:t>
            </a:r>
          </a:p>
          <a:p>
            <a:endParaRPr lang="zh-CN" altLang="en-US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en-US" dirty="0">
                <a:solidFill>
                  <a:schemeClr val="tx2"/>
                </a:solidFill>
                <a:latin typeface="Microsoft YaHei" panose="020B0503020204020204" pitchFamily="34" charset="-122"/>
              </a:rPr>
              <a:t>输入：三维位置 </a:t>
            </a:r>
            <a:r>
              <a:rPr lang="en-US" altLang="zh-CN" dirty="0">
                <a:solidFill>
                  <a:schemeClr val="tx2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dirty="0">
                <a:solidFill>
                  <a:schemeClr val="tx2"/>
                </a:solidFill>
                <a:latin typeface="Microsoft YaHei" panose="020B0503020204020204" pitchFamily="34" charset="-122"/>
              </a:rPr>
              <a:t>观察方向</a:t>
            </a:r>
          </a:p>
          <a:p>
            <a:r>
              <a:rPr lang="zh-CN" altLang="en-US" dirty="0">
                <a:solidFill>
                  <a:schemeClr val="tx2"/>
                </a:solidFill>
                <a:latin typeface="Microsoft YaHei" panose="020B0503020204020204" pitchFamily="34" charset="-122"/>
              </a:rPr>
              <a:t>输出：颜色 </a:t>
            </a:r>
            <a:r>
              <a:rPr lang="en-US" altLang="zh-CN" dirty="0">
                <a:solidFill>
                  <a:schemeClr val="tx2"/>
                </a:solidFill>
                <a:latin typeface="Microsoft YaHei" panose="020B0503020204020204" pitchFamily="34" charset="-122"/>
              </a:rPr>
              <a:t>RGB + </a:t>
            </a:r>
            <a:r>
              <a:rPr lang="zh-CN" altLang="en-US" dirty="0">
                <a:solidFill>
                  <a:schemeClr val="tx2"/>
                </a:solidFill>
                <a:latin typeface="Microsoft YaHei" panose="020B0503020204020204" pitchFamily="34" charset="-122"/>
              </a:rPr>
              <a:t>体积密度 </a:t>
            </a:r>
            <a:r>
              <a:rPr lang="en-US" altLang="zh-CN" dirty="0">
                <a:solidFill>
                  <a:schemeClr val="tx2"/>
                </a:solidFill>
                <a:latin typeface="Microsoft YaHei" panose="020B0503020204020204" pitchFamily="34" charset="-122"/>
              </a:rPr>
              <a:t>σ</a:t>
            </a:r>
          </a:p>
          <a:p>
            <a:endParaRPr lang="en-US" altLang="zh-CN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en-US" dirty="0">
                <a:solidFill>
                  <a:schemeClr val="tx2"/>
                </a:solidFill>
                <a:latin typeface="Microsoft YaHei" panose="020B0503020204020204" pitchFamily="34" charset="-122"/>
              </a:rPr>
              <a:t>沿相机光线采样，并通过可微体积渲染合成像素</a:t>
            </a:r>
            <a:r>
              <a:rPr lang="zh-CN" altLang="en-US" sz="1500" dirty="0">
                <a:solidFill>
                  <a:srgbClr val="FFFFFF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7BDB529-C9DF-CFA6-23F8-605A54B77877}"/>
              </a:ext>
            </a:extLst>
          </p:cNvPr>
          <p:cNvSpPr txBox="1"/>
          <p:nvPr/>
        </p:nvSpPr>
        <p:spPr>
          <a:xfrm>
            <a:off x="698500" y="6197600"/>
            <a:ext cx="10795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图源：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NeRF 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原论文 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Fig. 2</a:t>
            </a:r>
            <a:endParaRPr lang="zh-CN" altLang="en-US" sz="850">
              <a:solidFill>
                <a:srgbClr val="667C97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F27577-F758-0619-9459-CCBF19F15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" y="2312111"/>
            <a:ext cx="6375043" cy="208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858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F59B97C7-330D-2316-6691-744EADCB3AED}"/>
              </a:ext>
            </a:extLst>
          </p:cNvPr>
          <p:cNvSpPr txBox="1"/>
          <p:nvPr/>
        </p:nvSpPr>
        <p:spPr>
          <a:xfrm>
            <a:off x="635000" y="203200"/>
            <a:ext cx="10541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NeRF </a:t>
            </a:r>
            <a:r>
              <a:rPr lang="zh-CN" altLang="en-US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的三个关键设计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CE53C5-5BD7-5482-766C-AF591A0BD3A1}"/>
              </a:ext>
            </a:extLst>
          </p:cNvPr>
          <p:cNvSpPr txBox="1"/>
          <p:nvPr/>
        </p:nvSpPr>
        <p:spPr>
          <a:xfrm>
            <a:off x="660400" y="673100"/>
            <a:ext cx="990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050">
                <a:solidFill>
                  <a:srgbClr val="667C97"/>
                </a:solidFill>
                <a:latin typeface="Microsoft YaHei" panose="020B0503020204020204" pitchFamily="34" charset="-122"/>
              </a:rPr>
              <a:t>连续表示、位置编码和分层采样共同保证质量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15A7782-2718-4A6F-FBAE-8C5A63233A8E}"/>
              </a:ext>
            </a:extLst>
          </p:cNvPr>
          <p:cNvSpPr txBox="1"/>
          <p:nvPr/>
        </p:nvSpPr>
        <p:spPr>
          <a:xfrm>
            <a:off x="749300" y="1767840"/>
            <a:ext cx="31242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b="1" dirty="0">
                <a:solidFill>
                  <a:srgbClr val="22C7E2"/>
                </a:solidFill>
                <a:latin typeface="Microsoft YaHei" panose="020B0503020204020204" pitchFamily="34" charset="-122"/>
              </a:rPr>
              <a:t>① MLP </a:t>
            </a:r>
            <a:r>
              <a:rPr lang="zh-CN" altLang="en-US" b="1" dirty="0">
                <a:solidFill>
                  <a:srgbClr val="22C7E2"/>
                </a:solidFill>
                <a:latin typeface="Microsoft YaHei" panose="020B0503020204020204" pitchFamily="34" charset="-122"/>
              </a:rPr>
              <a:t>表示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4713EF2-F82D-3C50-0FC8-C94EA8092AF1}"/>
              </a:ext>
            </a:extLst>
          </p:cNvPr>
          <p:cNvSpPr txBox="1"/>
          <p:nvPr/>
        </p:nvSpPr>
        <p:spPr>
          <a:xfrm>
            <a:off x="749300" y="2364740"/>
            <a:ext cx="3124200" cy="1477328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380" dirty="0">
                <a:solidFill>
                  <a:schemeClr val="tx2"/>
                </a:solidFill>
                <a:latin typeface="Microsoft YaHei" panose="020B0503020204020204" pitchFamily="34" charset="-122"/>
              </a:rPr>
              <a:t>用网络参数存储连续场景。</a:t>
            </a:r>
          </a:p>
          <a:p>
            <a:endParaRPr lang="zh-CN" altLang="en-US" sz="138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380" dirty="0">
                <a:solidFill>
                  <a:schemeClr val="tx2"/>
                </a:solidFill>
                <a:latin typeface="Microsoft YaHei" panose="020B0503020204020204" pitchFamily="34" charset="-122"/>
              </a:rPr>
              <a:t>优点：表达连续、存储紧凑。</a:t>
            </a:r>
          </a:p>
          <a:p>
            <a:r>
              <a:rPr lang="zh-CN" altLang="en-US" sz="1380" dirty="0">
                <a:solidFill>
                  <a:schemeClr val="tx2"/>
                </a:solidFill>
                <a:latin typeface="Microsoft YaHei" panose="020B0503020204020204" pitchFamily="34" charset="-122"/>
              </a:rPr>
              <a:t>代价：每个采样点都要查询网络。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FC87437-EE04-F706-FCE1-41C350D4E96D}"/>
              </a:ext>
            </a:extLst>
          </p:cNvPr>
          <p:cNvSpPr txBox="1"/>
          <p:nvPr/>
        </p:nvSpPr>
        <p:spPr>
          <a:xfrm>
            <a:off x="4559300" y="1767840"/>
            <a:ext cx="31242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b="1" dirty="0">
                <a:solidFill>
                  <a:srgbClr val="22C7E2"/>
                </a:solidFill>
                <a:latin typeface="Microsoft YaHei" panose="020B0503020204020204" pitchFamily="34" charset="-122"/>
              </a:rPr>
              <a:t>② 位置编码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6678C8-F680-92E6-4BAA-908B74B89E6F}"/>
              </a:ext>
            </a:extLst>
          </p:cNvPr>
          <p:cNvSpPr txBox="1"/>
          <p:nvPr/>
        </p:nvSpPr>
        <p:spPr>
          <a:xfrm>
            <a:off x="4559300" y="2364740"/>
            <a:ext cx="3197860" cy="118243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380" dirty="0">
                <a:solidFill>
                  <a:schemeClr val="tx2"/>
                </a:solidFill>
                <a:latin typeface="Microsoft YaHei" panose="020B0503020204020204" pitchFamily="34" charset="-122"/>
              </a:rPr>
              <a:t>将坐标映射到多频率 </a:t>
            </a:r>
            <a:r>
              <a:rPr lang="en-US" altLang="zh-CN" sz="1380" dirty="0">
                <a:solidFill>
                  <a:schemeClr val="tx2"/>
                </a:solidFill>
                <a:latin typeface="Microsoft YaHei" panose="020B0503020204020204" pitchFamily="34" charset="-122"/>
              </a:rPr>
              <a:t>sin/cos </a:t>
            </a:r>
            <a:r>
              <a:rPr lang="zh-CN" altLang="en-US" sz="1380" dirty="0">
                <a:solidFill>
                  <a:schemeClr val="tx2"/>
                </a:solidFill>
                <a:latin typeface="Microsoft YaHei" panose="020B0503020204020204" pitchFamily="34" charset="-122"/>
              </a:rPr>
              <a:t>基底，以增强 </a:t>
            </a:r>
            <a:r>
              <a:rPr lang="en-US" altLang="zh-CN" sz="1380" dirty="0">
                <a:solidFill>
                  <a:schemeClr val="tx2"/>
                </a:solidFill>
                <a:latin typeface="Microsoft YaHei" panose="020B0503020204020204" pitchFamily="34" charset="-122"/>
              </a:rPr>
              <a:t>MLP </a:t>
            </a:r>
            <a:r>
              <a:rPr lang="zh-CN" altLang="en-US" sz="1380" dirty="0">
                <a:solidFill>
                  <a:schemeClr val="tx2"/>
                </a:solidFill>
                <a:latin typeface="Microsoft YaHei" panose="020B0503020204020204" pitchFamily="34" charset="-122"/>
              </a:rPr>
              <a:t>对高频纹理、细线和边缘的表达能力。</a:t>
            </a:r>
            <a:endParaRPr lang="en-US" altLang="zh-CN" sz="138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en-US" altLang="zh-CN" sz="140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PE(p) = [sin(p), cos(p), sin(2p), cos(2p), …]</a:t>
            </a:r>
            <a:endParaRPr lang="zh-CN" altLang="en-US" sz="1400" b="1" dirty="0">
              <a:solidFill>
                <a:srgbClr val="0D569A"/>
              </a:solidFill>
              <a:latin typeface="Microsoft YaHei" panose="020B0503020204020204" pitchFamily="34" charset="-122"/>
            </a:endParaRPr>
          </a:p>
          <a:p>
            <a:endParaRPr lang="zh-CN" altLang="en-US" sz="1380" dirty="0">
              <a:solidFill>
                <a:schemeClr val="tx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2BC966A-E2AD-0ACA-9CD1-C016D7A44ECA}"/>
              </a:ext>
            </a:extLst>
          </p:cNvPr>
          <p:cNvSpPr txBox="1"/>
          <p:nvPr/>
        </p:nvSpPr>
        <p:spPr>
          <a:xfrm>
            <a:off x="8369300" y="1767840"/>
            <a:ext cx="31242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b="1" dirty="0">
                <a:solidFill>
                  <a:srgbClr val="22C7E2"/>
                </a:solidFill>
                <a:latin typeface="Microsoft YaHei" panose="020B0503020204020204" pitchFamily="34" charset="-122"/>
              </a:rPr>
              <a:t>③ 分层采样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E03D12-C74B-8178-0D93-BFEE1AC393E3}"/>
              </a:ext>
            </a:extLst>
          </p:cNvPr>
          <p:cNvSpPr txBox="1"/>
          <p:nvPr/>
        </p:nvSpPr>
        <p:spPr>
          <a:xfrm>
            <a:off x="8369300" y="2429772"/>
            <a:ext cx="3124200" cy="93358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380" dirty="0">
                <a:solidFill>
                  <a:schemeClr val="tx2"/>
                </a:solidFill>
                <a:latin typeface="Microsoft YaHei" panose="020B0503020204020204" pitchFamily="34" charset="-122"/>
              </a:rPr>
              <a:t>粗网络先定位物体，细网络在高密度区域增加采样，减少空白区域计算。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339C220-7737-1DAF-D02B-8BBBEFFAB96F}"/>
              </a:ext>
            </a:extLst>
          </p:cNvPr>
          <p:cNvSpPr txBox="1"/>
          <p:nvPr/>
        </p:nvSpPr>
        <p:spPr>
          <a:xfrm>
            <a:off x="698500" y="6197600"/>
            <a:ext cx="10795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850" dirty="0">
                <a:solidFill>
                  <a:srgbClr val="667C97"/>
                </a:solidFill>
                <a:latin typeface="Microsoft YaHei" panose="020B0503020204020204" pitchFamily="34" charset="-122"/>
              </a:rPr>
              <a:t>图源：</a:t>
            </a:r>
            <a:r>
              <a:rPr lang="en-US" altLang="zh-CN" sz="850" dirty="0" err="1">
                <a:solidFill>
                  <a:srgbClr val="667C97"/>
                </a:solidFill>
                <a:latin typeface="Microsoft YaHei" panose="020B0503020204020204" pitchFamily="34" charset="-122"/>
              </a:rPr>
              <a:t>NeRF</a:t>
            </a:r>
            <a:r>
              <a:rPr lang="en-US" altLang="zh-CN" sz="850" dirty="0">
                <a:solidFill>
                  <a:srgbClr val="667C97"/>
                </a:solidFill>
                <a:latin typeface="Microsoft YaHei" panose="020B0503020204020204" pitchFamily="34" charset="-122"/>
              </a:rPr>
              <a:t> Sections 3–5</a:t>
            </a:r>
            <a:r>
              <a:rPr lang="zh-CN" altLang="en-US" sz="850" dirty="0">
                <a:solidFill>
                  <a:srgbClr val="667C97"/>
                </a:solidFill>
                <a:latin typeface="Microsoft YaHei" panose="020B0503020204020204" pitchFamily="34" charset="-122"/>
              </a:rPr>
              <a:t>；公式按原文简化排版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7EC4A1-1CBE-919F-26F7-4CC8EDB88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160" y="3614362"/>
            <a:ext cx="4062479" cy="11824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EE6A917-E9D3-3822-AAA4-29F79B6B9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60" y="3614362"/>
            <a:ext cx="3307080" cy="103084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A6B22A6-E399-85F8-8CDD-BD18CA6F1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2639" y="3363361"/>
            <a:ext cx="3749040" cy="155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228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754376-2BF6-4B9A-2928-14503E61D3EB}"/>
              </a:ext>
            </a:extLst>
          </p:cNvPr>
          <p:cNvSpPr txBox="1"/>
          <p:nvPr/>
        </p:nvSpPr>
        <p:spPr>
          <a:xfrm>
            <a:off x="660400" y="673100"/>
            <a:ext cx="990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050">
                <a:solidFill>
                  <a:srgbClr val="667C97"/>
                </a:solidFill>
                <a:latin typeface="Microsoft YaHei" panose="020B0503020204020204" pitchFamily="34" charset="-122"/>
              </a:rPr>
              <a:t>每个高斯直接保存位置、大小、方向、颜色和透明度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043F5A0-35BC-5C38-99B9-FAAE0561B693}"/>
              </a:ext>
            </a:extLst>
          </p:cNvPr>
          <p:cNvSpPr txBox="1"/>
          <p:nvPr/>
        </p:nvSpPr>
        <p:spPr>
          <a:xfrm>
            <a:off x="7493002" y="2500769"/>
            <a:ext cx="40132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b="1" dirty="0">
                <a:solidFill>
                  <a:srgbClr val="48DEAB"/>
                </a:solidFill>
                <a:latin typeface="Microsoft YaHei" panose="020B0503020204020204" pitchFamily="34" charset="-122"/>
              </a:rPr>
              <a:t>显式高斯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8EAA5D8-70D4-6E07-5F2D-3DA5366E8789}"/>
              </a:ext>
            </a:extLst>
          </p:cNvPr>
          <p:cNvSpPr txBox="1"/>
          <p:nvPr/>
        </p:nvSpPr>
        <p:spPr>
          <a:xfrm>
            <a:off x="7493002" y="3097669"/>
            <a:ext cx="4013200" cy="2031325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位置 </a:t>
            </a:r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(</a:t>
            </a:r>
            <a:r>
              <a:rPr lang="en-US" altLang="zh-CN" sz="1450" dirty="0" err="1">
                <a:solidFill>
                  <a:schemeClr val="tx2"/>
                </a:solidFill>
                <a:latin typeface="Microsoft YaHei" panose="020B0503020204020204" pitchFamily="34" charset="-122"/>
              </a:rPr>
              <a:t>x,y,z</a:t>
            </a:r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)</a:t>
            </a:r>
          </a:p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缩放 </a:t>
            </a:r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s </a:t>
            </a:r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与旋转 </a:t>
            </a:r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q</a:t>
            </a:r>
          </a:p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不透明度 </a:t>
            </a:r>
            <a:r>
              <a:rPr lang="el-GR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α</a:t>
            </a:r>
          </a:p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球谐颜色 </a:t>
            </a:r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SH</a:t>
            </a:r>
          </a:p>
          <a:p>
            <a:endParaRPr lang="en-US" altLang="zh-CN" sz="145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自适应密度控制</a:t>
            </a:r>
            <a:endParaRPr lang="en-US" altLang="zh-CN" sz="145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endParaRPr lang="en-US" altLang="zh-CN" sz="145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渲染时直接投影到屏幕，再进行 </a:t>
            </a:r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Alpha </a:t>
            </a:r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混合。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95CEFE-502F-EC70-663B-4A0CB54967B2}"/>
              </a:ext>
            </a:extLst>
          </p:cNvPr>
          <p:cNvSpPr txBox="1"/>
          <p:nvPr/>
        </p:nvSpPr>
        <p:spPr>
          <a:xfrm>
            <a:off x="698500" y="5637481"/>
            <a:ext cx="663194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3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协方差参数化</a:t>
            </a:r>
            <a:r>
              <a:rPr lang="en-US" altLang="zh-CN" sz="13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                              </a:t>
            </a:r>
            <a:r>
              <a:rPr lang="zh-CN" altLang="en-US" sz="13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→　保证形状可优化，并能投影成屏幕上的椭圆斑。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45F2DA1-13AA-FF76-A567-7B5B2D27282F}"/>
              </a:ext>
            </a:extLst>
          </p:cNvPr>
          <p:cNvSpPr txBox="1"/>
          <p:nvPr/>
        </p:nvSpPr>
        <p:spPr>
          <a:xfrm>
            <a:off x="698500" y="6197600"/>
            <a:ext cx="10795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图源：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3D Gaussian Splatting 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原论文 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Fig. 2 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Eq. 6</a:t>
            </a:r>
            <a:endParaRPr lang="zh-CN" altLang="en-US" sz="850">
              <a:solidFill>
                <a:srgbClr val="667C97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2AA0EC-42A4-3254-58C9-1D711EAD85B1}"/>
              </a:ext>
            </a:extLst>
          </p:cNvPr>
          <p:cNvPicPr>
            <a:picLocks/>
          </p:cNvPicPr>
          <p:nvPr/>
        </p:nvPicPr>
        <p:blipFill>
          <a:blip r:embed="rId3"/>
          <a:srcRect r="9501"/>
          <a:stretch>
            <a:fillRect/>
          </a:stretch>
        </p:blipFill>
        <p:spPr>
          <a:xfrm>
            <a:off x="1893797" y="5513032"/>
            <a:ext cx="1306602" cy="4905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7112419-33C5-6031-ED02-30000BE32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11" y="1440585"/>
            <a:ext cx="6366382" cy="131555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F2A739C-E724-6780-FD06-F4D0CB04C330}"/>
              </a:ext>
            </a:extLst>
          </p:cNvPr>
          <p:cNvSpPr txBox="1"/>
          <p:nvPr/>
        </p:nvSpPr>
        <p:spPr>
          <a:xfrm>
            <a:off x="635000" y="203200"/>
            <a:ext cx="10541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25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3DGS </a:t>
            </a:r>
            <a:r>
              <a:rPr lang="zh-CN" altLang="en-US" sz="25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用高斯椭球表示连续三维场景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F2C4094-86C6-AEB7-A87A-0C699C4E0E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870" y="2936666"/>
            <a:ext cx="3878130" cy="229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462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9038B0B9-763F-ED91-078B-9F02B4C74551}"/>
              </a:ext>
            </a:extLst>
          </p:cNvPr>
          <p:cNvSpPr txBox="1"/>
          <p:nvPr/>
        </p:nvSpPr>
        <p:spPr>
          <a:xfrm>
            <a:off x="635000" y="203200"/>
            <a:ext cx="10541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3DGS </a:t>
            </a:r>
            <a:r>
              <a:rPr lang="zh-CN" altLang="en-US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的实时渲染机制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C1E4D5-E0C8-349A-9676-504FA9D019FA}"/>
              </a:ext>
            </a:extLst>
          </p:cNvPr>
          <p:cNvSpPr txBox="1"/>
          <p:nvPr/>
        </p:nvSpPr>
        <p:spPr>
          <a:xfrm>
            <a:off x="660400" y="673100"/>
            <a:ext cx="990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050" dirty="0">
                <a:solidFill>
                  <a:srgbClr val="667C97"/>
                </a:solidFill>
                <a:latin typeface="Microsoft YaHei" panose="020B0503020204020204" pitchFamily="34" charset="-122"/>
              </a:rPr>
              <a:t>屏幕空间可微光栅化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6CD4EC5-CE37-1774-C889-D38B53D6F189}"/>
              </a:ext>
            </a:extLst>
          </p:cNvPr>
          <p:cNvSpPr txBox="1"/>
          <p:nvPr/>
        </p:nvSpPr>
        <p:spPr>
          <a:xfrm>
            <a:off x="2085340" y="3627839"/>
            <a:ext cx="45212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b="1" dirty="0" err="1">
                <a:solidFill>
                  <a:srgbClr val="FFA837"/>
                </a:solidFill>
                <a:latin typeface="Microsoft YaHei" panose="020B0503020204020204" pitchFamily="34" charset="-122"/>
              </a:rPr>
              <a:t>NeRF</a:t>
            </a:r>
            <a:r>
              <a:rPr lang="zh-CN" altLang="en-US" b="1" dirty="0">
                <a:solidFill>
                  <a:srgbClr val="FFA837"/>
                </a:solidFill>
                <a:latin typeface="Microsoft YaHei" panose="020B0503020204020204" pitchFamily="34" charset="-122"/>
              </a:rPr>
              <a:t>：光线步进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0FAA8E7-5903-0135-2D2E-1AF035602864}"/>
              </a:ext>
            </a:extLst>
          </p:cNvPr>
          <p:cNvSpPr txBox="1"/>
          <p:nvPr/>
        </p:nvSpPr>
        <p:spPr>
          <a:xfrm>
            <a:off x="2085340" y="4224739"/>
            <a:ext cx="4521200" cy="93358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每根光线采样约 </a:t>
            </a:r>
            <a:r>
              <a:rPr lang="en-US" altLang="zh-CN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192 </a:t>
            </a:r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个点</a:t>
            </a:r>
          </a:p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每个点查询 </a:t>
            </a:r>
            <a:r>
              <a:rPr lang="en-US" altLang="zh-CN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MLP</a:t>
            </a:r>
          </a:p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串行累积颜色和密度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7387309-C02B-A396-7EA9-4BA9E549B248}"/>
              </a:ext>
            </a:extLst>
          </p:cNvPr>
          <p:cNvSpPr txBox="1"/>
          <p:nvPr/>
        </p:nvSpPr>
        <p:spPr>
          <a:xfrm>
            <a:off x="6654800" y="3627839"/>
            <a:ext cx="45212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b="1">
                <a:solidFill>
                  <a:srgbClr val="48DEAB"/>
                </a:solidFill>
                <a:latin typeface="Microsoft YaHei" panose="020B0503020204020204" pitchFamily="34" charset="-122"/>
              </a:rPr>
              <a:t>3DGS</a:t>
            </a:r>
            <a:r>
              <a:rPr lang="zh-CN" altLang="en-US" b="1">
                <a:solidFill>
                  <a:srgbClr val="48DEAB"/>
                </a:solidFill>
                <a:latin typeface="Microsoft YaHei" panose="020B0503020204020204" pitchFamily="34" charset="-122"/>
              </a:rPr>
              <a:t>：屏幕空间光栅化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032600D-BFDB-DF98-C5FD-37809E44A6F2}"/>
              </a:ext>
            </a:extLst>
          </p:cNvPr>
          <p:cNvSpPr txBox="1"/>
          <p:nvPr/>
        </p:nvSpPr>
        <p:spPr>
          <a:xfrm>
            <a:off x="6654800" y="4224739"/>
            <a:ext cx="4521200" cy="93358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高斯投影到屏幕</a:t>
            </a:r>
          </a:p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按深度排序</a:t>
            </a:r>
          </a:p>
          <a:p>
            <a:r>
              <a:rPr lang="en-US" altLang="zh-CN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并行 </a:t>
            </a:r>
            <a:r>
              <a:rPr lang="en-US" altLang="zh-CN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Alpha </a:t>
            </a:r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混合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4531675-7222-512C-8E2C-A505F273B4E7}"/>
              </a:ext>
            </a:extLst>
          </p:cNvPr>
          <p:cNvSpPr txBox="1"/>
          <p:nvPr/>
        </p:nvSpPr>
        <p:spPr>
          <a:xfrm>
            <a:off x="4462780" y="3185467"/>
            <a:ext cx="26670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250" b="1" dirty="0">
                <a:solidFill>
                  <a:srgbClr val="22C7E2"/>
                </a:solidFill>
                <a:latin typeface="Microsoft YaHei" panose="020B0503020204020204" pitchFamily="34" charset="-122"/>
              </a:rPr>
              <a:t>速度对比：</a:t>
            </a:r>
            <a:r>
              <a:rPr lang="en-US" altLang="zh-CN" sz="1250" b="1" dirty="0">
                <a:solidFill>
                  <a:srgbClr val="22C7E2"/>
                </a:solidFill>
                <a:latin typeface="Microsoft YaHei" panose="020B0503020204020204" pitchFamily="34" charset="-122"/>
              </a:rPr>
              <a:t>135 fps vs 0.07 fps</a:t>
            </a:r>
            <a:endParaRPr lang="zh-CN" altLang="en-US" sz="1250" b="1" dirty="0">
              <a:solidFill>
                <a:srgbClr val="22C7E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BC32DB-3F8F-6D8C-72DB-59C7C953C4D7}"/>
              </a:ext>
            </a:extLst>
          </p:cNvPr>
          <p:cNvSpPr txBox="1"/>
          <p:nvPr/>
        </p:nvSpPr>
        <p:spPr>
          <a:xfrm>
            <a:off x="698500" y="6197600"/>
            <a:ext cx="10795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图源：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3DGS 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原论文 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Fig. 1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；速度为论文代表性场景结果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4301BA-7481-1797-4E25-A70515D8E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216" y="1391864"/>
            <a:ext cx="3942464" cy="18509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A31E417-B339-BC80-336E-7AAA5D0D2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4679" y="1409853"/>
            <a:ext cx="3938747" cy="183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79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9F70C5E9-810D-7B8F-1F4C-D737DEB6D595}"/>
              </a:ext>
            </a:extLst>
          </p:cNvPr>
          <p:cNvSpPr txBox="1"/>
          <p:nvPr/>
        </p:nvSpPr>
        <p:spPr>
          <a:xfrm>
            <a:off x="635000" y="203200"/>
            <a:ext cx="10541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单图浅 </a:t>
            </a:r>
            <a:r>
              <a:rPr lang="en-US" altLang="zh-CN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的核心困难是显露区域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614EB9-A763-45D9-0F0C-9CB8407234FC}"/>
              </a:ext>
            </a:extLst>
          </p:cNvPr>
          <p:cNvSpPr txBox="1"/>
          <p:nvPr/>
        </p:nvSpPr>
        <p:spPr>
          <a:xfrm>
            <a:off x="660400" y="673100"/>
            <a:ext cx="990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050">
                <a:solidFill>
                  <a:srgbClr val="667C97"/>
                </a:solidFill>
                <a:latin typeface="Microsoft YaHei" panose="020B0503020204020204" pitchFamily="34" charset="-122"/>
              </a:rPr>
              <a:t>新视角会露出原图中根本不存在的背景内容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31ADA03-710D-1795-F7C8-E22F08249F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13" y="2384830"/>
            <a:ext cx="6046774" cy="1770841"/>
          </a:xfrm>
          <a:prstGeom prst="rect">
            <a:avLst/>
          </a:prstGeom>
          <a:ln w="10160">
            <a:solidFill>
              <a:srgbClr val="82B4E0"/>
            </a:solidFill>
          </a:ln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74AD622-B0FC-0D2D-DA0E-65971BDC24F7}"/>
              </a:ext>
            </a:extLst>
          </p:cNvPr>
          <p:cNvSpPr txBox="1"/>
          <p:nvPr/>
        </p:nvSpPr>
        <p:spPr>
          <a:xfrm>
            <a:off x="7480300" y="1869440"/>
            <a:ext cx="40132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b="1">
                <a:solidFill>
                  <a:srgbClr val="FFA837"/>
                </a:solidFill>
                <a:latin typeface="Microsoft YaHei" panose="020B0503020204020204" pitchFamily="34" charset="-122"/>
              </a:rPr>
              <a:t>Disocclusion Problem</a:t>
            </a:r>
            <a:endParaRPr lang="zh-CN" altLang="en-US" b="1">
              <a:solidFill>
                <a:srgbClr val="FFA8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78AB38A-BA8C-ED7C-BBE3-537DC7565A64}"/>
              </a:ext>
            </a:extLst>
          </p:cNvPr>
          <p:cNvSpPr txBox="1"/>
          <p:nvPr/>
        </p:nvSpPr>
        <p:spPr>
          <a:xfrm>
            <a:off x="7480300" y="2466340"/>
            <a:ext cx="4013200" cy="2308324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视点移动后，原本被前景遮挡的背景区域重新可见。</a:t>
            </a:r>
          </a:p>
          <a:p>
            <a:endParaRPr lang="zh-CN" altLang="en-US" sz="145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直接重投影 → 空洞</a:t>
            </a:r>
          </a:p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邻域像素扩展 → 模糊、撕裂与结构失真</a:t>
            </a:r>
          </a:p>
          <a:p>
            <a:endParaRPr lang="zh-CN" altLang="en-US" sz="145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因此需要联合补全颜色与几何。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4650F0E-D359-B1D5-DF27-34FC438EEBE8}"/>
              </a:ext>
            </a:extLst>
          </p:cNvPr>
          <p:cNvSpPr txBox="1"/>
          <p:nvPr/>
        </p:nvSpPr>
        <p:spPr>
          <a:xfrm>
            <a:off x="698500" y="6197600"/>
            <a:ext cx="10795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图源：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3D Photography 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原论文 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Fig. 1</a:t>
            </a:r>
            <a:endParaRPr lang="zh-CN" altLang="en-US" sz="850">
              <a:solidFill>
                <a:srgbClr val="667C97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6341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5B770378-D675-028F-7A87-E39332D4ACA4}"/>
              </a:ext>
            </a:extLst>
          </p:cNvPr>
          <p:cNvSpPr txBox="1"/>
          <p:nvPr/>
        </p:nvSpPr>
        <p:spPr>
          <a:xfrm>
            <a:off x="635000" y="203200"/>
            <a:ext cx="10541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3D Photography </a:t>
            </a:r>
            <a:r>
              <a:rPr lang="zh-CN" altLang="en-US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建立完整的单图浅 </a:t>
            </a:r>
            <a:r>
              <a:rPr lang="en-US" altLang="zh-CN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流程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BF5367-EA98-F432-643B-44D1A065CD65}"/>
              </a:ext>
            </a:extLst>
          </p:cNvPr>
          <p:cNvSpPr txBox="1"/>
          <p:nvPr/>
        </p:nvSpPr>
        <p:spPr>
          <a:xfrm>
            <a:off x="660400" y="673100"/>
            <a:ext cx="990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1050">
                <a:solidFill>
                  <a:srgbClr val="667C97"/>
                </a:solidFill>
                <a:latin typeface="Microsoft YaHei" panose="020B0503020204020204" pitchFamily="34" charset="-122"/>
              </a:rPr>
              <a:t>RGB-D → LDI → </a:t>
            </a:r>
            <a:r>
              <a:rPr lang="zh-CN" altLang="en-US" sz="1050">
                <a:solidFill>
                  <a:srgbClr val="667C97"/>
                </a:solidFill>
                <a:latin typeface="Microsoft YaHei" panose="020B0503020204020204" pitchFamily="34" charset="-122"/>
              </a:rPr>
              <a:t>深度边界补全 → </a:t>
            </a:r>
            <a:r>
              <a:rPr lang="en-US" altLang="zh-CN" sz="1050">
                <a:solidFill>
                  <a:srgbClr val="667C97"/>
                </a:solidFill>
                <a:latin typeface="Microsoft YaHei" panose="020B0503020204020204" pitchFamily="34" charset="-122"/>
              </a:rPr>
              <a:t>Textured Mesh</a:t>
            </a:r>
            <a:endParaRPr lang="zh-CN" altLang="en-US" sz="1050">
              <a:solidFill>
                <a:srgbClr val="667C9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639D60A-253C-36BA-85F6-0D903EC107DF}"/>
              </a:ext>
            </a:extLst>
          </p:cNvPr>
          <p:cNvSpPr/>
          <p:nvPr/>
        </p:nvSpPr>
        <p:spPr>
          <a:xfrm>
            <a:off x="490220" y="2190045"/>
            <a:ext cx="1422400" cy="7366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250" b="1">
                <a:solidFill>
                  <a:srgbClr val="0D569A"/>
                </a:solidFill>
                <a:latin typeface="Microsoft YaHei" panose="020B0503020204020204" pitchFamily="34" charset="-122"/>
              </a:rPr>
              <a:t>RGB-D </a:t>
            </a:r>
            <a:r>
              <a:rPr lang="zh-CN" altLang="en-US" sz="1250" b="1">
                <a:solidFill>
                  <a:srgbClr val="0D569A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2AE21AD1-8B67-63D8-E7E2-3E1AAE6C7945}"/>
              </a:ext>
            </a:extLst>
          </p:cNvPr>
          <p:cNvSpPr/>
          <p:nvPr/>
        </p:nvSpPr>
        <p:spPr>
          <a:xfrm>
            <a:off x="1925320" y="2418645"/>
            <a:ext cx="2540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A8D4953-0386-EF47-A603-FB1C809BFF99}"/>
              </a:ext>
            </a:extLst>
          </p:cNvPr>
          <p:cNvSpPr/>
          <p:nvPr/>
        </p:nvSpPr>
        <p:spPr>
          <a:xfrm>
            <a:off x="2166620" y="2190045"/>
            <a:ext cx="1422400" cy="7366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zh-CN" altLang="en-US" sz="1250" b="1">
                <a:solidFill>
                  <a:srgbClr val="0D569A"/>
                </a:solidFill>
                <a:latin typeface="Microsoft YaHei" panose="020B0503020204020204" pitchFamily="34" charset="-122"/>
              </a:rPr>
              <a:t>深度预处理</a:t>
            </a: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168CBC65-B662-BFEF-C244-911C3845BCA7}"/>
              </a:ext>
            </a:extLst>
          </p:cNvPr>
          <p:cNvSpPr/>
          <p:nvPr/>
        </p:nvSpPr>
        <p:spPr>
          <a:xfrm>
            <a:off x="3601720" y="2418645"/>
            <a:ext cx="2540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095DDCC-7C68-0544-6A1F-245FF1737D26}"/>
              </a:ext>
            </a:extLst>
          </p:cNvPr>
          <p:cNvSpPr/>
          <p:nvPr/>
        </p:nvSpPr>
        <p:spPr>
          <a:xfrm>
            <a:off x="3843020" y="2190045"/>
            <a:ext cx="1422400" cy="7366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zh-CN" altLang="en-US" sz="1250" b="1">
                <a:solidFill>
                  <a:srgbClr val="0D569A"/>
                </a:solidFill>
                <a:latin typeface="Microsoft YaHei" panose="020B0503020204020204" pitchFamily="34" charset="-122"/>
              </a:rPr>
              <a:t>构建 </a:t>
            </a:r>
            <a:r>
              <a:rPr lang="en-US" altLang="zh-CN" sz="1250" b="1">
                <a:solidFill>
                  <a:srgbClr val="0D569A"/>
                </a:solidFill>
                <a:latin typeface="Microsoft YaHei" panose="020B0503020204020204" pitchFamily="34" charset="-122"/>
              </a:rPr>
              <a:t>LDI</a:t>
            </a:r>
            <a:endParaRPr lang="zh-CN" altLang="en-US" sz="1250" b="1">
              <a:solidFill>
                <a:srgbClr val="0D56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DAB555F6-5429-4CAF-4D1C-EF90E9B414AC}"/>
              </a:ext>
            </a:extLst>
          </p:cNvPr>
          <p:cNvSpPr/>
          <p:nvPr/>
        </p:nvSpPr>
        <p:spPr>
          <a:xfrm>
            <a:off x="5278120" y="2418645"/>
            <a:ext cx="2540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5FC7007-DEF3-5C45-C3F1-3646B8959B78}"/>
              </a:ext>
            </a:extLst>
          </p:cNvPr>
          <p:cNvSpPr/>
          <p:nvPr/>
        </p:nvSpPr>
        <p:spPr>
          <a:xfrm>
            <a:off x="5519420" y="2190045"/>
            <a:ext cx="1422400" cy="7366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zh-CN" altLang="en-US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检测边界</a:t>
            </a: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7AAB79C0-F023-8742-1859-D0100BF76A9B}"/>
              </a:ext>
            </a:extLst>
          </p:cNvPr>
          <p:cNvSpPr/>
          <p:nvPr/>
        </p:nvSpPr>
        <p:spPr>
          <a:xfrm>
            <a:off x="6954520" y="2418645"/>
            <a:ext cx="2540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BBD053D0-30EE-E07F-8D7C-9FD3D69C0C95}"/>
              </a:ext>
            </a:extLst>
          </p:cNvPr>
          <p:cNvSpPr/>
          <p:nvPr/>
        </p:nvSpPr>
        <p:spPr>
          <a:xfrm>
            <a:off x="8630920" y="2418645"/>
            <a:ext cx="2540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箭头: 右 24">
            <a:extLst>
              <a:ext uri="{FF2B5EF4-FFF2-40B4-BE49-F238E27FC236}">
                <a16:creationId xmlns:a16="http://schemas.microsoft.com/office/drawing/2014/main" id="{A712CD2A-F385-0171-25E9-C5842832AE82}"/>
              </a:ext>
            </a:extLst>
          </p:cNvPr>
          <p:cNvSpPr/>
          <p:nvPr/>
        </p:nvSpPr>
        <p:spPr>
          <a:xfrm>
            <a:off x="10307320" y="2418645"/>
            <a:ext cx="2540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E3E04EA-3EBF-FACA-8E73-F49ECF9FD091}"/>
              </a:ext>
            </a:extLst>
          </p:cNvPr>
          <p:cNvSpPr txBox="1"/>
          <p:nvPr/>
        </p:nvSpPr>
        <p:spPr>
          <a:xfrm>
            <a:off x="1711960" y="5156765"/>
            <a:ext cx="8636000" cy="38100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50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LDI </a:t>
            </a:r>
            <a:r>
              <a:rPr lang="zh-CN" altLang="en-US" sz="150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允许同一图像位置保存前景、背景等多个颜色和深度样本。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650A893-8AAC-CB27-23AD-648E81AAB573}"/>
              </a:ext>
            </a:extLst>
          </p:cNvPr>
          <p:cNvSpPr txBox="1"/>
          <p:nvPr/>
        </p:nvSpPr>
        <p:spPr>
          <a:xfrm>
            <a:off x="698500" y="6197600"/>
            <a:ext cx="10795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图源：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3D Photography 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原论文 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Fig. 3</a:t>
            </a:r>
            <a:endParaRPr lang="zh-CN" altLang="en-US" sz="850">
              <a:solidFill>
                <a:srgbClr val="667C9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5FA4C8A-5CC3-BFD1-C6DD-93E594B5DD30}"/>
              </a:ext>
            </a:extLst>
          </p:cNvPr>
          <p:cNvSpPr/>
          <p:nvPr/>
        </p:nvSpPr>
        <p:spPr>
          <a:xfrm>
            <a:off x="7195820" y="2190045"/>
            <a:ext cx="1422400" cy="7366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zh-CN" altLang="en-US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补颜色</a:t>
            </a:r>
            <a:r>
              <a:rPr lang="en-US" altLang="zh-CN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深度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443D103-262C-D8A3-24D1-B05B576FAF8E}"/>
              </a:ext>
            </a:extLst>
          </p:cNvPr>
          <p:cNvSpPr/>
          <p:nvPr/>
        </p:nvSpPr>
        <p:spPr>
          <a:xfrm>
            <a:off x="8856980" y="2190045"/>
            <a:ext cx="1422400" cy="7366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en-US" altLang="zh-CN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Textured Mesh</a:t>
            </a:r>
            <a:endParaRPr lang="zh-CN" altLang="en-US" sz="1250" b="1" dirty="0">
              <a:solidFill>
                <a:srgbClr val="0D56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29FADA73-E397-55CF-7AEF-4D39AE352C79}"/>
              </a:ext>
            </a:extLst>
          </p:cNvPr>
          <p:cNvSpPr/>
          <p:nvPr/>
        </p:nvSpPr>
        <p:spPr>
          <a:xfrm>
            <a:off x="10612120" y="2190045"/>
            <a:ext cx="1422400" cy="7366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zh-CN" altLang="en-US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实时渲染</a:t>
            </a:r>
          </a:p>
        </p:txBody>
      </p:sp>
    </p:spTree>
    <p:extLst>
      <p:ext uri="{BB962C8B-B14F-4D97-AF65-F5344CB8AC3E}">
        <p14:creationId xmlns:p14="http://schemas.microsoft.com/office/powerpoint/2010/main" val="148068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E41A6-FC72-49B3-44D6-90E7DCF08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E1AC75BC-F162-A482-7AD6-3EEFD7A07FBB}"/>
              </a:ext>
            </a:extLst>
          </p:cNvPr>
          <p:cNvSpPr txBox="1"/>
          <p:nvPr/>
        </p:nvSpPr>
        <p:spPr>
          <a:xfrm>
            <a:off x="635000" y="203200"/>
            <a:ext cx="10541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25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3D Photography </a:t>
            </a:r>
            <a:r>
              <a:rPr lang="zh-CN" altLang="en-US" sz="25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深度预处理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7C467B5-5F92-C6B1-A1A6-B4F8D6E81713}"/>
              </a:ext>
            </a:extLst>
          </p:cNvPr>
          <p:cNvSpPr/>
          <p:nvPr/>
        </p:nvSpPr>
        <p:spPr>
          <a:xfrm>
            <a:off x="1473200" y="4551059"/>
            <a:ext cx="1422400" cy="7366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zh-CN" altLang="en-US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深度转视差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E138EC76-B15E-4FF5-3538-3BF6277043F0}"/>
              </a:ext>
            </a:extLst>
          </p:cNvPr>
          <p:cNvSpPr/>
          <p:nvPr/>
        </p:nvSpPr>
        <p:spPr>
          <a:xfrm>
            <a:off x="3003550" y="4779659"/>
            <a:ext cx="2540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2FFCA4C-DA29-8307-8040-D8EFD8E6F8B3}"/>
              </a:ext>
            </a:extLst>
          </p:cNvPr>
          <p:cNvSpPr/>
          <p:nvPr/>
        </p:nvSpPr>
        <p:spPr>
          <a:xfrm>
            <a:off x="3352800" y="4551059"/>
            <a:ext cx="1422400" cy="7366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zh-CN" altLang="en-US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双边中值滤波</a:t>
            </a: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C5E6DD30-DAA6-2186-9338-2B9136AE1DB8}"/>
              </a:ext>
            </a:extLst>
          </p:cNvPr>
          <p:cNvSpPr/>
          <p:nvPr/>
        </p:nvSpPr>
        <p:spPr>
          <a:xfrm>
            <a:off x="4883150" y="4769188"/>
            <a:ext cx="2540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706DF9D-F917-4335-FDAF-51D46CC89DE3}"/>
              </a:ext>
            </a:extLst>
          </p:cNvPr>
          <p:cNvSpPr/>
          <p:nvPr/>
        </p:nvSpPr>
        <p:spPr>
          <a:xfrm>
            <a:off x="5232400" y="4540588"/>
            <a:ext cx="1422400" cy="7366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zh-CN" altLang="en-US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检查视差差异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10B5975E-EA98-F1C2-0CA2-36A8DE6D512B}"/>
              </a:ext>
            </a:extLst>
          </p:cNvPr>
          <p:cNvSpPr/>
          <p:nvPr/>
        </p:nvSpPr>
        <p:spPr>
          <a:xfrm>
            <a:off x="6734810" y="4769188"/>
            <a:ext cx="2540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8C492AC-016E-90C4-17D0-7444A1A0D396}"/>
              </a:ext>
            </a:extLst>
          </p:cNvPr>
          <p:cNvSpPr/>
          <p:nvPr/>
        </p:nvSpPr>
        <p:spPr>
          <a:xfrm>
            <a:off x="7112000" y="4540588"/>
            <a:ext cx="1422400" cy="7366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zh-CN" altLang="en-US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连通域分析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D8AAE92-17D2-619D-8DB1-21A3CE9628AA}"/>
              </a:ext>
            </a:extLst>
          </p:cNvPr>
          <p:cNvSpPr txBox="1"/>
          <p:nvPr/>
        </p:nvSpPr>
        <p:spPr>
          <a:xfrm>
            <a:off x="1778000" y="5587999"/>
            <a:ext cx="8636000" cy="59912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50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LDI </a:t>
            </a:r>
            <a:r>
              <a:rPr lang="zh-CN" altLang="en-US" sz="150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允许同一图像位置保存前景、背景等多个颜色和深度样本</a:t>
            </a:r>
            <a:endParaRPr lang="en-US" altLang="zh-CN" sz="1500" b="1" dirty="0">
              <a:solidFill>
                <a:srgbClr val="0D569A"/>
              </a:solidFill>
              <a:latin typeface="Microsoft YaHei" panose="020B0503020204020204" pitchFamily="34" charset="-122"/>
            </a:endParaRPr>
          </a:p>
          <a:p>
            <a:pPr algn="ctr"/>
            <a:r>
              <a:rPr lang="zh-CN" altLang="en-US" sz="150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后续围绕深度断层展开</a:t>
            </a:r>
            <a:endParaRPr lang="en-US" altLang="zh-CN" sz="1500" b="1" dirty="0">
              <a:solidFill>
                <a:srgbClr val="0D569A"/>
              </a:solidFill>
              <a:latin typeface="Microsoft YaHei" panose="020B0503020204020204" pitchFamily="34" charset="-122"/>
            </a:endParaRPr>
          </a:p>
          <a:p>
            <a:pPr algn="ctr"/>
            <a:endParaRPr lang="zh-CN" altLang="en-US" sz="1500" b="1" dirty="0">
              <a:solidFill>
                <a:srgbClr val="0D569A"/>
              </a:solidFill>
              <a:latin typeface="Microsoft YaHei" panose="020B0503020204020204" pitchFamily="34" charset="-122"/>
            </a:endParaRPr>
          </a:p>
          <a:p>
            <a:pPr algn="ctr"/>
            <a:endParaRPr lang="zh-CN" altLang="en-US" sz="1500" b="1" dirty="0">
              <a:solidFill>
                <a:srgbClr val="0D56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ECFE591-AC34-B15A-2870-C8D9B14BF331}"/>
              </a:ext>
            </a:extLst>
          </p:cNvPr>
          <p:cNvSpPr txBox="1"/>
          <p:nvPr/>
        </p:nvSpPr>
        <p:spPr>
          <a:xfrm>
            <a:off x="698500" y="6197600"/>
            <a:ext cx="10795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图源：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3D Photography 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原论文 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Fig. 3</a:t>
            </a:r>
            <a:endParaRPr lang="zh-CN" altLang="en-US" sz="850">
              <a:solidFill>
                <a:srgbClr val="667C97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B90C52C-5935-7422-1DFC-F28BC8C1B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20" y="1400050"/>
            <a:ext cx="10507003" cy="2702050"/>
          </a:xfrm>
          <a:prstGeom prst="rect">
            <a:avLst/>
          </a:prstGeom>
        </p:spPr>
      </p:pic>
      <p:sp>
        <p:nvSpPr>
          <p:cNvPr id="3" name="箭头: 右 2">
            <a:extLst>
              <a:ext uri="{FF2B5EF4-FFF2-40B4-BE49-F238E27FC236}">
                <a16:creationId xmlns:a16="http://schemas.microsoft.com/office/drawing/2014/main" id="{7B5B4008-7B3C-7AAE-C7BA-78483C7A616B}"/>
              </a:ext>
            </a:extLst>
          </p:cNvPr>
          <p:cNvSpPr/>
          <p:nvPr/>
        </p:nvSpPr>
        <p:spPr>
          <a:xfrm>
            <a:off x="8614410" y="4779659"/>
            <a:ext cx="2540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0E40CA9-931F-D770-C833-95E825D47CF5}"/>
              </a:ext>
            </a:extLst>
          </p:cNvPr>
          <p:cNvSpPr/>
          <p:nvPr/>
        </p:nvSpPr>
        <p:spPr>
          <a:xfrm>
            <a:off x="8991600" y="4551059"/>
            <a:ext cx="1422400" cy="7366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zh-CN" altLang="en-US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构建</a:t>
            </a:r>
            <a:r>
              <a:rPr lang="en-US" altLang="zh-CN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LDI</a:t>
            </a:r>
            <a:endParaRPr lang="zh-CN" altLang="en-US" sz="1250" b="1" dirty="0">
              <a:solidFill>
                <a:srgbClr val="0D569A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7632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5479C-1BEB-DE82-A304-3B745F70D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B79CC1BE-D6B0-18B6-C594-BE8755CD227A}"/>
              </a:ext>
            </a:extLst>
          </p:cNvPr>
          <p:cNvSpPr txBox="1"/>
          <p:nvPr/>
        </p:nvSpPr>
        <p:spPr>
          <a:xfrm>
            <a:off x="635000" y="203200"/>
            <a:ext cx="10541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25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确定上下文区域与合成区域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3564697-35B8-7864-C49C-C59CD3A7484D}"/>
              </a:ext>
            </a:extLst>
          </p:cNvPr>
          <p:cNvSpPr/>
          <p:nvPr/>
        </p:nvSpPr>
        <p:spPr>
          <a:xfrm>
            <a:off x="1958340" y="4561530"/>
            <a:ext cx="1422400" cy="7366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zh-CN" altLang="en-US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切开深度边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A1960F08-AF9F-DEA5-9B51-60A296102341}"/>
              </a:ext>
            </a:extLst>
          </p:cNvPr>
          <p:cNvSpPr/>
          <p:nvPr/>
        </p:nvSpPr>
        <p:spPr>
          <a:xfrm>
            <a:off x="3488690" y="4790130"/>
            <a:ext cx="2540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C3D2705-3D22-1497-F816-6EEA7B01B3BC}"/>
              </a:ext>
            </a:extLst>
          </p:cNvPr>
          <p:cNvSpPr/>
          <p:nvPr/>
        </p:nvSpPr>
        <p:spPr>
          <a:xfrm>
            <a:off x="3837940" y="4561530"/>
            <a:ext cx="1422400" cy="7366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zh-CN" altLang="en-US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合成区洪水填充</a:t>
            </a:r>
            <a:endParaRPr lang="en-US" altLang="zh-CN" sz="1250" b="1" dirty="0">
              <a:solidFill>
                <a:srgbClr val="0D569A"/>
              </a:solidFill>
              <a:latin typeface="Microsoft YaHei" panose="020B0503020204020204" pitchFamily="34" charset="-122"/>
            </a:endParaRPr>
          </a:p>
          <a:p>
            <a:pPr algn="ctr"/>
            <a:r>
              <a:rPr lang="en-US" altLang="zh-CN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40</a:t>
            </a:r>
            <a:r>
              <a:rPr lang="zh-CN" altLang="en-US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步</a:t>
            </a: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E4E6B584-A409-88DF-FE87-E84BD5B8B0A4}"/>
              </a:ext>
            </a:extLst>
          </p:cNvPr>
          <p:cNvSpPr/>
          <p:nvPr/>
        </p:nvSpPr>
        <p:spPr>
          <a:xfrm>
            <a:off x="5368290" y="4779659"/>
            <a:ext cx="2540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2CF2EC1-1932-8FB5-C850-9886F363121B}"/>
              </a:ext>
            </a:extLst>
          </p:cNvPr>
          <p:cNvSpPr/>
          <p:nvPr/>
        </p:nvSpPr>
        <p:spPr>
          <a:xfrm>
            <a:off x="5717540" y="4551059"/>
            <a:ext cx="1422400" cy="7366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zh-CN" altLang="en-US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读取上下文区域</a:t>
            </a:r>
            <a:endParaRPr lang="en-US" altLang="zh-CN" sz="1250" b="1" dirty="0">
              <a:solidFill>
                <a:srgbClr val="0D569A"/>
              </a:solidFill>
              <a:latin typeface="Microsoft YaHei" panose="020B0503020204020204" pitchFamily="34" charset="-122"/>
            </a:endParaRPr>
          </a:p>
          <a:p>
            <a:pPr algn="ctr"/>
            <a:r>
              <a:rPr lang="en-US" altLang="zh-CN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100</a:t>
            </a:r>
            <a:r>
              <a:rPr lang="zh-CN" altLang="en-US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步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7105B276-F85C-AFE3-A41E-FFE34356D9F5}"/>
              </a:ext>
            </a:extLst>
          </p:cNvPr>
          <p:cNvSpPr/>
          <p:nvPr/>
        </p:nvSpPr>
        <p:spPr>
          <a:xfrm>
            <a:off x="7219950" y="4779659"/>
            <a:ext cx="2540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E1AE2EB-A78F-BAAB-83EB-FBAA93CF58A0}"/>
              </a:ext>
            </a:extLst>
          </p:cNvPr>
          <p:cNvSpPr/>
          <p:nvPr/>
        </p:nvSpPr>
        <p:spPr>
          <a:xfrm>
            <a:off x="7597140" y="4551059"/>
            <a:ext cx="1422400" cy="7366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8900" tIns="50800" rIns="88900" bIns="50800" rtlCol="0" anchor="ctr">
            <a:noAutofit/>
          </a:bodyPr>
          <a:lstStyle/>
          <a:p>
            <a:pPr algn="ctr"/>
            <a:r>
              <a:rPr lang="zh-CN" altLang="en-US" sz="12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三个网络输出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6EBCEE-B320-C2FF-23F4-B550E37CCF8D}"/>
              </a:ext>
            </a:extLst>
          </p:cNvPr>
          <p:cNvSpPr txBox="1"/>
          <p:nvPr/>
        </p:nvSpPr>
        <p:spPr>
          <a:xfrm>
            <a:off x="1778000" y="5588000"/>
            <a:ext cx="8636000" cy="38100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50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确定深度断层边缘，后续处理围绕深度断层展开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ECC5CC0-42EE-CD93-B640-578959403069}"/>
              </a:ext>
            </a:extLst>
          </p:cNvPr>
          <p:cNvSpPr txBox="1"/>
          <p:nvPr/>
        </p:nvSpPr>
        <p:spPr>
          <a:xfrm>
            <a:off x="698500" y="6197600"/>
            <a:ext cx="10795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图源：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3D Photography 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原论文 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Fig. 3</a:t>
            </a:r>
            <a:endParaRPr lang="zh-CN" altLang="en-US" sz="850">
              <a:solidFill>
                <a:srgbClr val="667C97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7F92136-58B2-910B-2BE1-F30DA49E1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434447"/>
            <a:ext cx="12192000" cy="248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467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2B486173-1FE1-9728-1A89-E84DA49ED534}"/>
              </a:ext>
            </a:extLst>
          </p:cNvPr>
          <p:cNvSpPr txBox="1"/>
          <p:nvPr/>
        </p:nvSpPr>
        <p:spPr>
          <a:xfrm>
            <a:off x="635000" y="203200"/>
            <a:ext cx="10541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围绕深度边界进行局部遮挡补全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541B7A-BF5E-01BB-EA5C-E65FD388A832}"/>
              </a:ext>
            </a:extLst>
          </p:cNvPr>
          <p:cNvSpPr txBox="1"/>
          <p:nvPr/>
        </p:nvSpPr>
        <p:spPr>
          <a:xfrm>
            <a:off x="660400" y="673100"/>
            <a:ext cx="990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050">
                <a:solidFill>
                  <a:srgbClr val="667C97"/>
                </a:solidFill>
                <a:latin typeface="Microsoft YaHei" panose="020B0503020204020204" pitchFamily="34" charset="-122"/>
              </a:rPr>
              <a:t>基于深度不连续边界构建局部上下文区域与待合成区域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04FFB7-4270-4064-B9C5-065B0B2DF219}"/>
              </a:ext>
            </a:extLst>
          </p:cNvPr>
          <p:cNvSpPr txBox="1"/>
          <p:nvPr/>
        </p:nvSpPr>
        <p:spPr>
          <a:xfrm>
            <a:off x="8201660" y="2117067"/>
            <a:ext cx="39497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b="1" dirty="0">
                <a:solidFill>
                  <a:srgbClr val="48DEAB"/>
                </a:solidFill>
                <a:latin typeface="Microsoft YaHei" panose="020B0503020204020204" pitchFamily="34" charset="-122"/>
              </a:rPr>
              <a:t>结构引导的补全顺序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AEFED87-CCF0-130B-BC54-6FD7C42F7D1B}"/>
              </a:ext>
            </a:extLst>
          </p:cNvPr>
          <p:cNvSpPr txBox="1"/>
          <p:nvPr/>
        </p:nvSpPr>
        <p:spPr>
          <a:xfrm>
            <a:off x="8201660" y="2852420"/>
            <a:ext cx="3949700" cy="2031325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① 先补 </a:t>
            </a:r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depth edge</a:t>
            </a:r>
          </a:p>
          <a:p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② </a:t>
            </a:r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再补背景 </a:t>
            </a:r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color</a:t>
            </a:r>
          </a:p>
          <a:p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③ </a:t>
            </a:r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再补背景 </a:t>
            </a:r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depth</a:t>
            </a:r>
          </a:p>
          <a:p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④ </a:t>
            </a:r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复杂遮挡继续迭代</a:t>
            </a:r>
          </a:p>
          <a:p>
            <a:endParaRPr lang="zh-CN" altLang="en-US" sz="145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共同的结构线索让 </a:t>
            </a:r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RGB </a:t>
            </a:r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depth </a:t>
            </a:r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更一致。</a:t>
            </a:r>
            <a:endParaRPr lang="en-US" altLang="zh-CN" sz="145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endParaRPr lang="en-US" altLang="zh-CN" sz="145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endParaRPr lang="en-US" altLang="zh-CN" sz="145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采用自监督训练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63ED815-6BD5-CC04-4F74-735871D35689}"/>
              </a:ext>
            </a:extLst>
          </p:cNvPr>
          <p:cNvSpPr txBox="1"/>
          <p:nvPr/>
        </p:nvSpPr>
        <p:spPr>
          <a:xfrm>
            <a:off x="698500" y="6197600"/>
            <a:ext cx="10795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图源：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3D Photography 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原论文 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Fig. 6</a:t>
            </a:r>
            <a:endParaRPr lang="zh-CN" altLang="en-US" sz="850">
              <a:solidFill>
                <a:srgbClr val="667C97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962758-2FBB-D18E-4D37-67ED6EB9B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55" y="1785770"/>
            <a:ext cx="7882905" cy="339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548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765A17B-DDB6-31AC-B771-87B0261922D5}"/>
              </a:ext>
            </a:extLst>
          </p:cNvPr>
          <p:cNvSpPr txBox="1"/>
          <p:nvPr/>
        </p:nvSpPr>
        <p:spPr>
          <a:xfrm>
            <a:off x="635000" y="203200"/>
            <a:ext cx="10541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3D Photography </a:t>
            </a:r>
            <a:r>
              <a:rPr lang="zh-CN" altLang="en-US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对移动端方案的启示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AC4B8A-3B70-FD48-CC2C-D0968736C185}"/>
              </a:ext>
            </a:extLst>
          </p:cNvPr>
          <p:cNvSpPr txBox="1"/>
          <p:nvPr/>
        </p:nvSpPr>
        <p:spPr>
          <a:xfrm>
            <a:off x="660400" y="673100"/>
            <a:ext cx="990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050">
                <a:solidFill>
                  <a:srgbClr val="667C97"/>
                </a:solidFill>
                <a:latin typeface="Microsoft YaHei" panose="020B0503020204020204" pitchFamily="34" charset="-122"/>
              </a:rPr>
              <a:t>生成阶段执行深度与补全，交互阶段采用显式表达渲染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48FD864-6BB0-3592-CEE1-9029EF78E574}"/>
              </a:ext>
            </a:extLst>
          </p:cNvPr>
          <p:cNvSpPr/>
          <p:nvPr/>
        </p:nvSpPr>
        <p:spPr>
          <a:xfrm>
            <a:off x="698500" y="1587500"/>
            <a:ext cx="2540000" cy="317500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F181872-8DF6-3BC1-9EE6-A5BAE9580699}"/>
              </a:ext>
            </a:extLst>
          </p:cNvPr>
          <p:cNvSpPr txBox="1"/>
          <p:nvPr/>
        </p:nvSpPr>
        <p:spPr>
          <a:xfrm>
            <a:off x="825500" y="1689100"/>
            <a:ext cx="228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700" b="1">
                <a:solidFill>
                  <a:srgbClr val="22C7E2"/>
                </a:solidFill>
                <a:latin typeface="Microsoft YaHei" panose="020B0503020204020204" pitchFamily="34" charset="-122"/>
              </a:rPr>
              <a:t>深度估计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5C98523-6588-F8A2-5F68-BD1A0E35BC9C}"/>
              </a:ext>
            </a:extLst>
          </p:cNvPr>
          <p:cNvSpPr txBox="1"/>
          <p:nvPr/>
        </p:nvSpPr>
        <p:spPr>
          <a:xfrm>
            <a:off x="825500" y="2120900"/>
            <a:ext cx="2286000" cy="175432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350">
                <a:solidFill>
                  <a:srgbClr val="101F37"/>
                </a:solidFill>
                <a:latin typeface="Microsoft YaHei" panose="020B0503020204020204" pitchFamily="34" charset="-122"/>
              </a:rPr>
              <a:t>普通 </a:t>
            </a:r>
            <a:r>
              <a:rPr lang="en-US" altLang="zh-CN" sz="1350">
                <a:solidFill>
                  <a:srgbClr val="101F37"/>
                </a:solidFill>
                <a:latin typeface="Microsoft YaHei" panose="020B0503020204020204" pitchFamily="34" charset="-122"/>
              </a:rPr>
              <a:t>RGB → </a:t>
            </a:r>
            <a:r>
              <a:rPr lang="zh-CN" altLang="en-US" sz="1350">
                <a:solidFill>
                  <a:srgbClr val="101F37"/>
                </a:solidFill>
                <a:latin typeface="Microsoft YaHei" panose="020B0503020204020204" pitchFamily="34" charset="-122"/>
              </a:rPr>
              <a:t>相对深度或视差</a:t>
            </a:r>
          </a:p>
          <a:p>
            <a:endParaRPr lang="zh-CN" altLang="en-US" sz="1350">
              <a:solidFill>
                <a:srgbClr val="101F37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350">
                <a:solidFill>
                  <a:srgbClr val="101F37"/>
                </a:solidFill>
                <a:latin typeface="Microsoft YaHei" panose="020B0503020204020204" pitchFamily="34" charset="-122"/>
              </a:rPr>
              <a:t>候选：</a:t>
            </a:r>
            <a:r>
              <a:rPr lang="en-US" altLang="zh-CN" sz="1350">
                <a:solidFill>
                  <a:srgbClr val="101F37"/>
                </a:solidFill>
                <a:latin typeface="Microsoft YaHei" panose="020B0503020204020204" pitchFamily="34" charset="-122"/>
              </a:rPr>
              <a:t>Depth Anything V2</a:t>
            </a:r>
            <a:r>
              <a:rPr lang="zh-CN" altLang="en-US" sz="1350">
                <a:solidFill>
                  <a:srgbClr val="101F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101F37"/>
                </a:solidFill>
                <a:latin typeface="Microsoft YaHei" panose="020B0503020204020204" pitchFamily="34" charset="-122"/>
              </a:rPr>
              <a:t>Depth Pro</a:t>
            </a:r>
            <a:endParaRPr lang="zh-CN" altLang="en-US" sz="1350">
              <a:solidFill>
                <a:srgbClr val="101F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1288AE3-73D7-A99C-E1A7-43C0080A4FA6}"/>
              </a:ext>
            </a:extLst>
          </p:cNvPr>
          <p:cNvSpPr/>
          <p:nvPr/>
        </p:nvSpPr>
        <p:spPr>
          <a:xfrm>
            <a:off x="3492500" y="1587500"/>
            <a:ext cx="2540000" cy="317500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E31728-CDBD-3302-37B4-DCB815C52953}"/>
              </a:ext>
            </a:extLst>
          </p:cNvPr>
          <p:cNvSpPr txBox="1"/>
          <p:nvPr/>
        </p:nvSpPr>
        <p:spPr>
          <a:xfrm>
            <a:off x="3619500" y="1689100"/>
            <a:ext cx="228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700" b="1">
                <a:solidFill>
                  <a:srgbClr val="48DEAB"/>
                </a:solidFill>
                <a:latin typeface="Microsoft YaHei" panose="020B0503020204020204" pitchFamily="34" charset="-122"/>
              </a:rPr>
              <a:t>分层表示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3F88246-B190-F66D-185E-78C59BF43043}"/>
              </a:ext>
            </a:extLst>
          </p:cNvPr>
          <p:cNvSpPr txBox="1"/>
          <p:nvPr/>
        </p:nvSpPr>
        <p:spPr>
          <a:xfrm>
            <a:off x="3619500" y="2120900"/>
            <a:ext cx="2286000" cy="120032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1350">
                <a:solidFill>
                  <a:srgbClr val="101F37"/>
                </a:solidFill>
                <a:latin typeface="Microsoft YaHei" panose="020B0503020204020204" pitchFamily="34" charset="-122"/>
              </a:rPr>
              <a:t>LDI</a:t>
            </a:r>
            <a:r>
              <a:rPr lang="zh-CN" altLang="en-US" sz="1350">
                <a:solidFill>
                  <a:srgbClr val="101F37"/>
                </a:solidFill>
                <a:latin typeface="Microsoft YaHei" panose="020B0503020204020204" pitchFamily="34" charset="-122"/>
              </a:rPr>
              <a:t>、简化 </a:t>
            </a:r>
            <a:r>
              <a:rPr lang="en-US" altLang="zh-CN" sz="1350">
                <a:solidFill>
                  <a:srgbClr val="101F37"/>
                </a:solidFill>
                <a:latin typeface="Microsoft YaHei" panose="020B0503020204020204" pitchFamily="34" charset="-122"/>
              </a:rPr>
              <a:t>Mesh</a:t>
            </a:r>
            <a:r>
              <a:rPr lang="zh-CN" altLang="en-US" sz="1350">
                <a:solidFill>
                  <a:srgbClr val="101F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101F37"/>
                </a:solidFill>
                <a:latin typeface="Microsoft YaHei" panose="020B0503020204020204" pitchFamily="34" charset="-122"/>
              </a:rPr>
              <a:t>TMPI </a:t>
            </a:r>
            <a:r>
              <a:rPr lang="zh-CN" altLang="en-US" sz="1350">
                <a:solidFill>
                  <a:srgbClr val="101F37"/>
                </a:solidFill>
                <a:latin typeface="Microsoft YaHei" panose="020B0503020204020204" pitchFamily="34" charset="-122"/>
              </a:rPr>
              <a:t>或轻量 </a:t>
            </a:r>
            <a:r>
              <a:rPr lang="en-US" altLang="zh-CN" sz="1350">
                <a:solidFill>
                  <a:srgbClr val="101F37"/>
                </a:solidFill>
                <a:latin typeface="Microsoft YaHei" panose="020B0503020204020204" pitchFamily="34" charset="-122"/>
              </a:rPr>
              <a:t>3DGS</a:t>
            </a:r>
          </a:p>
          <a:p>
            <a:endParaRPr lang="en-US" altLang="zh-CN" sz="1350">
              <a:solidFill>
                <a:srgbClr val="101F37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350">
                <a:solidFill>
                  <a:srgbClr val="101F37"/>
                </a:solidFill>
                <a:latin typeface="Microsoft YaHei" panose="020B0503020204020204" pitchFamily="34" charset="-122"/>
              </a:rPr>
              <a:t>按内存和速度取舍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BF30E55-C8A6-43B9-F10D-6AC52D8FCCC2}"/>
              </a:ext>
            </a:extLst>
          </p:cNvPr>
          <p:cNvSpPr/>
          <p:nvPr/>
        </p:nvSpPr>
        <p:spPr>
          <a:xfrm>
            <a:off x="6286500" y="1587500"/>
            <a:ext cx="2540000" cy="317500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4BA1D6B-FD79-FA59-D643-E3BBA5FFC914}"/>
              </a:ext>
            </a:extLst>
          </p:cNvPr>
          <p:cNvSpPr txBox="1"/>
          <p:nvPr/>
        </p:nvSpPr>
        <p:spPr>
          <a:xfrm>
            <a:off x="6413500" y="1689100"/>
            <a:ext cx="228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700" b="1">
                <a:solidFill>
                  <a:srgbClr val="FFA837"/>
                </a:solidFill>
                <a:latin typeface="Microsoft YaHei" panose="020B0503020204020204" pitchFamily="34" charset="-122"/>
              </a:rPr>
              <a:t>遮挡补全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0A61B4-3E47-45A7-82C6-83BDAABA508C}"/>
              </a:ext>
            </a:extLst>
          </p:cNvPr>
          <p:cNvSpPr txBox="1"/>
          <p:nvPr/>
        </p:nvSpPr>
        <p:spPr>
          <a:xfrm>
            <a:off x="6413500" y="2120900"/>
            <a:ext cx="2286000" cy="93358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350">
                <a:solidFill>
                  <a:srgbClr val="101F37"/>
                </a:solidFill>
                <a:latin typeface="Microsoft YaHei" panose="020B0503020204020204" pitchFamily="34" charset="-122"/>
              </a:rPr>
              <a:t>围绕深度不连续边界</a:t>
            </a:r>
          </a:p>
          <a:p>
            <a:endParaRPr lang="zh-CN" altLang="en-US" sz="1350">
              <a:solidFill>
                <a:srgbClr val="101F37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350">
                <a:solidFill>
                  <a:srgbClr val="101F37"/>
                </a:solidFill>
                <a:latin typeface="Microsoft YaHei" panose="020B0503020204020204" pitchFamily="34" charset="-122"/>
              </a:rPr>
              <a:t>同时补颜色和深度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4449B1F-6E10-2715-4247-E15EDD7B70AB}"/>
              </a:ext>
            </a:extLst>
          </p:cNvPr>
          <p:cNvSpPr/>
          <p:nvPr/>
        </p:nvSpPr>
        <p:spPr>
          <a:xfrm>
            <a:off x="9080500" y="1587500"/>
            <a:ext cx="2540000" cy="317500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0575A97-873E-28C7-A7CF-01A3C5C400D3}"/>
              </a:ext>
            </a:extLst>
          </p:cNvPr>
          <p:cNvSpPr txBox="1"/>
          <p:nvPr/>
        </p:nvSpPr>
        <p:spPr>
          <a:xfrm>
            <a:off x="9207500" y="1689100"/>
            <a:ext cx="228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700" b="1">
                <a:solidFill>
                  <a:srgbClr val="0D569A"/>
                </a:solidFill>
                <a:latin typeface="Microsoft YaHei" panose="020B0503020204020204" pitchFamily="34" charset="-122"/>
              </a:rPr>
              <a:t>实时渲染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1D8F2C0-D051-84E3-58AD-EFDC858E7F62}"/>
              </a:ext>
            </a:extLst>
          </p:cNvPr>
          <p:cNvSpPr txBox="1"/>
          <p:nvPr/>
        </p:nvSpPr>
        <p:spPr>
          <a:xfrm>
            <a:off x="9207500" y="2120900"/>
            <a:ext cx="2286000" cy="120032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350">
                <a:solidFill>
                  <a:srgbClr val="101F37"/>
                </a:solidFill>
                <a:latin typeface="Microsoft YaHei" panose="020B0503020204020204" pitchFamily="34" charset="-122"/>
              </a:rPr>
              <a:t>离线生成场景表达</a:t>
            </a:r>
          </a:p>
          <a:p>
            <a:endParaRPr lang="zh-CN" altLang="en-US" sz="1350">
              <a:solidFill>
                <a:srgbClr val="101F37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350">
                <a:solidFill>
                  <a:srgbClr val="101F37"/>
                </a:solidFill>
                <a:latin typeface="Microsoft YaHei" panose="020B0503020204020204" pitchFamily="34" charset="-122"/>
              </a:rPr>
              <a:t>在线阶段仅更新视点并渲染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29A8668-BEE0-EDB8-E555-DF58FCC9CF4D}"/>
              </a:ext>
            </a:extLst>
          </p:cNvPr>
          <p:cNvSpPr/>
          <p:nvPr/>
        </p:nvSpPr>
        <p:spPr>
          <a:xfrm>
            <a:off x="1587500" y="5143500"/>
            <a:ext cx="9017000" cy="60960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3C141AD-79C1-BDBD-10FB-C7B835E2F556}"/>
              </a:ext>
            </a:extLst>
          </p:cNvPr>
          <p:cNvSpPr txBox="1"/>
          <p:nvPr/>
        </p:nvSpPr>
        <p:spPr>
          <a:xfrm>
            <a:off x="1714500" y="5232400"/>
            <a:ext cx="8763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350" b="1">
                <a:solidFill>
                  <a:srgbClr val="22C7E2"/>
                </a:solidFill>
                <a:latin typeface="Microsoft YaHei" panose="020B0503020204020204" pitchFamily="34" charset="-122"/>
              </a:rPr>
              <a:t>路线判断　耗时模块置于前处理阶段；移动端仅执行显式表达的轻量渲染。</a:t>
            </a:r>
          </a:p>
        </p:txBody>
      </p:sp>
    </p:spTree>
    <p:extLst>
      <p:ext uri="{BB962C8B-B14F-4D97-AF65-F5344CB8AC3E}">
        <p14:creationId xmlns:p14="http://schemas.microsoft.com/office/powerpoint/2010/main" val="535857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0F8C811A-BE9A-5FE5-0AA8-92DFA98811DF}"/>
              </a:ext>
            </a:extLst>
          </p:cNvPr>
          <p:cNvSpPr txBox="1"/>
          <p:nvPr/>
        </p:nvSpPr>
        <p:spPr>
          <a:xfrm>
            <a:off x="635000" y="203200"/>
            <a:ext cx="10541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SLIDE </a:t>
            </a:r>
            <a:r>
              <a:rPr lang="zh-CN" altLang="en-US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重点解决硬分层损伤细结构的问题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E65893E-7FE9-FDDF-77EA-7A96054DFBF1}"/>
              </a:ext>
            </a:extLst>
          </p:cNvPr>
          <p:cNvSpPr txBox="1"/>
          <p:nvPr/>
        </p:nvSpPr>
        <p:spPr>
          <a:xfrm>
            <a:off x="660400" y="673100"/>
            <a:ext cx="990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050">
                <a:solidFill>
                  <a:srgbClr val="667C97"/>
                </a:solidFill>
                <a:latin typeface="Microsoft YaHei" panose="020B0503020204020204" pitchFamily="34" charset="-122"/>
              </a:rPr>
              <a:t>头发、栏杆、桥索和树枝不是简单的前景</a:t>
            </a:r>
            <a:r>
              <a:rPr lang="en-US" altLang="zh-CN" sz="1050">
                <a:solidFill>
                  <a:srgbClr val="667C9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050">
                <a:solidFill>
                  <a:srgbClr val="667C97"/>
                </a:solidFill>
                <a:latin typeface="Microsoft YaHei" panose="020B0503020204020204" pitchFamily="34" charset="-122"/>
              </a:rPr>
              <a:t>背景二值切割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590666-DF58-55C5-1085-15B270332393}"/>
              </a:ext>
            </a:extLst>
          </p:cNvPr>
          <p:cNvSpPr txBox="1"/>
          <p:nvPr/>
        </p:nvSpPr>
        <p:spPr>
          <a:xfrm>
            <a:off x="7376160" y="1993844"/>
            <a:ext cx="40132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b="1" dirty="0">
                <a:solidFill>
                  <a:srgbClr val="FFA837"/>
                </a:solidFill>
                <a:latin typeface="Microsoft YaHei" panose="020B0503020204020204" pitchFamily="34" charset="-122"/>
              </a:rPr>
              <a:t>Problem Formulation</a:t>
            </a:r>
            <a:endParaRPr lang="zh-CN" altLang="en-US" b="1" dirty="0">
              <a:solidFill>
                <a:srgbClr val="FFA8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D4078B7-E879-524C-0A6A-D29A907876DC}"/>
              </a:ext>
            </a:extLst>
          </p:cNvPr>
          <p:cNvSpPr txBox="1"/>
          <p:nvPr/>
        </p:nvSpPr>
        <p:spPr>
          <a:xfrm>
            <a:off x="7376160" y="2724983"/>
            <a:ext cx="4013200" cy="2308324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细结构边缘像素通常混合前景与背景外观。</a:t>
            </a:r>
          </a:p>
          <a:p>
            <a:endParaRPr lang="zh-CN" altLang="en-US" sz="145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硬分层容易导致：</a:t>
            </a:r>
          </a:p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结构断裂、细节缺失与边界撕裂。</a:t>
            </a:r>
          </a:p>
          <a:p>
            <a:endParaRPr lang="zh-CN" altLang="en-US" sz="145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SLIDE </a:t>
            </a:r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使用连续 </a:t>
            </a:r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soft visibility </a:t>
            </a:r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建模边界可见性。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118EF75-B5B7-1212-6DFD-D527EEE0D24C}"/>
              </a:ext>
            </a:extLst>
          </p:cNvPr>
          <p:cNvSpPr txBox="1"/>
          <p:nvPr/>
        </p:nvSpPr>
        <p:spPr>
          <a:xfrm>
            <a:off x="698500" y="6197600"/>
            <a:ext cx="10795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图源：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SLIDE 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原论文 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Fig. 1</a:t>
            </a:r>
            <a:endParaRPr lang="zh-CN" altLang="en-US" sz="850">
              <a:solidFill>
                <a:srgbClr val="667C97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20F11F-8DF7-F8E0-B4AC-45683BFBF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40" y="1377011"/>
            <a:ext cx="5254381" cy="218794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84A11FA-2186-9531-AB4B-D5C05C3FD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440" y="3539756"/>
            <a:ext cx="5282007" cy="218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94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52404D76-C436-5D08-F5A5-07EFAEA04D2A}"/>
              </a:ext>
            </a:extLst>
          </p:cNvPr>
          <p:cNvSpPr txBox="1"/>
          <p:nvPr/>
        </p:nvSpPr>
        <p:spPr>
          <a:xfrm>
            <a:off x="635000" y="203200"/>
            <a:ext cx="10541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SLIDE </a:t>
            </a:r>
            <a:r>
              <a:rPr lang="zh-CN" altLang="en-US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使用轻量的两层表达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3BEBBB8-21EB-62C7-5E8A-F5C7A23FFA68}"/>
              </a:ext>
            </a:extLst>
          </p:cNvPr>
          <p:cNvSpPr txBox="1"/>
          <p:nvPr/>
        </p:nvSpPr>
        <p:spPr>
          <a:xfrm>
            <a:off x="660400" y="673100"/>
            <a:ext cx="990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050">
                <a:solidFill>
                  <a:srgbClr val="667C97"/>
                </a:solidFill>
                <a:latin typeface="Microsoft YaHei" panose="020B0503020204020204" pitchFamily="34" charset="-122"/>
              </a:rPr>
              <a:t>一次前向生成前景层和补全后的背景层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FEC2610-446A-CB96-6A6B-ED0CCA37751C}"/>
              </a:ext>
            </a:extLst>
          </p:cNvPr>
          <p:cNvSpPr/>
          <p:nvPr/>
        </p:nvSpPr>
        <p:spPr>
          <a:xfrm>
            <a:off x="698500" y="4635500"/>
            <a:ext cx="3429000" cy="114300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9524469-6D52-F64E-50AB-AA85B9446E14}"/>
              </a:ext>
            </a:extLst>
          </p:cNvPr>
          <p:cNvSpPr txBox="1"/>
          <p:nvPr/>
        </p:nvSpPr>
        <p:spPr>
          <a:xfrm>
            <a:off x="825500" y="4737100"/>
            <a:ext cx="3175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700" b="1">
                <a:solidFill>
                  <a:srgbClr val="22C7E2"/>
                </a:solidFill>
                <a:latin typeface="Microsoft YaHei" panose="020B0503020204020204" pitchFamily="34" charset="-122"/>
              </a:rPr>
              <a:t>输入与深度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CC4ED8D-0D13-32EF-A16E-095EC9998357}"/>
              </a:ext>
            </a:extLst>
          </p:cNvPr>
          <p:cNvSpPr txBox="1"/>
          <p:nvPr/>
        </p:nvSpPr>
        <p:spPr>
          <a:xfrm>
            <a:off x="825500" y="5168900"/>
            <a:ext cx="31750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1350" dirty="0">
                <a:solidFill>
                  <a:srgbClr val="101F37"/>
                </a:solidFill>
                <a:latin typeface="Microsoft YaHei" panose="020B0503020204020204" pitchFamily="34" charset="-122"/>
              </a:rPr>
              <a:t>RGB → </a:t>
            </a:r>
            <a:r>
              <a:rPr lang="en-US" altLang="zh-CN" sz="1350" dirty="0" err="1">
                <a:solidFill>
                  <a:srgbClr val="101F37"/>
                </a:solidFill>
                <a:latin typeface="Microsoft YaHei" panose="020B0503020204020204" pitchFamily="34" charset="-122"/>
              </a:rPr>
              <a:t>MiDaS</a:t>
            </a:r>
            <a:r>
              <a:rPr lang="en-US" altLang="zh-CN" sz="1350" dirty="0">
                <a:solidFill>
                  <a:srgbClr val="101F37"/>
                </a:solidFill>
                <a:latin typeface="Microsoft YaHei" panose="020B0503020204020204" pitchFamily="34" charset="-122"/>
              </a:rPr>
              <a:t> disparity</a:t>
            </a:r>
          </a:p>
          <a:p>
            <a:r>
              <a:rPr lang="zh-CN" altLang="en-US" sz="1350" dirty="0">
                <a:solidFill>
                  <a:srgbClr val="101F37"/>
                </a:solidFill>
                <a:latin typeface="Microsoft YaHei" panose="020B0503020204020204" pitchFamily="34" charset="-122"/>
              </a:rPr>
              <a:t>轻微平滑 </a:t>
            </a:r>
            <a:r>
              <a:rPr lang="en-US" altLang="zh-CN" sz="1350" dirty="0">
                <a:solidFill>
                  <a:srgbClr val="101F37"/>
                </a:solidFill>
                <a:latin typeface="Microsoft YaHei" panose="020B0503020204020204" pitchFamily="34" charset="-122"/>
              </a:rPr>
              <a:t>+ max-pool</a:t>
            </a:r>
            <a:endParaRPr lang="zh-CN" altLang="en-US" sz="1350" dirty="0">
              <a:solidFill>
                <a:srgbClr val="101F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CC946CA-7156-D763-E187-B2A50AD6A8AC}"/>
              </a:ext>
            </a:extLst>
          </p:cNvPr>
          <p:cNvSpPr/>
          <p:nvPr/>
        </p:nvSpPr>
        <p:spPr>
          <a:xfrm>
            <a:off x="4381500" y="4635500"/>
            <a:ext cx="3429000" cy="114300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DE3DC13-8EA9-B3DF-FA91-2AF5D566B614}"/>
              </a:ext>
            </a:extLst>
          </p:cNvPr>
          <p:cNvSpPr txBox="1"/>
          <p:nvPr/>
        </p:nvSpPr>
        <p:spPr>
          <a:xfrm>
            <a:off x="4508500" y="4737100"/>
            <a:ext cx="3175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700" b="1">
                <a:solidFill>
                  <a:srgbClr val="48DEAB"/>
                </a:solidFill>
                <a:latin typeface="Microsoft YaHei" panose="020B0503020204020204" pitchFamily="34" charset="-122"/>
              </a:rPr>
              <a:t>两层表达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483EDD5-EE20-E145-1D08-7296F87093A5}"/>
              </a:ext>
            </a:extLst>
          </p:cNvPr>
          <p:cNvSpPr txBox="1"/>
          <p:nvPr/>
        </p:nvSpPr>
        <p:spPr>
          <a:xfrm>
            <a:off x="4508500" y="5168900"/>
            <a:ext cx="31750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350" dirty="0">
                <a:solidFill>
                  <a:srgbClr val="101F37"/>
                </a:solidFill>
                <a:latin typeface="Microsoft YaHei" panose="020B0503020204020204" pitchFamily="34" charset="-122"/>
              </a:rPr>
              <a:t>前景：</a:t>
            </a:r>
            <a:r>
              <a:rPr lang="en-US" altLang="zh-CN" sz="1350" dirty="0">
                <a:solidFill>
                  <a:srgbClr val="101F37"/>
                </a:solidFill>
                <a:latin typeface="Microsoft YaHei" panose="020B0503020204020204" pitchFamily="34" charset="-122"/>
              </a:rPr>
              <a:t>RGB + disparity + A</a:t>
            </a:r>
          </a:p>
          <a:p>
            <a:r>
              <a:rPr lang="zh-CN" altLang="en-US" sz="1350" dirty="0">
                <a:solidFill>
                  <a:srgbClr val="101F37"/>
                </a:solidFill>
                <a:latin typeface="Microsoft YaHei" panose="020B0503020204020204" pitchFamily="34" charset="-122"/>
              </a:rPr>
              <a:t>背景：补全 </a:t>
            </a:r>
            <a:r>
              <a:rPr lang="en-US" altLang="zh-CN" sz="1350" dirty="0">
                <a:solidFill>
                  <a:srgbClr val="101F37"/>
                </a:solidFill>
                <a:latin typeface="Microsoft YaHei" panose="020B0503020204020204" pitchFamily="34" charset="-122"/>
              </a:rPr>
              <a:t>RGB + disparity</a:t>
            </a:r>
            <a:endParaRPr lang="zh-CN" altLang="en-US" sz="1350" dirty="0">
              <a:solidFill>
                <a:srgbClr val="101F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208F02E-92BB-BAA2-B68D-CA32A737B1F7}"/>
              </a:ext>
            </a:extLst>
          </p:cNvPr>
          <p:cNvSpPr/>
          <p:nvPr/>
        </p:nvSpPr>
        <p:spPr>
          <a:xfrm>
            <a:off x="8064500" y="4635500"/>
            <a:ext cx="3429000" cy="114300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CF1162-FA40-BB69-CAC2-4BE27C118E7D}"/>
              </a:ext>
            </a:extLst>
          </p:cNvPr>
          <p:cNvSpPr txBox="1"/>
          <p:nvPr/>
        </p:nvSpPr>
        <p:spPr>
          <a:xfrm>
            <a:off x="8191500" y="4737100"/>
            <a:ext cx="3175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700" b="1">
                <a:solidFill>
                  <a:srgbClr val="FFA837"/>
                </a:solidFill>
                <a:latin typeface="Microsoft YaHei" panose="020B0503020204020204" pitchFamily="34" charset="-122"/>
              </a:rPr>
              <a:t>分层渲染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D3001AC-CEA4-F9CB-A2C5-332D8CB03443}"/>
              </a:ext>
            </a:extLst>
          </p:cNvPr>
          <p:cNvSpPr txBox="1"/>
          <p:nvPr/>
        </p:nvSpPr>
        <p:spPr>
          <a:xfrm>
            <a:off x="8191500" y="5168900"/>
            <a:ext cx="3175000" cy="933589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350">
                <a:solidFill>
                  <a:srgbClr val="101F37"/>
                </a:solidFill>
                <a:latin typeface="Microsoft YaHei" panose="020B0503020204020204" pitchFamily="34" charset="-122"/>
              </a:rPr>
              <a:t>两层反投影为 </a:t>
            </a:r>
            <a:r>
              <a:rPr lang="en-US" altLang="zh-CN" sz="1350">
                <a:solidFill>
                  <a:srgbClr val="101F37"/>
                </a:solidFill>
                <a:latin typeface="Microsoft YaHei" panose="020B0503020204020204" pitchFamily="34" charset="-122"/>
              </a:rPr>
              <a:t>Mesh</a:t>
            </a:r>
          </a:p>
          <a:p>
            <a:r>
              <a:rPr lang="zh-CN" altLang="en-US" sz="1350">
                <a:solidFill>
                  <a:srgbClr val="101F37"/>
                </a:solidFill>
                <a:latin typeface="Microsoft YaHei" panose="020B0503020204020204" pitchFamily="34" charset="-122"/>
              </a:rPr>
              <a:t>新视角阶段执行投影与 </a:t>
            </a:r>
            <a:r>
              <a:rPr lang="en-US" altLang="zh-CN" sz="1350">
                <a:solidFill>
                  <a:srgbClr val="101F37"/>
                </a:solidFill>
                <a:latin typeface="Microsoft YaHei" panose="020B0503020204020204" pitchFamily="34" charset="-122"/>
              </a:rPr>
              <a:t>Alpha </a:t>
            </a:r>
            <a:r>
              <a:rPr lang="zh-CN" altLang="en-US" sz="1350">
                <a:solidFill>
                  <a:srgbClr val="101F37"/>
                </a:solidFill>
                <a:latin typeface="Microsoft YaHei" panose="020B0503020204020204" pitchFamily="34" charset="-122"/>
              </a:rPr>
              <a:t>合成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20F9302-8262-55E0-3BD6-07C81DB94645}"/>
              </a:ext>
            </a:extLst>
          </p:cNvPr>
          <p:cNvSpPr txBox="1"/>
          <p:nvPr/>
        </p:nvSpPr>
        <p:spPr>
          <a:xfrm>
            <a:off x="698500" y="6197600"/>
            <a:ext cx="10795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图源：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SLIDE 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原论文 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Fig. 2</a:t>
            </a:r>
            <a:endParaRPr lang="zh-CN" altLang="en-US" sz="850">
              <a:solidFill>
                <a:srgbClr val="667C97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A8D1948-BF7A-913E-B8DF-F2C84A833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720" y="1304987"/>
            <a:ext cx="8493760" cy="307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849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A235EF0-9C7C-2BA5-6EF0-48B5C1D296C3}"/>
              </a:ext>
            </a:extLst>
          </p:cNvPr>
          <p:cNvSpPr txBox="1"/>
          <p:nvPr/>
        </p:nvSpPr>
        <p:spPr>
          <a:xfrm>
            <a:off x="635000" y="203200"/>
            <a:ext cx="10541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255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软可见性和深度感知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2D9CA5-48AD-5498-7F37-47341C7E6176}"/>
              </a:ext>
            </a:extLst>
          </p:cNvPr>
          <p:cNvSpPr txBox="1"/>
          <p:nvPr/>
        </p:nvSpPr>
        <p:spPr>
          <a:xfrm>
            <a:off x="660400" y="673100"/>
            <a:ext cx="990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050" dirty="0">
                <a:solidFill>
                  <a:srgbClr val="667C97"/>
                </a:solidFill>
                <a:latin typeface="Microsoft YaHei" panose="020B0503020204020204" pitchFamily="34" charset="-122"/>
              </a:rPr>
              <a:t>前景软可见性 </a:t>
            </a:r>
            <a:r>
              <a:rPr lang="en-US" altLang="zh-CN" sz="1050" dirty="0">
                <a:solidFill>
                  <a:srgbClr val="667C97"/>
                </a:solidFill>
                <a:latin typeface="Microsoft YaHei" panose="020B0503020204020204" pitchFamily="34" charset="-122"/>
              </a:rPr>
              <a:t>A </a:t>
            </a:r>
            <a:r>
              <a:rPr lang="zh-CN" altLang="en-US" sz="1050" dirty="0">
                <a:solidFill>
                  <a:srgbClr val="667C97"/>
                </a:solidFill>
                <a:latin typeface="Microsoft YaHei" panose="020B0503020204020204" pitchFamily="34" charset="-122"/>
              </a:rPr>
              <a:t>与软显露区域 </a:t>
            </a:r>
            <a:r>
              <a:rPr lang="en-US" altLang="zh-CN" sz="1050" dirty="0">
                <a:solidFill>
                  <a:srgbClr val="667C97"/>
                </a:solidFill>
                <a:latin typeface="Microsoft YaHei" panose="020B0503020204020204" pitchFamily="34" charset="-122"/>
              </a:rPr>
              <a:t>S</a:t>
            </a:r>
            <a:endParaRPr lang="zh-CN" altLang="en-US" sz="1050" dirty="0">
              <a:solidFill>
                <a:srgbClr val="667C9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2DBFCFA-71C9-6960-50FE-6DEA95E9D6B5}"/>
              </a:ext>
            </a:extLst>
          </p:cNvPr>
          <p:cNvSpPr txBox="1"/>
          <p:nvPr/>
        </p:nvSpPr>
        <p:spPr>
          <a:xfrm>
            <a:off x="6306821" y="2585399"/>
            <a:ext cx="4988560" cy="281432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细节补充：</a:t>
            </a:r>
            <a:r>
              <a:rPr lang="zh-CN" altLang="zh-CN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U2Net先做 foreground segmentation</a:t>
            </a:r>
          </a:p>
          <a:p>
            <a:r>
              <a:rPr lang="zh-CN" altLang="en-US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再用</a:t>
            </a:r>
            <a:r>
              <a:rPr lang="zh-CN" altLang="zh-CN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matting 再得到 </a:t>
            </a:r>
            <a:r>
              <a:rPr lang="zh-CN" altLang="en-US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前景</a:t>
            </a:r>
            <a:r>
              <a:rPr lang="en-US" altLang="zh-CN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alpha</a:t>
            </a:r>
            <a:r>
              <a:rPr lang="zh-CN" altLang="en-US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抠图</a:t>
            </a:r>
            <a:r>
              <a:rPr lang="zh-CN" altLang="zh-CN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M</a:t>
            </a:r>
            <a:endParaRPr lang="en-US" altLang="zh-CN" sz="142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endParaRPr lang="en-US" altLang="zh-CN" sz="142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精细化边缘与细结构</a:t>
            </a:r>
            <a:endParaRPr lang="en-US" altLang="zh-CN" sz="142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endParaRPr lang="en-US" altLang="zh-CN" sz="142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en-US" altLang="zh-CN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M</a:t>
            </a:r>
            <a:r>
              <a:rPr lang="zh-CN" altLang="en-US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与</a:t>
            </a:r>
            <a:r>
              <a:rPr lang="en-US" altLang="zh-CN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A</a:t>
            </a:r>
            <a:r>
              <a:rPr lang="zh-CN" altLang="en-US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结合得到最终的</a:t>
            </a:r>
            <a:r>
              <a:rPr lang="en-US" altLang="zh-CN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A</a:t>
            </a:r>
          </a:p>
          <a:p>
            <a:endParaRPr lang="en-US" altLang="zh-CN" sz="142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zh-CN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用 occlusion mask </a:t>
            </a:r>
            <a:r>
              <a:rPr lang="zh-CN" altLang="en-US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进行自监督</a:t>
            </a:r>
            <a:r>
              <a:rPr lang="zh-CN" altLang="zh-CN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训练</a:t>
            </a:r>
            <a:endParaRPr lang="zh-CN" altLang="en-US" sz="1420" dirty="0">
              <a:solidFill>
                <a:schemeClr val="tx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7EA403B-D669-F7C9-2CB5-477EDDF1E026}"/>
              </a:ext>
            </a:extLst>
          </p:cNvPr>
          <p:cNvSpPr txBox="1"/>
          <p:nvPr/>
        </p:nvSpPr>
        <p:spPr>
          <a:xfrm>
            <a:off x="698500" y="6197600"/>
            <a:ext cx="10795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图源：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SLIDE 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原论文 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Fig. 5 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850">
                <a:solidFill>
                  <a:srgbClr val="667C97"/>
                </a:solidFill>
                <a:latin typeface="Microsoft YaHei" panose="020B0503020204020204" pitchFamily="34" charset="-122"/>
              </a:rPr>
              <a:t>Eqs. 1–3</a:t>
            </a:r>
            <a:r>
              <a:rPr lang="zh-CN" altLang="en-US" sz="850">
                <a:solidFill>
                  <a:srgbClr val="667C97"/>
                </a:solidFill>
                <a:latin typeface="Microsoft YaHei" panose="020B0503020204020204" pitchFamily="34" charset="-122"/>
              </a:rPr>
              <a:t>；公式按原文简化排版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4D3715-F776-F09D-B42A-3E93ACFB1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60" y="1143000"/>
            <a:ext cx="5238246" cy="177629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0E8543D-377B-E37C-D2D8-5C1DEAA64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59" y="3606800"/>
            <a:ext cx="5238245" cy="179291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E20D989-11E1-4023-0136-0EC7DBD84656}"/>
              </a:ext>
            </a:extLst>
          </p:cNvPr>
          <p:cNvSpPr txBox="1"/>
          <p:nvPr/>
        </p:nvSpPr>
        <p:spPr>
          <a:xfrm>
            <a:off x="635000" y="2951118"/>
            <a:ext cx="5389880" cy="310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A = exp(-β · ||∇D||²)</a:t>
            </a:r>
            <a:r>
              <a:rPr lang="zh-CN" altLang="en-US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 视差梯度越大，</a:t>
            </a:r>
            <a:r>
              <a:rPr lang="en-US" altLang="zh-CN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A</a:t>
            </a:r>
            <a:r>
              <a:rPr lang="zh-CN" altLang="en-US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越小，前景应该越透明</a:t>
            </a:r>
            <a:endParaRPr lang="en-US" altLang="zh-CN" sz="1420" dirty="0">
              <a:solidFill>
                <a:schemeClr val="tx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6CCF1F-D41C-DF70-1331-F032FD34C350}"/>
              </a:ext>
            </a:extLst>
          </p:cNvPr>
          <p:cNvSpPr txBox="1"/>
          <p:nvPr/>
        </p:nvSpPr>
        <p:spPr>
          <a:xfrm>
            <a:off x="635000" y="5399719"/>
            <a:ext cx="7310120" cy="52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S=</a:t>
            </a:r>
            <a:r>
              <a:rPr lang="zh-CN" altLang="zh-CN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tanh( β · max_{(xᵢ,yⱼ)} [ D(x,y) − D(xᵢ,yⱼ) − γ·K(xᵢ,yⱼ) ] )</a:t>
            </a:r>
            <a:endParaRPr lang="en-US" altLang="zh-CN" sz="142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420" dirty="0">
                <a:solidFill>
                  <a:schemeClr val="tx2"/>
                </a:solidFill>
                <a:latin typeface="Microsoft YaHei" panose="020B0503020204020204" pitchFamily="34" charset="-122"/>
              </a:rPr>
              <a:t>由邻域视差差异得到的连续显露区域图，视角移动后哪些区域需要补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0F194415-7D44-A57F-5FB7-5BD5C9573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9021" y="1222786"/>
            <a:ext cx="5933440" cy="114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600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B8DAA185-7035-1BAB-E3AF-D3721185B137}"/>
              </a:ext>
            </a:extLst>
          </p:cNvPr>
          <p:cNvSpPr txBox="1"/>
          <p:nvPr/>
        </p:nvSpPr>
        <p:spPr>
          <a:xfrm>
            <a:off x="635000" y="203200"/>
            <a:ext cx="10541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3D Photography </a:t>
            </a:r>
            <a:r>
              <a:rPr lang="zh-CN" altLang="en-US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SLIDE </a:t>
            </a:r>
            <a:r>
              <a:rPr lang="zh-CN" altLang="en-US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的方法对比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D47ACAB-A65E-92EF-13F9-CC1A4F84593C}"/>
              </a:ext>
            </a:extLst>
          </p:cNvPr>
          <p:cNvSpPr txBox="1"/>
          <p:nvPr/>
        </p:nvSpPr>
        <p:spPr>
          <a:xfrm>
            <a:off x="660400" y="673100"/>
            <a:ext cx="990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050">
                <a:solidFill>
                  <a:srgbClr val="667C97"/>
                </a:solidFill>
                <a:latin typeface="Microsoft YaHei" panose="020B0503020204020204" pitchFamily="34" charset="-122"/>
              </a:rPr>
              <a:t>表示能力、边界建模与计算效率的权衡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BEA3DEA-8BD9-E491-4DEC-24D19F0B9A48}"/>
              </a:ext>
            </a:extLst>
          </p:cNvPr>
          <p:cNvSpPr txBox="1"/>
          <p:nvPr/>
        </p:nvSpPr>
        <p:spPr>
          <a:xfrm>
            <a:off x="850900" y="1689100"/>
            <a:ext cx="48387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b="1">
                <a:solidFill>
                  <a:srgbClr val="22C7E2"/>
                </a:solidFill>
                <a:latin typeface="Microsoft YaHei" panose="020B0503020204020204" pitchFamily="34" charset="-122"/>
              </a:rPr>
              <a:t>3D Photography / LDI</a:t>
            </a:r>
            <a:endParaRPr lang="zh-CN" altLang="en-US" b="1">
              <a:solidFill>
                <a:srgbClr val="22C7E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1E2E201-3D1C-ACCA-428B-FA63129DAF18}"/>
              </a:ext>
            </a:extLst>
          </p:cNvPr>
          <p:cNvSpPr txBox="1"/>
          <p:nvPr/>
        </p:nvSpPr>
        <p:spPr>
          <a:xfrm>
            <a:off x="850900" y="2286000"/>
            <a:ext cx="4838700" cy="175432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输入：</a:t>
            </a:r>
            <a:r>
              <a:rPr lang="en-US" altLang="zh-CN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RGB-D</a:t>
            </a:r>
          </a:p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表示：多层 </a:t>
            </a:r>
            <a:r>
              <a:rPr lang="en-US" altLang="zh-CN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LDI</a:t>
            </a:r>
          </a:p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补全：局部迭代</a:t>
            </a:r>
          </a:p>
          <a:p>
            <a:endParaRPr lang="zh-CN" altLang="en-US" sz="140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优势：遮挡层次更细，可处理复杂多层深度。</a:t>
            </a:r>
          </a:p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局限：流程复杂，硬分层对细结构不够友好。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FCB506-5C36-22CF-CBCD-534428289212}"/>
              </a:ext>
            </a:extLst>
          </p:cNvPr>
          <p:cNvSpPr txBox="1"/>
          <p:nvPr/>
        </p:nvSpPr>
        <p:spPr>
          <a:xfrm>
            <a:off x="6502400" y="1689100"/>
            <a:ext cx="48387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b="1">
                <a:solidFill>
                  <a:srgbClr val="48DEAB"/>
                </a:solidFill>
                <a:latin typeface="Microsoft YaHei" panose="020B0503020204020204" pitchFamily="34" charset="-122"/>
              </a:rPr>
              <a:t>SLIDE / Soft two-layer</a:t>
            </a:r>
            <a:endParaRPr lang="zh-CN" altLang="en-US" b="1">
              <a:solidFill>
                <a:srgbClr val="48DEA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04690FF-C1F6-112B-2607-8AC6812DE18E}"/>
              </a:ext>
            </a:extLst>
          </p:cNvPr>
          <p:cNvSpPr txBox="1"/>
          <p:nvPr/>
        </p:nvSpPr>
        <p:spPr>
          <a:xfrm>
            <a:off x="6502400" y="2286000"/>
            <a:ext cx="4838700" cy="175432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输入：普通 </a:t>
            </a:r>
            <a:r>
              <a:rPr lang="en-US" altLang="zh-CN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RGB</a:t>
            </a:r>
          </a:p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表示：前景 </a:t>
            </a:r>
            <a:r>
              <a:rPr lang="en-US" altLang="zh-CN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背景两层</a:t>
            </a:r>
          </a:p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补全：一次前向</a:t>
            </a:r>
          </a:p>
          <a:p>
            <a:endParaRPr lang="zh-CN" altLang="en-US" sz="140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优势：细结构更稳定、速度更快。</a:t>
            </a:r>
          </a:p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局限：复杂多层遮挡表达能力有限。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7ACDDD1-0186-EF60-83F4-3C868C234CB7}"/>
              </a:ext>
            </a:extLst>
          </p:cNvPr>
          <p:cNvSpPr/>
          <p:nvPr/>
        </p:nvSpPr>
        <p:spPr>
          <a:xfrm>
            <a:off x="2032000" y="5842000"/>
            <a:ext cx="8128000" cy="48260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B4272A1-6005-9F99-C3A1-20992FA67AAF}"/>
              </a:ext>
            </a:extLst>
          </p:cNvPr>
          <p:cNvSpPr txBox="1"/>
          <p:nvPr/>
        </p:nvSpPr>
        <p:spPr>
          <a:xfrm>
            <a:off x="2159000" y="5930900"/>
            <a:ext cx="78740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350" b="1" dirty="0">
                <a:solidFill>
                  <a:srgbClr val="FFA837"/>
                </a:solidFill>
                <a:latin typeface="Microsoft YaHei" panose="020B0503020204020204" pitchFamily="34" charset="-122"/>
              </a:rPr>
              <a:t>　显著深度边界采用显式切分；头发、桥索等细结构采用 </a:t>
            </a:r>
            <a:r>
              <a:rPr lang="en-US" altLang="zh-CN" sz="1350" b="1" dirty="0">
                <a:solidFill>
                  <a:srgbClr val="FFA837"/>
                </a:solidFill>
                <a:latin typeface="Microsoft YaHei" panose="020B0503020204020204" pitchFamily="34" charset="-122"/>
              </a:rPr>
              <a:t>soft visibility</a:t>
            </a:r>
            <a:r>
              <a:rPr lang="zh-CN" altLang="en-US" sz="1350" b="1" dirty="0">
                <a:solidFill>
                  <a:srgbClr val="FFA837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79380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90E7935E-FC15-7976-7E65-DBBDA6F630EA}"/>
              </a:ext>
            </a:extLst>
          </p:cNvPr>
          <p:cNvSpPr txBox="1"/>
          <p:nvPr/>
        </p:nvSpPr>
        <p:spPr>
          <a:xfrm>
            <a:off x="635000" y="203200"/>
            <a:ext cx="10541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本课题可以采用模块化浅 </a:t>
            </a:r>
            <a:r>
              <a:rPr lang="en-US" altLang="zh-CN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3D </a:t>
            </a:r>
            <a:r>
              <a:rPr lang="zh-CN" altLang="en-US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管线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C9D4B55-DE6F-194C-0DF1-3B201E97FB8E}"/>
              </a:ext>
            </a:extLst>
          </p:cNvPr>
          <p:cNvSpPr txBox="1"/>
          <p:nvPr/>
        </p:nvSpPr>
        <p:spPr>
          <a:xfrm>
            <a:off x="660400" y="673100"/>
            <a:ext cx="990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050">
                <a:solidFill>
                  <a:srgbClr val="667C97"/>
                </a:solidFill>
                <a:latin typeface="Microsoft YaHei" panose="020B0503020204020204" pitchFamily="34" charset="-122"/>
              </a:rPr>
              <a:t>生成阶段与交互渲染阶段分离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EECEA19-79AC-1D01-C66A-A4BF60FC6A3A}"/>
              </a:ext>
            </a:extLst>
          </p:cNvPr>
          <p:cNvSpPr/>
          <p:nvPr/>
        </p:nvSpPr>
        <p:spPr>
          <a:xfrm>
            <a:off x="444500" y="1968500"/>
            <a:ext cx="1625600" cy="15875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D96D2D7-DCA1-0BD2-58B2-901E4EE6DCB3}"/>
              </a:ext>
            </a:extLst>
          </p:cNvPr>
          <p:cNvSpPr txBox="1"/>
          <p:nvPr/>
        </p:nvSpPr>
        <p:spPr>
          <a:xfrm>
            <a:off x="508000" y="2159000"/>
            <a:ext cx="1498600" cy="38100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500" b="1">
                <a:solidFill>
                  <a:srgbClr val="0D569A"/>
                </a:solidFill>
                <a:latin typeface="Microsoft YaHei" panose="020B0503020204020204" pitchFamily="34" charset="-122"/>
              </a:rPr>
              <a:t>普通 </a:t>
            </a:r>
            <a:r>
              <a:rPr lang="en-US" altLang="zh-CN" sz="1500" b="1">
                <a:solidFill>
                  <a:srgbClr val="0D569A"/>
                </a:solidFill>
                <a:latin typeface="Microsoft YaHei" panose="020B0503020204020204" pitchFamily="34" charset="-122"/>
              </a:rPr>
              <a:t>RGB</a:t>
            </a:r>
            <a:endParaRPr lang="zh-CN" altLang="en-US" sz="1500" b="1">
              <a:solidFill>
                <a:srgbClr val="0D569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96D5006-BE8E-B2F4-3980-41B0CB62EE5A}"/>
              </a:ext>
            </a:extLst>
          </p:cNvPr>
          <p:cNvSpPr txBox="1"/>
          <p:nvPr/>
        </p:nvSpPr>
        <p:spPr>
          <a:xfrm>
            <a:off x="533400" y="2730500"/>
            <a:ext cx="14478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150">
                <a:solidFill>
                  <a:srgbClr val="667C97"/>
                </a:solidFill>
                <a:latin typeface="Microsoft YaHei" panose="020B0503020204020204" pitchFamily="34" charset="-122"/>
              </a:rPr>
              <a:t>一张照片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668FCB39-21B8-6B51-7414-663076BA754F}"/>
              </a:ext>
            </a:extLst>
          </p:cNvPr>
          <p:cNvSpPr/>
          <p:nvPr/>
        </p:nvSpPr>
        <p:spPr>
          <a:xfrm>
            <a:off x="2120900" y="2603500"/>
            <a:ext cx="2667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205E82E-CB6D-B348-1FFF-27244FE15C75}"/>
              </a:ext>
            </a:extLst>
          </p:cNvPr>
          <p:cNvSpPr/>
          <p:nvPr/>
        </p:nvSpPr>
        <p:spPr>
          <a:xfrm>
            <a:off x="2387600" y="1968500"/>
            <a:ext cx="1625600" cy="15875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F5A1157-7299-1B63-BE53-DDB6D6403F4D}"/>
              </a:ext>
            </a:extLst>
          </p:cNvPr>
          <p:cNvSpPr txBox="1"/>
          <p:nvPr/>
        </p:nvSpPr>
        <p:spPr>
          <a:xfrm>
            <a:off x="2451100" y="2159000"/>
            <a:ext cx="1498600" cy="38100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500" b="1">
                <a:solidFill>
                  <a:srgbClr val="0D569A"/>
                </a:solidFill>
                <a:latin typeface="Microsoft YaHei" panose="020B0503020204020204" pitchFamily="34" charset="-122"/>
              </a:rPr>
              <a:t>单目深度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54F09E8-5FB6-2C0C-6A08-C3070107A1BD}"/>
              </a:ext>
            </a:extLst>
          </p:cNvPr>
          <p:cNvSpPr txBox="1"/>
          <p:nvPr/>
        </p:nvSpPr>
        <p:spPr>
          <a:xfrm>
            <a:off x="2476500" y="2730500"/>
            <a:ext cx="14478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150">
                <a:solidFill>
                  <a:srgbClr val="667C97"/>
                </a:solidFill>
                <a:latin typeface="Microsoft YaHei" panose="020B0503020204020204" pitchFamily="34" charset="-122"/>
              </a:rPr>
              <a:t>相对深度</a:t>
            </a:r>
            <a:r>
              <a:rPr lang="en-US" altLang="zh-CN" sz="1150">
                <a:solidFill>
                  <a:srgbClr val="667C97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150">
                <a:solidFill>
                  <a:srgbClr val="667C97"/>
                </a:solidFill>
                <a:latin typeface="Microsoft YaHei" panose="020B0503020204020204" pitchFamily="34" charset="-122"/>
              </a:rPr>
              <a:t>视差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801BC281-F6F9-48AA-89C4-BFE26F07FEE6}"/>
              </a:ext>
            </a:extLst>
          </p:cNvPr>
          <p:cNvSpPr/>
          <p:nvPr/>
        </p:nvSpPr>
        <p:spPr>
          <a:xfrm>
            <a:off x="4064000" y="2603500"/>
            <a:ext cx="2667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37F7529-DF8E-3D42-8300-89D2BE4BC3C2}"/>
              </a:ext>
            </a:extLst>
          </p:cNvPr>
          <p:cNvSpPr/>
          <p:nvPr/>
        </p:nvSpPr>
        <p:spPr>
          <a:xfrm>
            <a:off x="4330700" y="1968500"/>
            <a:ext cx="1625600" cy="15875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27D09F-DC43-D433-4E30-C2A9F7CF858B}"/>
              </a:ext>
            </a:extLst>
          </p:cNvPr>
          <p:cNvSpPr txBox="1"/>
          <p:nvPr/>
        </p:nvSpPr>
        <p:spPr>
          <a:xfrm>
            <a:off x="4394200" y="2159000"/>
            <a:ext cx="1498600" cy="38100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500" b="1">
                <a:solidFill>
                  <a:srgbClr val="0D569A"/>
                </a:solidFill>
                <a:latin typeface="Microsoft YaHei" panose="020B0503020204020204" pitchFamily="34" charset="-122"/>
              </a:rPr>
              <a:t>边界增强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C01D3B8-7276-D80E-F3B9-719D5C5DFA28}"/>
              </a:ext>
            </a:extLst>
          </p:cNvPr>
          <p:cNvSpPr txBox="1"/>
          <p:nvPr/>
        </p:nvSpPr>
        <p:spPr>
          <a:xfrm>
            <a:off x="4419600" y="2730500"/>
            <a:ext cx="14478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150">
                <a:solidFill>
                  <a:srgbClr val="667C97"/>
                </a:solidFill>
                <a:latin typeface="Microsoft YaHei" panose="020B0503020204020204" pitchFamily="34" charset="-122"/>
              </a:rPr>
              <a:t>深度 </a:t>
            </a:r>
            <a:r>
              <a:rPr lang="en-US" altLang="zh-CN" sz="1150">
                <a:solidFill>
                  <a:srgbClr val="667C97"/>
                </a:solidFill>
                <a:latin typeface="Microsoft YaHei" panose="020B0503020204020204" pitchFamily="34" charset="-122"/>
              </a:rPr>
              <a:t>+ RGB </a:t>
            </a:r>
            <a:r>
              <a:rPr lang="zh-CN" altLang="en-US" sz="1150">
                <a:solidFill>
                  <a:srgbClr val="667C97"/>
                </a:solidFill>
                <a:latin typeface="Microsoft YaHei" panose="020B0503020204020204" pitchFamily="34" charset="-122"/>
              </a:rPr>
              <a:t>边界</a:t>
            </a: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B33F641A-09CA-B41A-D9B8-24341CC606B4}"/>
              </a:ext>
            </a:extLst>
          </p:cNvPr>
          <p:cNvSpPr/>
          <p:nvPr/>
        </p:nvSpPr>
        <p:spPr>
          <a:xfrm>
            <a:off x="6007100" y="2603500"/>
            <a:ext cx="2667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70AA703-46B4-8D72-B333-B8335447BE5F}"/>
              </a:ext>
            </a:extLst>
          </p:cNvPr>
          <p:cNvSpPr/>
          <p:nvPr/>
        </p:nvSpPr>
        <p:spPr>
          <a:xfrm>
            <a:off x="6273800" y="1968500"/>
            <a:ext cx="1625600" cy="15875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1BD226-C1F2-4002-4268-B792E0E0540B}"/>
              </a:ext>
            </a:extLst>
          </p:cNvPr>
          <p:cNvSpPr txBox="1"/>
          <p:nvPr/>
        </p:nvSpPr>
        <p:spPr>
          <a:xfrm>
            <a:off x="6337300" y="2159000"/>
            <a:ext cx="1498600" cy="38100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500" b="1">
                <a:solidFill>
                  <a:srgbClr val="0D569A"/>
                </a:solidFill>
                <a:latin typeface="Microsoft YaHei" panose="020B0503020204020204" pitchFamily="34" charset="-122"/>
              </a:rPr>
              <a:t>分层 </a:t>
            </a:r>
            <a:r>
              <a:rPr lang="en-US" altLang="zh-CN" sz="1500" b="1">
                <a:solidFill>
                  <a:srgbClr val="0D569A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500" b="1">
                <a:solidFill>
                  <a:srgbClr val="0D569A"/>
                </a:solidFill>
                <a:latin typeface="Microsoft YaHei" panose="020B0503020204020204" pitchFamily="34" charset="-122"/>
              </a:rPr>
              <a:t>补全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C0928FF-15C5-6C64-046A-18712FB466AD}"/>
              </a:ext>
            </a:extLst>
          </p:cNvPr>
          <p:cNvSpPr txBox="1"/>
          <p:nvPr/>
        </p:nvSpPr>
        <p:spPr>
          <a:xfrm>
            <a:off x="6362700" y="2730500"/>
            <a:ext cx="14478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150" dirty="0">
                <a:solidFill>
                  <a:srgbClr val="667C97"/>
                </a:solidFill>
                <a:latin typeface="Microsoft YaHei" panose="020B0503020204020204" pitchFamily="34" charset="-122"/>
              </a:rPr>
              <a:t>硬边界 </a:t>
            </a:r>
            <a:r>
              <a:rPr lang="en-US" altLang="zh-CN" sz="1150" dirty="0">
                <a:solidFill>
                  <a:srgbClr val="667C97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50" dirty="0">
                <a:solidFill>
                  <a:srgbClr val="667C97"/>
                </a:solidFill>
                <a:latin typeface="Microsoft YaHei" panose="020B0503020204020204" pitchFamily="34" charset="-122"/>
              </a:rPr>
              <a:t>软可见性</a:t>
            </a:r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DE6CF527-B1DB-0B7A-72E9-B74FD287A01D}"/>
              </a:ext>
            </a:extLst>
          </p:cNvPr>
          <p:cNvSpPr/>
          <p:nvPr/>
        </p:nvSpPr>
        <p:spPr>
          <a:xfrm>
            <a:off x="7950200" y="2603500"/>
            <a:ext cx="2667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A41ED5AA-9706-36D0-22CB-8998D37C586D}"/>
              </a:ext>
            </a:extLst>
          </p:cNvPr>
          <p:cNvSpPr/>
          <p:nvPr/>
        </p:nvSpPr>
        <p:spPr>
          <a:xfrm>
            <a:off x="9893300" y="2603500"/>
            <a:ext cx="266700" cy="228600"/>
          </a:xfrm>
          <a:prstGeom prst="rightArrow">
            <a:avLst/>
          </a:prstGeom>
          <a:solidFill>
            <a:srgbClr val="22C7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659FC9A-D679-1ED8-13F2-8DE85FBE2C82}"/>
              </a:ext>
            </a:extLst>
          </p:cNvPr>
          <p:cNvSpPr txBox="1"/>
          <p:nvPr/>
        </p:nvSpPr>
        <p:spPr>
          <a:xfrm>
            <a:off x="1295400" y="4292600"/>
            <a:ext cx="96012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b="1">
                <a:solidFill>
                  <a:srgbClr val="FFA837"/>
                </a:solidFill>
                <a:latin typeface="Microsoft YaHei" panose="020B0503020204020204" pitchFamily="34" charset="-122"/>
              </a:rPr>
              <a:t>Implementation Stages</a:t>
            </a:r>
            <a:endParaRPr lang="zh-CN" altLang="en-US" b="1">
              <a:solidFill>
                <a:srgbClr val="FFA8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3A57F75-A0A8-5E9F-5F33-971F617A2569}"/>
              </a:ext>
            </a:extLst>
          </p:cNvPr>
          <p:cNvSpPr txBox="1"/>
          <p:nvPr/>
        </p:nvSpPr>
        <p:spPr>
          <a:xfrm>
            <a:off x="1295400" y="4889500"/>
            <a:ext cx="96012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首先实现 </a:t>
            </a:r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RGB → </a:t>
            </a:r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深度 → </a:t>
            </a:r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Mesh </a:t>
            </a:r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重投影，验证运动视差；</a:t>
            </a:r>
          </a:p>
          <a:p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随后加入边界增强、背景补全和两层表达；最后比较 </a:t>
            </a:r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LDI</a:t>
            </a:r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TMPI </a:t>
            </a:r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与轻量 </a:t>
            </a:r>
            <a:r>
              <a:rPr lang="en-US" altLang="zh-CN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3DGS</a:t>
            </a:r>
            <a:r>
              <a:rPr lang="zh-CN" altLang="en-US" sz="1450" dirty="0">
                <a:solidFill>
                  <a:schemeClr val="tx2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E809E0F-23F9-E8B4-AE46-CE7460C29867}"/>
              </a:ext>
            </a:extLst>
          </p:cNvPr>
          <p:cNvSpPr/>
          <p:nvPr/>
        </p:nvSpPr>
        <p:spPr>
          <a:xfrm>
            <a:off x="8242300" y="1974850"/>
            <a:ext cx="1625600" cy="15875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A459BB-D295-AEEE-360E-882B368748E3}"/>
              </a:ext>
            </a:extLst>
          </p:cNvPr>
          <p:cNvSpPr txBox="1"/>
          <p:nvPr/>
        </p:nvSpPr>
        <p:spPr>
          <a:xfrm>
            <a:off x="8305800" y="2165350"/>
            <a:ext cx="1498600" cy="38100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50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显示表达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125A99-0540-96EC-6A04-7F3BDCCAE67C}"/>
              </a:ext>
            </a:extLst>
          </p:cNvPr>
          <p:cNvSpPr txBox="1"/>
          <p:nvPr/>
        </p:nvSpPr>
        <p:spPr>
          <a:xfrm>
            <a:off x="8331200" y="2736850"/>
            <a:ext cx="14478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150" dirty="0">
                <a:solidFill>
                  <a:srgbClr val="667C97"/>
                </a:solidFill>
                <a:latin typeface="Microsoft YaHei" panose="020B0503020204020204" pitchFamily="34" charset="-122"/>
              </a:rPr>
              <a:t>LDI / Mesh / TMPI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C49775B-6AA2-0B96-C790-B5CBD54D7700}"/>
              </a:ext>
            </a:extLst>
          </p:cNvPr>
          <p:cNvSpPr/>
          <p:nvPr/>
        </p:nvSpPr>
        <p:spPr>
          <a:xfrm>
            <a:off x="10185400" y="1974850"/>
            <a:ext cx="1625600" cy="1587500"/>
          </a:xfrm>
          <a:prstGeom prst="roundRect">
            <a:avLst/>
          </a:prstGeom>
          <a:solidFill>
            <a:srgbClr val="EEF5FB"/>
          </a:solidFill>
          <a:ln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60C1596-E1E6-47D1-EF36-E442682F265C}"/>
              </a:ext>
            </a:extLst>
          </p:cNvPr>
          <p:cNvSpPr txBox="1"/>
          <p:nvPr/>
        </p:nvSpPr>
        <p:spPr>
          <a:xfrm>
            <a:off x="10248900" y="2165350"/>
            <a:ext cx="1498600" cy="38100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500" b="1" dirty="0">
                <a:solidFill>
                  <a:srgbClr val="0D569A"/>
                </a:solidFill>
                <a:latin typeface="Microsoft YaHei" panose="020B0503020204020204" pitchFamily="34" charset="-122"/>
              </a:rPr>
              <a:t>显示表达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ED3F41E-6119-C6E3-51BF-61FE43588485}"/>
              </a:ext>
            </a:extLst>
          </p:cNvPr>
          <p:cNvSpPr txBox="1"/>
          <p:nvPr/>
        </p:nvSpPr>
        <p:spPr>
          <a:xfrm>
            <a:off x="10274300" y="2736850"/>
            <a:ext cx="1447800" cy="656590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en-US" altLang="zh-CN" sz="1150" dirty="0">
                <a:solidFill>
                  <a:srgbClr val="667C97"/>
                </a:solidFill>
                <a:latin typeface="Microsoft YaHei" panose="020B0503020204020204" pitchFamily="34" charset="-122"/>
              </a:rPr>
              <a:t>LDI / Mesh / TMPI</a:t>
            </a:r>
          </a:p>
        </p:txBody>
      </p:sp>
    </p:spTree>
    <p:extLst>
      <p:ext uri="{BB962C8B-B14F-4D97-AF65-F5344CB8AC3E}">
        <p14:creationId xmlns:p14="http://schemas.microsoft.com/office/powerpoint/2010/main" val="1940466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B8C87B34-D4FF-F108-874F-7606ACA7402C}"/>
              </a:ext>
            </a:extLst>
          </p:cNvPr>
          <p:cNvSpPr txBox="1"/>
          <p:nvPr/>
        </p:nvSpPr>
        <p:spPr>
          <a:xfrm>
            <a:off x="635000" y="203200"/>
            <a:ext cx="10541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2550" b="1">
                <a:solidFill>
                  <a:srgbClr val="0D569A"/>
                </a:solidFill>
                <a:latin typeface="Microsoft YaHei" panose="020B0503020204020204" pitchFamily="34" charset="-122"/>
              </a:rPr>
              <a:t>下一步工作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FDBDF96-3487-647C-AA84-E9617C0161C4}"/>
              </a:ext>
            </a:extLst>
          </p:cNvPr>
          <p:cNvSpPr txBox="1"/>
          <p:nvPr/>
        </p:nvSpPr>
        <p:spPr>
          <a:xfrm>
            <a:off x="660400" y="673100"/>
            <a:ext cx="9906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050">
                <a:solidFill>
                  <a:srgbClr val="667C97"/>
                </a:solidFill>
                <a:latin typeface="Microsoft YaHei" panose="020B0503020204020204" pitchFamily="34" charset="-122"/>
              </a:rPr>
              <a:t>继续补齐表示方法，同时开始建立可比较的实验基线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8F0C68A-E242-66CF-77BC-B9CB10438924}"/>
              </a:ext>
            </a:extLst>
          </p:cNvPr>
          <p:cNvSpPr txBox="1"/>
          <p:nvPr/>
        </p:nvSpPr>
        <p:spPr>
          <a:xfrm>
            <a:off x="914400" y="1752600"/>
            <a:ext cx="47752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b="1">
                <a:solidFill>
                  <a:srgbClr val="22C7E2"/>
                </a:solidFill>
                <a:latin typeface="Microsoft YaHei" panose="020B0503020204020204" pitchFamily="34" charset="-122"/>
              </a:rPr>
              <a:t>论文阅读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FA6742C-9F51-1D72-ECCB-B73355D265AE}"/>
              </a:ext>
            </a:extLst>
          </p:cNvPr>
          <p:cNvSpPr txBox="1"/>
          <p:nvPr/>
        </p:nvSpPr>
        <p:spPr>
          <a:xfrm>
            <a:off x="914400" y="2349500"/>
            <a:ext cx="4775200" cy="2031325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en-US" altLang="zh-CN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TMPI</a:t>
            </a:r>
          </a:p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规则 </a:t>
            </a:r>
            <a:r>
              <a:rPr lang="en-US" altLang="zh-CN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MPI </a:t>
            </a:r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怎样通过局部 </a:t>
            </a:r>
            <a:r>
              <a:rPr lang="en-US" altLang="zh-CN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tile </a:t>
            </a:r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降低冗余？</a:t>
            </a:r>
          </a:p>
          <a:p>
            <a:endParaRPr lang="zh-CN" altLang="en-US" sz="140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en-US" altLang="zh-CN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MINE</a:t>
            </a:r>
          </a:p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离散深度层与连续深度表示如何取舍？</a:t>
            </a:r>
          </a:p>
          <a:p>
            <a:endParaRPr lang="zh-CN" altLang="en-US" sz="140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继续关注单图前馈 </a:t>
            </a:r>
            <a:r>
              <a:rPr lang="en-US" altLang="zh-CN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3DGS</a:t>
            </a:r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BDC3BED-555B-6937-5925-20D1236FFAC0}"/>
              </a:ext>
            </a:extLst>
          </p:cNvPr>
          <p:cNvSpPr txBox="1"/>
          <p:nvPr/>
        </p:nvSpPr>
        <p:spPr>
          <a:xfrm>
            <a:off x="6502400" y="1752600"/>
            <a:ext cx="47752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b="1">
                <a:solidFill>
                  <a:srgbClr val="FFA837"/>
                </a:solidFill>
                <a:latin typeface="Microsoft YaHei" panose="020B0503020204020204" pitchFamily="34" charset="-122"/>
              </a:rPr>
              <a:t>实验验证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5322339-24F3-4D29-A926-09461B448D11}"/>
              </a:ext>
            </a:extLst>
          </p:cNvPr>
          <p:cNvSpPr txBox="1"/>
          <p:nvPr/>
        </p:nvSpPr>
        <p:spPr>
          <a:xfrm>
            <a:off x="6502400" y="2349500"/>
            <a:ext cx="4775200" cy="1754326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测试 </a:t>
            </a:r>
            <a:r>
              <a:rPr lang="en-US" altLang="zh-CN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Depth Anything V2</a:t>
            </a:r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Depth Pro </a:t>
            </a:r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的边界质量。</a:t>
            </a:r>
          </a:p>
          <a:p>
            <a:endParaRPr lang="zh-CN" altLang="en-US" sz="140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建立空洞、拉伸、重影、细线断裂失败案例集。</a:t>
            </a:r>
          </a:p>
          <a:p>
            <a:endParaRPr lang="zh-CN" altLang="en-US" sz="1400" dirty="0">
              <a:solidFill>
                <a:schemeClr val="tx2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完成深度 → </a:t>
            </a:r>
            <a:r>
              <a:rPr lang="en-US" altLang="zh-CN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Mesh </a:t>
            </a:r>
            <a:r>
              <a:rPr lang="zh-CN" altLang="en-US" sz="1400" dirty="0">
                <a:solidFill>
                  <a:schemeClr val="tx2"/>
                </a:solidFill>
                <a:latin typeface="Microsoft YaHei" panose="020B0503020204020204" pitchFamily="34" charset="-122"/>
              </a:rPr>
              <a:t>重投影基础实验。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CC047B-00D5-0D4E-CF6C-5BC0CD18892E}"/>
              </a:ext>
            </a:extLst>
          </p:cNvPr>
          <p:cNvSpPr/>
          <p:nvPr/>
        </p:nvSpPr>
        <p:spPr>
          <a:xfrm>
            <a:off x="1841500" y="5867400"/>
            <a:ext cx="8509000" cy="48260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82B4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C934FCB-9FF5-79EA-7D66-552CD19D22A4}"/>
              </a:ext>
            </a:extLst>
          </p:cNvPr>
          <p:cNvSpPr txBox="1"/>
          <p:nvPr/>
        </p:nvSpPr>
        <p:spPr>
          <a:xfrm>
            <a:off x="1968500" y="5956300"/>
            <a:ext cx="8255000" cy="379591"/>
          </a:xfrm>
          <a:prstGeom prst="rect">
            <a:avLst/>
          </a:prstGeom>
          <a:noFill/>
        </p:spPr>
        <p:txBody>
          <a:bodyPr vert="horz" wrap="square" lIns="88900" tIns="50800" rIns="88900" bIns="50800" rtlCol="0">
            <a:noAutofit/>
          </a:bodyPr>
          <a:lstStyle/>
          <a:p>
            <a:pPr algn="ctr"/>
            <a:r>
              <a:rPr lang="zh-CN" altLang="en-US" sz="1350" b="1">
                <a:solidFill>
                  <a:srgbClr val="0D569A"/>
                </a:solidFill>
                <a:latin typeface="Microsoft YaHei" panose="020B0503020204020204" pitchFamily="34" charset="-122"/>
              </a:rPr>
              <a:t>下一阶段目标　由文献调研转入可验证原型构建与对比实验。</a:t>
            </a:r>
          </a:p>
        </p:txBody>
      </p:sp>
    </p:spTree>
    <p:extLst>
      <p:ext uri="{BB962C8B-B14F-4D97-AF65-F5344CB8AC3E}">
        <p14:creationId xmlns:p14="http://schemas.microsoft.com/office/powerpoint/2010/main" val="35753917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1462</Words>
  <Application>Microsoft Office PowerPoint</Application>
  <PresentationFormat>宽屏</PresentationFormat>
  <Paragraphs>221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等线</vt:lpstr>
      <vt:lpstr>Microsoft YaHei</vt:lpstr>
      <vt:lpstr>Microsoft YaHei</vt:lpstr>
      <vt:lpstr>微软雅黑 Light</vt:lpstr>
      <vt:lpstr>Arial</vt:lpstr>
      <vt:lpstr>Calibri</vt:lpstr>
      <vt:lpstr>Wingdings</vt:lpstr>
      <vt:lpstr>WPS</vt:lpstr>
      <vt:lpstr>单张 2D 图像转浅 3D 表达 研究进展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MCY</dc:creator>
  <cp:lastModifiedBy>辰洋 孟</cp:lastModifiedBy>
  <cp:revision>194</cp:revision>
  <dcterms:created xsi:type="dcterms:W3CDTF">2019-06-19T02:08:00Z</dcterms:created>
  <dcterms:modified xsi:type="dcterms:W3CDTF">2026-07-10T04:36:33Z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60DE83EF02A44C94BD9238CB09B28B06_11</vt:lpwstr>
  </property>
</Properties>
</file>