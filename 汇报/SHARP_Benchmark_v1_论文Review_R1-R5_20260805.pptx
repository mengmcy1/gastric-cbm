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9201c0bc5346f0" /><Relationship Type="http://schemas.openxmlformats.org/officeDocument/2006/relationships/extended-properties" Target="/docProps/app.xml" Id="R7b0ec93f89624715" /><Relationship Type="http://schemas.openxmlformats.org/officeDocument/2006/relationships/officeDocument" Target="/ppt/presentation.xml" Id="R1a2091bd00f1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6827639d344ab8"/>
  </p:sldMasterIdLst>
  <p:notesMasterIdLst>
    <p:notesMasterId xmlns:r="http://schemas.openxmlformats.org/officeDocument/2006/relationships" r:id="R4be79f27cb19458d"/>
  </p:notesMasterIdLst>
  <p:sldIdLst>
    <p:sldId xmlns:r="http://schemas.openxmlformats.org/officeDocument/2006/relationships" id="256" r:id="R068081263d1d4488"/>
    <p:sldId xmlns:r="http://schemas.openxmlformats.org/officeDocument/2006/relationships" id="257" r:id="Re338f71530b64d4d"/>
    <p:sldId xmlns:r="http://schemas.openxmlformats.org/officeDocument/2006/relationships" id="258" r:id="Reea455c483ac4eaf"/>
    <p:sldId xmlns:r="http://schemas.openxmlformats.org/officeDocument/2006/relationships" id="259" r:id="R010e6e89fd124ca0"/>
    <p:sldId xmlns:r="http://schemas.openxmlformats.org/officeDocument/2006/relationships" id="260" r:id="R066eefc28729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22f9890654b49" /><Relationship Type="http://schemas.openxmlformats.org/officeDocument/2006/relationships/slideMaster" Target="/ppt/slideMasters/slideMaster1.xml" Id="R266827639d344ab8" /><Relationship Type="http://schemas.openxmlformats.org/officeDocument/2006/relationships/notesMaster" Target="/ppt/notesMasters/notesMaster1.xml" Id="R4be79f27cb19458d" /><Relationship Type="http://schemas.openxmlformats.org/officeDocument/2006/relationships/presProps" Target="/ppt/presProps.xml" Id="R8c5c36cf74354b5b" /><Relationship Type="http://schemas.openxmlformats.org/officeDocument/2006/relationships/viewProps" Target="/ppt/viewProps.xml" Id="R4533f67912fd4a51" /><Relationship Type="http://schemas.openxmlformats.org/officeDocument/2006/relationships/tableStyles" Target="/ppt/tableStyles.xml" Id="R1346d745fa634866" /><Relationship Type="http://schemas.openxmlformats.org/officeDocument/2006/relationships/slide" Target="/ppt/slides/slide1.xml" Id="R068081263d1d4488" /><Relationship Type="http://schemas.openxmlformats.org/officeDocument/2006/relationships/slide" Target="/ppt/slides/slide2.xml" Id="Re338f71530b64d4d" /><Relationship Type="http://schemas.openxmlformats.org/officeDocument/2006/relationships/slide" Target="/ppt/slides/slide3.xml" Id="Reea455c483ac4eaf" /><Relationship Type="http://schemas.openxmlformats.org/officeDocument/2006/relationships/slide" Target="/ppt/slides/slide4.xml" Id="R010e6e89fd124ca0" /><Relationship Type="http://schemas.openxmlformats.org/officeDocument/2006/relationships/slide" Target="/ppt/slides/slide5.xml" Id="R066eefc28729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67b43b154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c48b2485784fc0" /><Relationship Type="http://schemas.openxmlformats.org/officeDocument/2006/relationships/notesMaster" Target="/ppt/notesMasters/notesMaster1.xml" Id="R3e837ad2c24e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3af85cb51f4e77" /><Relationship Type="http://schemas.openxmlformats.org/officeDocument/2006/relationships/notesMaster" Target="/ppt/notesMasters/notesMaster1.xml" Id="Rbdd4c1354635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e50bad478d41c0" /><Relationship Type="http://schemas.openxmlformats.org/officeDocument/2006/relationships/notesMaster" Target="/ppt/notesMasters/notesMaster1.xml" Id="R74749f520ad8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836e8a7d7493b" /><Relationship Type="http://schemas.openxmlformats.org/officeDocument/2006/relationships/notesMaster" Target="/ppt/notesMasters/notesMaster1.xml" Id="Rdd33744057e643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90f9a15b94a5a" /><Relationship Type="http://schemas.openxmlformats.org/officeDocument/2006/relationships/notesMaster" Target="/ppt/notesMasters/notesMaster1.xml" Id="R99bd7a683c51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单目深度能力与局限：课题要求.png；文献/04_单图与前馈3DGS/09_SHARP_Sharp_Monocular_View_Synthesis.pdf</a:t>
            </a:r>
          </a:p>
          <a:p xmlns:a="http://schemas.openxmlformats.org/drawingml/2006/main">
            <a:r>
              <a:t>Benchmark 基线结论：03_实验记录/SHARP浅3D实验/10_最终结论/SHARP_Benchmark_v1.md</a:t>
            </a:r>
          </a:p>
          <a:p xmlns:a="http://schemas.openxmlformats.org/drawingml/2006/main">
            <a:r>
              <a:t>自研重点：02_方案设计/总体Framework讨论总结_自适应3DGS.md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单层 Warp 与 LDI：文献/02_单图3D照片与分层表达/03_3D_Photography_Context_aware_Layered_Depth_Inpainting.pdf</a:t>
            </a:r>
          </a:p>
          <a:p xmlns:a="http://schemas.openxmlformats.org/drawingml/2006/main">
            <a:r>
              <a:t>SLIDE：文献/02_单图3D照片与分层表达/04_SLIDE_Soft_Layering_and_Depth_aware_Inpainting.pdf</a:t>
            </a:r>
          </a:p>
          <a:p xmlns:a="http://schemas.openxmlformats.org/drawingml/2006/main">
            <a:r>
              <a:t>TMPI：文献/02_单图3D照片与分层表达/05_TMPI_Tiled_Multiplane_Images_for_Practical_3D_Photography.pdf</a:t>
            </a:r>
          </a:p>
          <a:p xmlns:a="http://schemas.openxmlformats.org/drawingml/2006/main">
            <a:r>
              <a:t>MINE：文献/02_单图3D照片与分层表达/06_MINE_Continuous_Depth_MPI_with_NeRF.pdf</a:t>
            </a:r>
          </a:p>
          <a:p xmlns:a="http://schemas.openxmlformats.org/drawingml/2006/main">
            <a:r>
              <a:t>注：TMPI 论文主实验使用每块 4 层，不表示所有场景的理论最优层数。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传统 3DGS 与 SHARP：文献/04_单图与前馈3DGS/09_SHARP_Sharp_Monocular_View_Synthesis.pdf</a:t>
            </a:r>
          </a:p>
          <a:p xmlns:a="http://schemas.openxmlformats.org/drawingml/2006/main">
            <a:r>
              <a:t>pixelSplat：文献/04_单图与前馈3DGS/10_pixelSplat_3D_Gaussian_Splats_from_Image_Pairs.pdf</a:t>
            </a:r>
          </a:p>
          <a:p xmlns:a="http://schemas.openxmlformats.org/drawingml/2006/main">
            <a:r>
              <a:t>AnySplat：文献/04_单图与前馈3DGS/11_AnySplat_Feed_forward_3D_Gaussian_Splatting.pdf</a:t>
            </a:r>
          </a:p>
          <a:p xmlns:a="http://schemas.openxmlformats.org/drawingml/2006/main">
            <a:r>
              <a:t>Splatter Image：文献/09_前馈生成与显露区域补全/33_Splatter_Image_Ultra-Fast_Single-View_3D.pdf</a:t>
            </a:r>
          </a:p>
          <a:p xmlns:a="http://schemas.openxmlformats.org/drawingml/2006/main">
            <a:r>
              <a:t>SHARP 可复现性与 Benchmark 能力：03_实验记录/SHARP浅3D实验/10_最终结论/SHARP_Benchmark_v1.md</a:t>
            </a:r>
          </a:p>
          <a:p xmlns:a="http://schemas.openxmlformats.org/drawingml/2006/main">
            <a:r>
              <a:t>Flash3D 仅用于方法家族定位，本页不引用其跨论文性能数字。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TMPI 表示、每块自适应平面与 5.25 MB 口径：文献/02_单图3D照片与分层表达/05_TMPI_Tiled_Multiplane_Images_for_Practical_3D_Photography.pdf；Table 2 使用单张 350×630 RGB，NVIDIA GeForce RTX 3080。</a:t>
            </a:r>
          </a:p>
          <a:p xmlns:a="http://schemas.openxmlformats.org/drawingml/2006/main">
            <a:r>
              <a:t>SHARP 结构与第二层：文献/04_单图与前馈3DGS/09_SHARP_Sharp_Monocular_View_Synthesis.pdf</a:t>
            </a:r>
          </a:p>
          <a:p xmlns:a="http://schemas.openxmlformats.org/drawingml/2006/main">
            <a:r>
              <a:t>本地 SHARP 约 63 MiB/PLY、细结构与性能边界：03_实验记录/SHARP浅3D实验/10_最终结论/SHARP_Benchmark_v1.md</a:t>
            </a:r>
          </a:p>
          <a:p xmlns:a="http://schemas.openxmlformats.org/drawingml/2006/main">
            <a:r>
              <a:t>口径声明：两者分辨率、参数字段、序列化格式和评价范围不同，不计算固定压缩倍数。</a:t>
            </a:r>
          </a:p>
          <a:p xmlns:a="http://schemas.openxmlformats.org/drawingml/2006/main">
            <a:r>
              <a:t>工程路线：02_方案设计/总体Framework讨论总结_自适应3DGS.md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30°、DISTS &lt; 0.06、&lt;5 s 与 &lt;3 GB 课题目标：课题要求.png；AGENTS.md</a:t>
            </a:r>
          </a:p>
          <a:p xmlns:a="http://schemas.openxmlformats.org/drawingml/2006/main">
            <a:r>
              <a:t>SHARP 论文 DISTS 与附近视角/相机基线口径：文献/04_单图与前馈3DGS/09_SHARP_Sharp_Monocular_View_Synthesis.pdf</a:t>
            </a:r>
          </a:p>
          <a:p xmlns:a="http://schemas.openxmlformats.org/drawingml/2006/main">
            <a:r>
              <a:t>本地 max_disparity 口径、3/13 中 3 例轻微细结构错位、性能与内存边界：03_实验记录/SHARP浅3D实验/10_最终结论/SHARP_Benchmark_v1.md</a:t>
            </a:r>
          </a:p>
          <a:p xmlns:a="http://schemas.openxmlformats.org/drawingml/2006/main">
            <a:r>
              <a:t>TMPI 跨块风险：文献/02_单图3D照片与分层表达/05_TMPI_Tiled_Multiplane_Images_for_Practical_3D_Photography.pdf</a:t>
            </a:r>
          </a:p>
          <a:p xmlns:a="http://schemas.openxmlformats.org/drawingml/2006/main">
            <a:r>
              <a:t>Stage 0+1 与 5°/15°/30° A/B：02_方案设计/总体Framework讨论总结_自适应3DGS.md</a:t>
            </a:r>
          </a:p>
          <a:p xmlns:a="http://schemas.openxmlformats.org/drawingml/2006/main">
            <a:r>
              <a:t>边界：隐藏内容只追求视觉合理和跨视角一致，不宣称真实恢复。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5e91ff84f41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da52b697c42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07bee42064f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209217acc41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54c202f834d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cddad982a4a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de304aaa44b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4274fc1384a3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5743f11d948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e3e657ffc4d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193f04be746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9afe639394d93" /><Relationship Type="http://schemas.openxmlformats.org/officeDocument/2006/relationships/image" Target="/ppt/media/image.png" Id="Rf62f6cd3fc6d4e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bd53636004033" /><Relationship Type="http://schemas.openxmlformats.org/officeDocument/2006/relationships/image" Target="/ppt/media/image2.png" Id="R364cdce3d40f450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FD9D74-47D9-4702-A33C-335B63B48DBF}" type="datetimeFigureOut">
              <a:t>2026-07-22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BC47A4-756D-490B-A52F-7D9E2C9FC05F}" type="slidenum">
              <a:t>‹#›</a:t>
            </a:fld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9AE70B2-8BF9-45C0-BB95-33D1B9D3A854}" type="slidenum">
              <a:t>‹#›</a:t>
            </a:fld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封面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737562"/>
            <a:ext cx="11809312" cy="50676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>
              <a:alpha val="90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文本占位符 73">
            <a:extLst xmlns:a="http://schemas.openxmlformats.org/drawingml/2006/main"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583773" y="4851298"/>
            <a:ext cx="3024188" cy="35894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 xmlns:a="http://schemas.openxmlformats.org/drawingml/2006/main"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3867" y="2087714"/>
            <a:ext cx="9144000" cy="677108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r>
              <a:t>编辑标题样式</a:t>
            </a:r>
          </a:p>
        </p:txBody>
      </p:sp>
      <p:sp>
        <p:nvSpPr>
          <p:cNvPr id="79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431248" y="4266698"/>
            <a:ext cx="5329238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7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664353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712656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44" name="直接连接符 23"/>
          <p:cNvCxnSpPr>
            <a:stCxn xmlns:a="http://schemas.openxmlformats.org/drawingml/2006/main" id="14" idx="2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55647" y="652498"/>
            <a:ext cx="11280706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1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f6cd3fc6d4e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4193" y="5877272"/>
            <a:ext cx="1203613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页脚占位符 136">
            <a:extLst xmlns:a="http://schemas.openxmlformats.org/drawingml/2006/main"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390"/>
            <a:ext cx="6400800" cy="364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351451" y="2944162"/>
            <a:ext cx="7488832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 xmlns:a="http://schemas.openxmlformats.org/drawingml/2006/main"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31248" y="3732590"/>
            <a:ext cx="5329238" cy="440681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 xmlns:a="http://schemas.openxmlformats.org/drawingml/2006/main">
            <a:pPr>
              <a:buNone/>
            </a:pPr>
            <a:r>
              <a:t>xxx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0" name="Straight Arrow Connector 4"/>
          <p:cNvCxnSpPr/>
          <p:nvPr/>
        </p:nvCxnSpPr>
        <p:spPr>
          <a:xfrm xmlns:a="http://schemas.openxmlformats.org/drawingml/2006/main">
            <a:off x="-1145117" y="6303964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1" name="Straight Arrow Connector 5"/>
          <p:cNvCxnSpPr/>
          <p:nvPr/>
        </p:nvCxnSpPr>
        <p:spPr>
          <a:xfrm xmlns:a="http://schemas.openxmlformats.org/drawingml/2006/main">
            <a:off x="472017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2" name="Straight Arrow Connector 7"/>
          <p:cNvCxnSpPr/>
          <p:nvPr/>
        </p:nvCxnSpPr>
        <p:spPr>
          <a:xfrm xmlns:a="http://schemas.openxmlformats.org/drawingml/2006/main">
            <a:off x="11703051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" name="Straight Arrow Connector 8"/>
          <p:cNvCxnSpPr/>
          <p:nvPr/>
        </p:nvCxnSpPr>
        <p:spPr>
          <a:xfrm xmlns:a="http://schemas.openxmlformats.org/drawingml/2006/main">
            <a:off x="-1145117" y="1258889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" name="Straight Arrow Connector 9"/>
          <p:cNvCxnSpPr/>
          <p:nvPr/>
        </p:nvCxnSpPr>
        <p:spPr>
          <a:xfrm xmlns:a="http://schemas.openxmlformats.org/drawingml/2006/main">
            <a:off x="-1145117" y="763589"/>
            <a:ext cx="960967" cy="1587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" name="Straight Arrow Connector 10"/>
          <p:cNvCxnSpPr/>
          <p:nvPr/>
        </p:nvCxnSpPr>
        <p:spPr>
          <a:xfrm xmlns:a="http://schemas.openxmlformats.org/drawingml/2006/main">
            <a:off x="5856817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6" name="Straight Arrow Connector 11"/>
          <p:cNvCxnSpPr/>
          <p:nvPr/>
        </p:nvCxnSpPr>
        <p:spPr>
          <a:xfrm xmlns:a="http://schemas.openxmlformats.org/drawingml/2006/main">
            <a:off x="6335184" y="7010400"/>
            <a:ext cx="0" cy="360363"/>
          </a:xfrm>
          <a:prstGeom xmlns:a="http://schemas.openxmlformats.org/drawingml/2006/main" prst="straightConnector1">
            <a:avLst/>
          </a:prstGeom>
          <a:ln xmlns:a="http://schemas.openxmlformats.org/drawingml/2006/main" w="19050" cap="sq">
            <a:solidFill>
              <a:schemeClr val="bg1"/>
            </a:solidFill>
            <a:round/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3583" y="6581776"/>
            <a:ext cx="223943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 xmlns:a="http://schemas.openxmlformats.org/drawingml/2006/main"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896938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 xmlns:a="http://schemas.openxmlformats.org/drawingml/2006/main"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15049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 xmlns:a="http://schemas.openxmlformats.org/drawingml/2006/main"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55183" y="5921375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b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 xmlns:a="http://schemas.openxmlformats.org/drawingml/2006/main"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68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968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 xmlns:a="http://schemas.openxmlformats.org/drawingml/2006/main"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1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785" y="7067550"/>
            <a:ext cx="1071033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 xmlns:a="http://schemas.openxmlformats.org/drawingml/2006/main"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175" name="Straight Arrow Connector 20"/>
          <p:cNvCxnSpPr/>
          <p:nvPr/>
        </p:nvCxnSpPr>
        <p:spPr>
          <a:xfrm xmlns:a="http://schemas.openxmlformats.org/drawingml/2006/main" rot="5400000" flipH="1" flipV="1">
            <a:off x="-296863" y="1308630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6" name="Straight Arrow Connector 21"/>
          <p:cNvCxnSpPr/>
          <p:nvPr/>
        </p:nvCxnSpPr>
        <p:spPr>
          <a:xfrm xmlns:a="http://schemas.openxmlformats.org/drawingml/2006/main" rot="5400000" flipH="1" flipV="1">
            <a:off x="-296863" y="811743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tailEnd type="arrow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7" name="Straight Arrow Connector 22"/>
          <p:cNvCxnSpPr/>
          <p:nvPr/>
        </p:nvCxnSpPr>
        <p:spPr>
          <a:xfrm xmlns:a="http://schemas.openxmlformats.org/drawingml/2006/main" rot="5400000" flipH="1" flipV="1">
            <a:off x="-296863" y="6240993"/>
            <a:ext cx="92075" cy="2117"/>
          </a:xfrm>
          <a:prstGeom xmlns:a="http://schemas.openxmlformats.org/drawingml/2006/main" prst="straightConnector1">
            <a:avLst/>
          </a:prstGeom>
          <a:ln xmlns:a="http://schemas.openxmlformats.org/drawingml/2006/main"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55284" y="0"/>
            <a:ext cx="1871133" cy="692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 xmlns:a="http://schemas.openxmlformats.org/drawingml/2006/main"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477838" y="1066523"/>
            <a:ext cx="11231562" cy="5317329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 xmlns:a="http://schemas.openxmlformats.org/drawingml/2006/main"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 xmlns:a="http://schemas.openxmlformats.org/drawingml/2006/main"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 xmlns:a="http://schemas.openxmlformats.org/drawingml/2006/main"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47" y="508498"/>
            <a:ext cx="1440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44" y="305562"/>
            <a:ext cx="288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 w="12700" cmpd="sng">
            <a:solidFill>
              <a:srgbClr val="005BA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日期占位符 135">
            <a:extLst xmlns:a="http://schemas.openxmlformats.org/drawingml/2006/main"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328" y="6555494"/>
            <a:ext cx="2883976" cy="2675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 xmlns:a="http://schemas.openxmlformats.org/drawingml/2006/main"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88" y="6552438"/>
            <a:ext cx="2880000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936" y="6626574"/>
            <a:ext cx="480484" cy="125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</a:p>
        </p:txBody>
      </p:sp>
      <p:sp>
        <p:nvSpPr>
          <p:cNvPr id="62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720"/>
            <a:ext cx="12192000" cy="12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381" y="6512981"/>
            <a:ext cx="12192000" cy="12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 xmlns:a="http://schemas.openxmlformats.org/drawingml/2006/main"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1647" y="395289"/>
            <a:ext cx="10209277" cy="430887"/>
          </a:xfrm>
        </p:spPr>
        <p:txBody>
          <a:bodyPr xmlns:a="http://schemas.openxmlformats.org/drawingml/2006/main" lIns="108000"/>
          <a:lstStyle xmlns:a="http://schemas.openxmlformats.org/drawingml/2006/main"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pic>
        <p:nvPicPr>
          <p:cNvPr id="188" name="HUST Solid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cdce3d40f45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0" y="279400"/>
            <a:ext cx="952500" cy="594827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0c458bbf041e6" /><Relationship Type="http://schemas.openxmlformats.org/officeDocument/2006/relationships/slideLayout" Target="/ppt/slideLayouts/slideLayout1.xml" Id="Rdf57dd8bc5c14e15" /><Relationship Type="http://schemas.openxmlformats.org/officeDocument/2006/relationships/slideLayout" Target="/ppt/slideLayouts/slideLayout2.xml" Id="R2f1dc44ce9fc4d36" /><Relationship Type="http://schemas.openxmlformats.org/officeDocument/2006/relationships/slideLayout" Target="/ppt/slideLayouts/slideLayout3.xml" Id="Rcef50990dd0f40ad" /><Relationship Type="http://schemas.openxmlformats.org/officeDocument/2006/relationships/slideLayout" Target="/ppt/slideLayouts/slideLayout4.xml" Id="Rccbfa44051c94049" /><Relationship Type="http://schemas.openxmlformats.org/officeDocument/2006/relationships/slideLayout" Target="/ppt/slideLayouts/slideLayout5.xml" Id="R70ccec142aee4872" /><Relationship Type="http://schemas.openxmlformats.org/officeDocument/2006/relationships/slideLayout" Target="/ppt/slideLayouts/slideLayout6.xml" Id="R44d70d07a07c477f" /><Relationship Type="http://schemas.openxmlformats.org/officeDocument/2006/relationships/slideLayout" Target="/ppt/slideLayouts/slideLayout7.xml" Id="R31bec49747634bf0" /><Relationship Type="http://schemas.openxmlformats.org/officeDocument/2006/relationships/slideLayout" Target="/ppt/slideLayouts/slideLayout8.xml" Id="Rd826d4f2a5364245" /><Relationship Type="http://schemas.openxmlformats.org/officeDocument/2006/relationships/slideLayout" Target="/ppt/slideLayouts/slideLayout9.xml" Id="Rc868719e57284ac9" /><Relationship Type="http://schemas.openxmlformats.org/officeDocument/2006/relationships/slideLayout" Target="/ppt/slideLayouts/slideLayout10.xml" Id="Rc5b2f2482d114c41" /><Relationship Type="http://schemas.openxmlformats.org/officeDocument/2006/relationships/slideLayout" Target="/ppt/slideLayouts/slideLayout11.xml" Id="R02ca9b1231494c09" /><Relationship Type="http://schemas.openxmlformats.org/officeDocument/2006/relationships/slideLayout" Target="/ppt/slideLayouts/slideLayout12.xml" Id="R53c693e5082341de" /><Relationship Type="http://schemas.openxmlformats.org/officeDocument/2006/relationships/slideLayout" Target="/ppt/slideLayouts/slideLayout13.xml" Id="R29face1c757d4a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60FBDFE-C587-4B4C-A407-44438C67B59E}" type="datetimeFigureOut">
              <a:t>2026-07-22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AE70B2-8BF9-45C0-BB95-33D1B9D3A85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7dd8bc5c14e15"/>
    <p:sldLayoutId xmlns:r="http://schemas.openxmlformats.org/officeDocument/2006/relationships" id="2147483650" r:id="R2f1dc44ce9fc4d36"/>
    <p:sldLayoutId xmlns:r="http://schemas.openxmlformats.org/officeDocument/2006/relationships" id="2147483651" r:id="Rcef50990dd0f40ad"/>
    <p:sldLayoutId xmlns:r="http://schemas.openxmlformats.org/officeDocument/2006/relationships" id="2147483652" r:id="Rccbfa44051c94049"/>
    <p:sldLayoutId xmlns:r="http://schemas.openxmlformats.org/officeDocument/2006/relationships" id="2147483653" r:id="R70ccec142aee4872"/>
    <p:sldLayoutId xmlns:r="http://schemas.openxmlformats.org/officeDocument/2006/relationships" id="2147483654" r:id="R44d70d07a07c477f"/>
    <p:sldLayoutId xmlns:r="http://schemas.openxmlformats.org/officeDocument/2006/relationships" id="2147483655" r:id="R31bec49747634bf0"/>
    <p:sldLayoutId xmlns:r="http://schemas.openxmlformats.org/officeDocument/2006/relationships" id="2147483656" r:id="Rd826d4f2a5364245"/>
    <p:sldLayoutId xmlns:r="http://schemas.openxmlformats.org/officeDocument/2006/relationships" id="2147483657" r:id="Rc868719e57284ac9"/>
    <p:sldLayoutId xmlns:r="http://schemas.openxmlformats.org/officeDocument/2006/relationships" id="2147483658" r:id="Rc5b2f2482d114c41"/>
    <p:sldLayoutId xmlns:r="http://schemas.openxmlformats.org/officeDocument/2006/relationships" id="2147483659" r:id="R02ca9b1231494c09"/>
    <p:sldLayoutId xmlns:r="http://schemas.openxmlformats.org/officeDocument/2006/relationships" id="2147483660" r:id="R53c693e5082341de"/>
    <p:sldLayoutId xmlns:r="http://schemas.openxmlformats.org/officeDocument/2006/relationships" id="2147483661" r:id="R29face1c757d4a8c"/>
  </p:sldLayoutIdLst>
  <p:txStyles>
    <p:titleStyle>
      <a:lvl1pPr xmlns:a="http://schemas.openxmlformats.org/drawingml/2006/main"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bdad9afd0224b5f" /><Relationship Type="http://schemas.openxmlformats.org/officeDocument/2006/relationships/notesSlide" Target="/ppt/notesSlides/notesSlide1.xml" Id="R7d690695a5e647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f601907c23a430d" /><Relationship Type="http://schemas.openxmlformats.org/officeDocument/2006/relationships/notesSlide" Target="/ppt/notesSlides/notesSlide2.xml" Id="Rb7e96fec7a164c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60280d0adc34e5a" /><Relationship Type="http://schemas.openxmlformats.org/officeDocument/2006/relationships/notesSlide" Target="/ppt/notesSlides/notesSlide3.xml" Id="R74d22072bdc744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b7dcaaed99a4244" /><Relationship Type="http://schemas.openxmlformats.org/officeDocument/2006/relationships/notesSlide" Target="/ppt/notesSlides/notesSlide4.xml" Id="R1c0e9169533a4f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af468286b354b6f" /><Relationship Type="http://schemas.openxmlformats.org/officeDocument/2006/relationships/notesSlide" Target="/ppt/notesSlides/notesSlide5.xml" Id="R9b64c73ffb4d49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R1  单图浅3D需要四层能力共同成立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它不是单一模型问题，而是深度、表示、显露与部署的四层接力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L1  单目深度先验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Depth Anything V2 / Depth Pro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相对或度量深度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L2  场景表示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分层图像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前馈 3DGS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L3  显露区域处理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隐藏层 + RGB/Depth/Alpha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新视角一致性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L4  工程化与部署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剪枝·合并·量化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移动端渲染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四层串联：深度给出几何起点 → 表示承载场景 → 显露处理补隐藏区 → 部署决定能否落地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L1 主要局限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遮挡边界·细结构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反射·透明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本研究重点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L2 场景表示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L3 显露区域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冻结基线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 Benchmark v1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附近视角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现有证据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 可作为附近视角的可复现对照基线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比较 L2 表示，显式加强 L3 显露补全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结论：Benchmark 冻结 SHARP 附近视角基线；后续优先解决场景表示与显露区域。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R2  分层路线依次解决空洞、硬边界与表示冗余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分层图像从“补出隐藏背景”演进到“软边界、连续深度与局部自适应”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单层深度 Warp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空洞·拉伸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没有隐藏背景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3D Photography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LDI + 显式像素连接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局部 RGB-D 联合补全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SLIDE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连续 Alpha 软分层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深度感知补全 + Matting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分支一的边界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硬分层或固定少量层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依赖深度与抠图质量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相关分支：全局 MPI 的固定 RGBA 平面规整易渲染，但深度离散且平面冗余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MINE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可查询任意深度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引入 NeRF 连续表示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AdaMPI / TMPI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自适应放置深度平面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TMPI：按局部深度复杂度分块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TMPI 主配置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每块 4 层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不是理论最优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TMPI 的关键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置信度加权 K-means 选平面，局部用少量层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跨块细结构可能不一致；隐藏内容仍是预测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结论：分层表示不断提高局部自适应性，TMPI 用“分块 + 少量自适应平面”降低冗余。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R3  前馈3DGS将逐场景优化转变为一次网络前向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这些方法针对不同输入条件探索快速生成显式高斯，属于同一家族而非严格逐代替代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传统 3DGS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多图 + 位姿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每个场景单独优化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Splatter Image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单图对象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二维网络逐像素预测高斯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pixelSplat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双图场景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前馈生成显式高斯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AnySplat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非标定多图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联合处理相机与高斯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输入条件不同：Splatter Image、pixelSplat、AnySplat 与 SHARP 不应写成严格线性继承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Flash3D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单图场景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预训练单目深度先验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SHARP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单图普通场景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双层深度 + Base/Delta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关键边界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Splatter Image 不是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Base + Delta 的源头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基线选择依据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单张普通场景照片；官方代码与权重可复现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Benchmark 可评价性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显式 3DGS；附近视角实时渲染；可测质量、体积与性能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结论：SHARP 不是前馈3DGS的终点，而是当前与本课题“单图普通场景”最匹配的基线。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R4  TMPI 与 SHARP 代表两种场景表示哲学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TMPI 偏轻量、规整与硬件友好；SHARP 偏连续、灵活与高表达力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1  场景表示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TMPI：分块 RGBA 深度平面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SHARP：连续三维高斯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2  自适应方式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TMPI：局部选深度平面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SHARP：基础高斯 + 属性修正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3  显露区域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TMPI：隐藏 RGBA 层 + 补洞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SHARP：第二层隐式学习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4  工程特征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TMPI：规整图层管线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SHARP：灵活，但数量与体积大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主要风险：TMPI 可出现跨块细结构不一致；SHARP 有细结构错位、生成/内存成本，且没有显式 30° 补全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TMPI 论文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5.25 MB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350×630 · RTX 3080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体积口径不同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分辨率·字段·序列化格式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只说明当前工程输出存在差异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本地 SHARP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完整 PLY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约 63 MiB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CUDA 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官方实现依赖 CUDA/gsplat；3DGS 表示本身不只能用 CUDA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可能的混合路线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3DGS 高质量生成 + 分层显露与置信度 + 压缩或蒸馏部署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结论：当前目标是比较与融合，而不是在 TMPI 和 SHARP 之间排他二选一。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D7B7C08E-214A-C19B-4815-AC40EBC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610"/>
            <a:ext cx="1000125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R5  现有方法尚未闭合30°、显露一致性与移动端证据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F8417A6-DA9E-3B36-4511-4C54F65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" y="638810"/>
            <a:ext cx="102870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r>
              <a:rPr sz="1550">
                <a:solidFill>
                  <a:srgbClr val="667C97"/>
                </a:solidFill>
                <a:latin typeface="Microsoft YaHei"/>
                <a:ea typeface="Microsoft YaHei"/>
                <a:cs typeface="Microsoft YaHei"/>
              </a:rPr>
              <a:t>Benchmark 已回答 SHARP 能否作为附近视角基线，但三个关键问题仍未被证明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6E43945-B7C3-CCF2-85D9-3E7E660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532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99C1354-9987-C2FB-2F44-0021E4DE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91300"/>
            <a:ext cx="571500" cy="30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38100" tIns="12700" rIns="38100" bIns="127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667C9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FBD7EEC-CB83-4EE9-80A3-94A0C65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问题1：30° 下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DISTS &lt; 0.06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尚无统一角度证据</a:t>
            </a:r>
          </a:p>
        </p:txBody>
      </p:sp>
      <p:sp>
        <p:nvSpPr>
          <p:cNvPr id="34" name="Right Arrow 33">
            <a:extLst xmlns:a="http://schemas.openxmlformats.org/drawingml/2006/main">
              <a:ext uri="{FF2B5EF4-FFF2-40B4-BE49-F238E27FC236}">
                <a16:creationId xmlns:a16="http://schemas.microsoft.com/office/drawing/2014/main" id="{9EA3485D-E0D9-46D4-834A-1922886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9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F927AD77-0353-4FCD-8296-B62784C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问题2：显露内容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跨视角一致性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空洞·覆盖·拉伸·闪烁</a:t>
            </a:r>
          </a:p>
        </p:txBody>
      </p:sp>
      <p:sp>
        <p:nvSpPr>
          <p:cNvPr id="36" name="Right Arrow 35">
            <a:extLst xmlns:a="http://schemas.openxmlformats.org/drawingml/2006/main">
              <a:ext uri="{FF2B5EF4-FFF2-40B4-BE49-F238E27FC236}">
                <a16:creationId xmlns:a16="http://schemas.microsoft.com/office/drawing/2014/main" id="{EED56A85-8B12-4837-BF35-9B81BC6A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7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E618E4-85DC-475C-A0F9-20773BCE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问题3：目标移动端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生成 &lt; 5 s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峰值内存 &lt; 3 GB</a:t>
            </a:r>
          </a:p>
        </p:txBody>
      </p:sp>
      <p:sp>
        <p:nvSpPr>
          <p:cNvPr id="38" name="Right Arrow 37">
            <a:extLst xmlns:a="http://schemas.openxmlformats.org/drawingml/2006/main">
              <a:ext uri="{FF2B5EF4-FFF2-40B4-BE49-F238E27FC236}">
                <a16:creationId xmlns:a16="http://schemas.microsoft.com/office/drawing/2014/main" id="{1FE47403-84C5-4380-8B1B-9C6E9F4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1728216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2358F10B-CBF4-4B8A-AEE0-75F69D09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1261872"/>
            <a:ext cx="2487168" cy="1133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证据原则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论文公开结果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3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官方复现 ≠ 本地 Benchmark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1A2875F-7438-48D0-87B4-E38D423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099108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569A"/>
          </a:solidFill>
          <a:ln xmlns:a="http://schemas.openxmlformats.org/drawingml/2006/main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已回答：SHARP 可作为附近视角冻结基线 ｜ 未回答：统一 30° 角度协议、显露专项评价和目标手机实测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4643909E-0FA5-489E-AB52-D6AB4F6A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30° 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SHARP 论文按附近视角/基线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本地用 max_disparity 代理</a:t>
            </a:r>
          </a:p>
        </p:txBody>
      </p:sp>
      <p:sp>
        <p:nvSpPr>
          <p:cNvPr id="42" name="Right Arrow 41">
            <a:extLst xmlns:a="http://schemas.openxmlformats.org/drawingml/2006/main">
              <a:ext uri="{FF2B5EF4-FFF2-40B4-BE49-F238E27FC236}">
                <a16:creationId xmlns:a16="http://schemas.microsoft.com/office/drawing/2014/main" id="{5086CE4D-1B9E-44F0-958F-044822FF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FD4ECD6-AA24-436A-BFAB-95EEFB60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3310128"/>
            <a:ext cx="4736592" cy="12435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7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一致性边界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 有跨块风险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2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本地 SHARP 有 3/13 轻微细结构错位</a:t>
            </a:r>
          </a:p>
        </p:txBody>
      </p:sp>
      <p:sp>
        <p:nvSpPr>
          <p:cNvPr id="44" name="Right Arrow 43">
            <a:extLst xmlns:a="http://schemas.openxmlformats.org/drawingml/2006/main">
              <a:ext uri="{FF2B5EF4-FFF2-40B4-BE49-F238E27FC236}">
                <a16:creationId xmlns:a16="http://schemas.microsoft.com/office/drawing/2014/main" id="{F560176C-50EC-4CE1-81D9-D8BCC342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813048"/>
            <a:ext cx="384048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C7E2"/>
          </a:solidFill>
          <a:ln xmlns:a="http://schemas.openxmlformats.org/drawingml/2006/main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D3F232F7-04DE-4855-8B8D-519BF0C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456432"/>
            <a:ext cx="2212848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部署边界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当前 SHARP 尚未达目标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TMPI/Mobile-GS 不能代替目标手机实测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E41AE898-63CA-4E91-AEA9-2FF8EE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0D569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下一轮 A/B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固定同一基础高斯，仅增加显露补全与补充高斯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77B061C4-DB31-4AA8-AE0D-2D0BDFDF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919472"/>
            <a:ext cx="5340096" cy="9509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1905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600" b="1">
                <a:solidFill>
                  <a:srgbClr val="22C7E2"/>
                </a:solidFill>
                <a:latin typeface="Microsoft YaHei"/>
                <a:ea typeface="Microsoft YaHei"/>
                <a:cs typeface="Microsoft YaHei"/>
              </a:rPr>
              <a:t>统一验证</a:t>
            </a:r>
          </a:p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5° / 15° / 30°；隐藏内容只追求视觉合理与跨视角一致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9A3B43C1-D56D-4556-978B-1D48863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89320"/>
            <a:ext cx="108813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5240">
            <a:solidFill>
              <a:srgbClr val="22C7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3152" rIns="73152" bIns="36576" anchor="ctr"/>
          <a:lstStyle xmlns:a="http://schemas.openxmlformats.org/drawingml/2006/main"/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280" b="1">
                <a:solidFill>
                  <a:srgbClr val="20324A"/>
                </a:solidFill>
                <a:latin typeface="Microsoft YaHei"/>
                <a:ea typeface="Microsoft YaHei"/>
                <a:cs typeface="Microsoft YaHei"/>
              </a:rPr>
              <a:t>衔接：Benchmark 回答“附近视角基线是否可靠”；下一轮回答“加入显露补全后能否扩展至 5°/15°/30°”。</a:t>
            </a:r>
          </a:p>
        </p:txBody>
      </p:sp>
    </p:spTree>
    <p:extLst>
      <p:ext uri="{BB962C8B-B14F-4D97-AF65-F5344CB8AC3E}">
        <p14:creationId xmlns:p14="http://schemas.microsoft.com/office/powerpoint/2010/main" val="2392966058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2026-08-05T14:25:10.0520000Z</dcterms:created>
  <dcterms:modified xsi:type="dcterms:W3CDTF">2026-08-05T14:25:10.0520000Z</dcterms:modified>
</coreProperties>
</file>