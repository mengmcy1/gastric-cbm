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380" y="68"/>
      </p:cViewPr>
      <p:guideLst>
        <p:guide orient="horz" pos="2143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2026-07-07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 anchorCtr="0"/>
          <a:lstStyle>
            <a:lvl1pPr algn="ctr">
              <a:defRPr sz="18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</a:t>
            </a:r>
          </a:p>
        </p:txBody>
      </p:sp>
      <p:sp>
        <p:nvSpPr>
          <p:cNvPr id="76" name="标题 75"/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defRPr sz="44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编辑标题样式</a:t>
            </a:r>
          </a:p>
        </p:txBody>
      </p:sp>
      <p:sp>
        <p:nvSpPr>
          <p:cNvPr id="79" name="文本占位符 78"/>
          <p:cNvSpPr>
            <a:spLocks noGrp="1"/>
          </p:cNvSpPr>
          <p:nvPr>
            <p:ph type="body" sz="quarter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defRPr sz="20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电子信息与通信学院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8" name="直接连接符 23"/>
          <p:cNvCxnSpPr>
            <a:stCxn id="14" idx="2"/>
            <a:endCxn id="15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明德厚学 求是创新</a:t>
            </a:r>
          </a:p>
        </p:txBody>
      </p:sp>
      <p:sp>
        <p:nvSpPr>
          <p:cNvPr id="25" name="文本占位符 78"/>
          <p:cNvSpPr>
            <a:spLocks noGrp="1"/>
          </p:cNvSpPr>
          <p:nvPr>
            <p:ph type="body" sz="quarter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编辑副标题</a:t>
            </a:r>
          </a:p>
        </p:txBody>
      </p:sp>
      <p:sp>
        <p:nvSpPr>
          <p:cNvPr id="26" name="文本占位符 78"/>
          <p:cNvSpPr>
            <a:spLocks noGrp="1"/>
          </p:cNvSpPr>
          <p:nvPr>
            <p:ph type="body" sz="quarter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en-US" altLang="zh-CN" dirty="0"/>
              <a:t>xxx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White markers indicate position of  Drawing Guides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7.40 cm</a:t>
            </a:r>
          </a:p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2.91 Inches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6.00 cm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2.36 Inches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8.00 cm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3.15 Inches</a:t>
            </a: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11.70 cm</a:t>
            </a: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0.50 cm 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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22"/>
          <p:cNvSpPr txBox="1">
            <a:spLocks noChangeArrowheads="1"/>
          </p:cNvSpPr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0.50 cm</a:t>
            </a: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3"/>
          <p:cNvSpPr txBox="1">
            <a:spLocks noChangeArrowheads="1"/>
          </p:cNvSpPr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11.70 cm 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/>
          <p:nvPr/>
        </p:nvSpPr>
        <p:spPr bwMode="gray">
          <a:xfrm>
            <a:off x="-2055284" y="0"/>
            <a:ext cx="1871133" cy="692497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To view  drawing guides:</a:t>
            </a:r>
          </a:p>
          <a:p>
            <a:pPr>
              <a:defRPr/>
            </a:pPr>
            <a:endParaRPr lang="en-US" sz="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Right-click on slide and select ’Grid and Guides...’</a:t>
            </a: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Check ’Display drawing guides on screen’</a:t>
            </a: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Select ’OK’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5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20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79705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8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358775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539750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4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114550" indent="-285750">
              <a:buClr>
                <a:schemeClr val="tx2"/>
              </a:buClr>
              <a:buFont typeface="Wingdings" panose="05000000000000000000" pitchFamily="2" charset="2"/>
              <a:buChar char="n"/>
              <a:defRPr lang="zh-CN" altLang="en-US" sz="1400" b="0" i="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单击此处编辑母版文本样式</a:t>
            </a:r>
          </a:p>
          <a:p>
            <a:pPr marL="179705" marR="0" lvl="1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第二级</a:t>
            </a:r>
          </a:p>
          <a:p>
            <a:pPr marL="358775" marR="0" lvl="2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第三级</a:t>
            </a:r>
          </a:p>
          <a:p>
            <a:pPr marL="539750" marR="0" lvl="3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第四级</a:t>
            </a:r>
            <a:endParaRPr kumimoji="1" lang="zh-CN" altLang="en-US" dirty="0"/>
          </a:p>
        </p:txBody>
      </p:sp>
      <p:sp>
        <p:nvSpPr>
          <p:cNvPr id="42" name="矩形 41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6" name="组合 45"/>
          <p:cNvGrpSpPr>
            <a:grpSpLocks noChangeAspect="1"/>
          </p:cNvGrpSpPr>
          <p:nvPr userDrawn="1"/>
        </p:nvGrpSpPr>
        <p:grpSpPr>
          <a:xfrm>
            <a:off x="11036334" y="371250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47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9" name="日期占位符 135"/>
          <p:cNvSpPr txBox="1"/>
          <p:nvPr userDrawn="1"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华中科技大学电子信息与通信学院</a:t>
            </a:r>
          </a:p>
        </p:txBody>
      </p:sp>
      <p:sp>
        <p:nvSpPr>
          <p:cNvPr id="60" name="页脚占位符 136"/>
          <p:cNvSpPr txBox="1"/>
          <p:nvPr userDrawn="1"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明德厚学 求是创新</a:t>
            </a:r>
          </a:p>
        </p:txBody>
      </p:sp>
      <p:sp>
        <p:nvSpPr>
          <p:cNvPr id="61" name="Slide Number Placeholder 5"/>
          <p:cNvSpPr txBox="1"/>
          <p:nvPr userDrawn="1"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3DA0BB7-265A-403C-9275-D587AB510EDC}" type="slidenum">
              <a:rPr lang="zh-TW" altLang="en-US" b="0" smtClean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TW" altLang="en-US" b="0" dirty="0">
              <a:solidFill>
                <a:srgbClr val="005BAD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连接符 23"/>
          <p:cNvCxnSpPr/>
          <p:nvPr userDrawn="1"/>
        </p:nvCxnSpPr>
        <p:spPr>
          <a:xfrm>
            <a:off x="0" y="908720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80000"/>
              </a:srgbClr>
            </a:solidFill>
            <a:prstDash val="solid"/>
            <a:miter lim="800000"/>
          </a:ln>
          <a:effectLst/>
        </p:spPr>
      </p:cxnSp>
      <p:cxnSp>
        <p:nvCxnSpPr>
          <p:cNvPr id="63" name="直接连接符 23"/>
          <p:cNvCxnSpPr/>
          <p:nvPr userDrawn="1"/>
        </p:nvCxnSpPr>
        <p:spPr>
          <a:xfrm>
            <a:off x="-2381" y="6512981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75000"/>
              </a:srgbClr>
            </a:solidFill>
            <a:prstDash val="solid"/>
            <a:miter lim="800000"/>
          </a:ln>
          <a:effectLst/>
        </p:spPr>
      </p:cxn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defRPr sz="28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1.xml"/><Relationship Id="rId16" Type="http://schemas.openxmlformats.org/officeDocument/2006/relationships/tags" Target="../tags/tag2.xml"/><Relationship Id="rId17" Type="http://schemas.openxmlformats.org/officeDocument/2006/relationships/tags" Target="../tags/tag3.xml"/><Relationship Id="rId18" Type="http://schemas.openxmlformats.org/officeDocument/2006/relationships/tags" Target="../tags/tag4.xml"/><Relationship Id="rId19" Type="http://schemas.openxmlformats.org/officeDocument/2006/relationships/tags" Target="../tags/tag5.xml"/><Relationship Id="rId20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515600" cy="10972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5F8FC"/>
                </a:solidFill>
                <a:latin typeface="Microsoft YaHei"/>
              </a:rPr>
              <a:t>单张 2D 图像转浅 3D 表达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9875520" cy="5486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32D2F0"/>
                </a:solidFill>
                <a:latin typeface="Microsoft YaHei"/>
              </a:rPr>
              <a:t>NeRF · 3D Gaussian Splatting · 3D Photography ·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0584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AB8CC"/>
                </a:solidFill>
                <a:latin typeface="Microsoft YaHei"/>
              </a:rPr>
              <a:t>从 NeRF / 3DGS 基础，到单图 3D Photography 与移动端浅 3D 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3657600" cy="5943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Microsoft YaHei"/>
              </a:rPr>
              <a:t>汇报人：郭浩杰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Microsoft YaHei"/>
              </a:rPr>
              <a:t>时间：2026.7.10</a:t>
            </a:r>
          </a:p>
        </p:txBody>
      </p:sp>
      <p:pic>
        <p:nvPicPr>
          <p:cNvPr id="11" name="Picture 10" descr="photo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051560"/>
            <a:ext cx="274320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0" y="5577840"/>
            <a:ext cx="274320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论文原图：3D Photography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一、研究问题与任务定义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从单张 RGB 图像生成可交互的浅 3D 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一张普通 RGB 照片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没有多视图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没有相机位姿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没有真实深度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手机轻微左右晃动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或手指滑动屏幕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画面产生运动视差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不追求完整 360° 重建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生成阶段可以较复杂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交互阶段要轻量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移动端渲染不依赖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每帧 GPU 网络推理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二、核心概念与任务定义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统一研究对象与技术术语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62456"/>
            <a:ext cx="3145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新视角合成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14553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已知若干照片，生成一个原来没有拍到的视角。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通过相机位移预测目标视角图像。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运动视差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14553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相机移动时，近处物体在画面中移动得快，远处物体移动得慢。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这是浅 3D 产生立体感的主要来源。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62456"/>
            <a:ext cx="3145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显露区域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14553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相机移动后，原来被前景挡住的背景露出来。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原图里没有这些像素，所以必须补颜色，也要补几何。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三、整体技术链路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本课题采用模块化、可解释的工程架构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920240" cy="2103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48256"/>
            <a:ext cx="159105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1  普通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423160"/>
            <a:ext cx="1591056" cy="14813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一张照片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651760"/>
            <a:ext cx="3200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32D2F0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920240"/>
            <a:ext cx="1920240" cy="2103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048256"/>
            <a:ext cx="159105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2  深度估计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423160"/>
            <a:ext cx="1591056" cy="14813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每个像素离相机多远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51760"/>
            <a:ext cx="3200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32D2F0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920240"/>
            <a:ext cx="1920240" cy="2103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2048256"/>
            <a:ext cx="159105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3  分层表达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23160"/>
            <a:ext cx="1591056" cy="14813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LDI / MPI / 3DGS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651760"/>
            <a:ext cx="3200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32D2F0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920240"/>
            <a:ext cx="1920240" cy="2103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048256"/>
            <a:ext cx="159105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4  遮挡补全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2423160"/>
            <a:ext cx="1591056" cy="14813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补看不见的背景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651760"/>
            <a:ext cx="3200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32D2F0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1920240"/>
            <a:ext cx="1920240" cy="2103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1512" y="2048256"/>
            <a:ext cx="159105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5  轻量渲染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1512" y="2423160"/>
            <a:ext cx="1591056" cy="14813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移动端交互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5F8FC"/>
                </a:solidFill>
                <a:latin typeface="Microsoft YaHei"/>
              </a:rPr>
              <a:t>关键判断：把耗时的生成放到前处理阶段，把用户交互放到显式表达的渲染阶段。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四、NeRF：用网络隐式表示整个场景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Neural Radiance Fields，神经辐射场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nerf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1206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23560"/>
            <a:ext cx="512064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原论文首页/方法概览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303520" cy="40690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362456"/>
            <a:ext cx="49743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方法概述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737360"/>
            <a:ext cx="4974336" cy="34472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NeRF 用一个多层感知机 MLP 以网络参数隐式编码三维场景。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输入：3D 位置 + 观察方向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输出：颜色 RGB + 体积密度 σ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沿相机光线采样很多点，再把这些点的颜色和密度累积成像素。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10528"/>
            <a:ext cx="3749039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来源：NeRF，ECCV 2020，Fig.2 / Eq.(1)，p.5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NeRF 的三个关键技术点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关键设计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290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① MLP 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45920"/>
            <a:ext cx="30998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不用巨大的体素网格，而是用网络参数存储连续场景。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优点：表达连续、存储紧凑。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代价：每个采样点都要查询网络。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290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② 位置编码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45920"/>
            <a:ext cx="30998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把坐标展开为不同频率的 sin/cos。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相当于给网络提供高频基底，帮助它学习细线、纹理和边缘。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4290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③ 分层采样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645920"/>
            <a:ext cx="30998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粗网络先定位物体，细网络在高密度区域多采样。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减少把算力浪费在空气中的问题。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NeRF 的体积渲染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体积密度用于描述空间占据程度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nerf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72000"/>
            <a:ext cx="548640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NeRF 原论文 Fig.2，p.5</a:t>
            </a:r>
          </a:p>
        </p:txBody>
      </p:sp>
      <p:pic>
        <p:nvPicPr>
          <p:cNvPr id="9" name="Picture 8" descr="nerf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17720"/>
            <a:ext cx="521208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806440"/>
            <a:ext cx="521208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NeRF 原论文 Eq.(1)，p.5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4937760" cy="3977639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453895"/>
            <a:ext cx="460857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体积渲染与 Alpha 混合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828800"/>
            <a:ext cx="4608576" cy="335584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沿相机光线对采样点进行颜色与透射率累积；前方高密度区域会降低后续采样点的可见性。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该渲染形式与 3DGS 的 Alpha 混合具有一致的颜色累积结构。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NeRF 的局限：质量高，但不适合本课题直接部署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它建立了新视角合成的基本框架，却不是移动端工程答案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42062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6E78"/>
                </a:solidFill>
                <a:latin typeface="Microsoft YaHei"/>
              </a:rPr>
              <a:t>输入要求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099816" cy="358444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通常需要几十张照片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每张图还要有相机位姿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位姿常由 COLMAP 估计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42062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生成方式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099816" cy="358444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每个场景单独优化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训练时间长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换一张新图不能直接推理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42062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渲染瓶颈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099816" cy="358444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每条光线采样很多点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每个点都要过 MLP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5F8FC"/>
                </a:solidFill>
                <a:latin typeface="Microsoft YaHei"/>
              </a:rPr>
              <a:t>交互速度受限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五、3D Gaussian Splatting：用显式高斯表示场景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3DGS：Three-Dimensional Gaussian Splatting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gs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07492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4999"/>
            <a:ext cx="507492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原论文：高斯场景表示与渲染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5303520" cy="42062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1316736"/>
            <a:ext cx="49743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方法概述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1" y="1691640"/>
            <a:ext cx="4974336" cy="358444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场景由大量具有位置、尺度、旋转、不透明度和球谐颜色参数的三维高斯基元组成。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渲染阶段将高斯基元投影到屏幕空间，并进行深度排序与 Alpha 混合。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10528"/>
            <a:ext cx="3749039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来源：3D Gaussian Splatting，SIGGRAPH 2023，Fig.1 / Eq.(4–6)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3DGS 的实时渲染机制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从光线采样转向屏幕空间光栅化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074920" cy="411480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53895"/>
            <a:ext cx="47457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NeRF：光线步进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28800"/>
            <a:ext cx="4745736" cy="34930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每根光线采样约 192 个点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每个点查询 MLP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串行累积颜色和密度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优点：连续表达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缺点：渲染慢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743200"/>
            <a:ext cx="64008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800" b="1">
                <a:solidFill>
                  <a:srgbClr val="32D2F0"/>
                </a:solidFill>
                <a:latin typeface="Microsoft YaHei"/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892040" cy="411480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453895"/>
            <a:ext cx="4562855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3DGS：屏幕空间光栅化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828800"/>
            <a:ext cx="4562855" cy="34930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高斯投影到屏幕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按深度排序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GPU 并行 Alpha 混合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优点：实时交互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缺点：显式存储更大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3DGS 的三个关键技术点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表示、增密、光栅化三件事共同决定效果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29000" cy="45262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① 高斯椭球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45920"/>
            <a:ext cx="3099816" cy="39044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协方差采用缩放与旋转参数化，保证优化过程中的正定性，并通过投影得到二维椭圆斑。</a:t>
            </a:r>
          </a:p>
        </p:txBody>
      </p:sp>
      <p:pic>
        <p:nvPicPr>
          <p:cNvPr id="10" name="Picture 9" descr="g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434840"/>
            <a:ext cx="301752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5349240"/>
            <a:ext cx="301752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3DGS 原论文 Eq.(4–6)，p.4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429000" cy="45262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② 自适应密度控制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645920"/>
            <a:ext cx="3099816" cy="39044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太小但梯度大：克隆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太大且梯度大：分裂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贡献很低：删除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训练中动态增删高斯，逐步补足细节。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429000" cy="45262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③ 瓦片光栅化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645920"/>
            <a:ext cx="3099816" cy="39044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把屏幕切成小瓦片。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每个瓦片内部独立排序和混合，利用 GPU 并行，提高渲染效率。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NeRF 与 3DGS：共同基础与关键取舍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4290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共同点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45920"/>
            <a:ext cx="30998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都解决新视角合成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都需要多视图约束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都需要相机位姿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都要处理颜色与密度/透明度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34290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NeRF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645920"/>
            <a:ext cx="30998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隐式 MLP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连续表达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存储相对紧凑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训练和渲染慢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43000"/>
            <a:ext cx="34290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3DGS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645920"/>
            <a:ext cx="30998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显式高斯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容易 GPU 并行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渲染实时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内存和跨视角稳定性压力更大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5F8FC"/>
                </a:solidFill>
                <a:latin typeface="Microsoft YaHei"/>
              </a:rPr>
              <a:t>结论：它们解决了“多图 → 新视角”，但还没有解决“单图 → 浅 3D”。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六、3D Photography：单图 3D 照片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输入是一张 RGB-D 图像，目标是小幅晃动时产生立体感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photo_method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4864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69280"/>
            <a:ext cx="548640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原论文：3D Photography 方法图/显露区域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4846320" cy="41605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362456"/>
            <a:ext cx="45171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核心问题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737360"/>
            <a:ext cx="4517136" cy="35387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如果相机向右移动，前景左侧原来被挡住的背景会露出来。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这些像素在原图中根本不存在，因此不能只做深度重投影，还要进行遮挡区域补全。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10528"/>
            <a:ext cx="3749039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来源：3D Photography，CVPR 2020，Fig.1–5，pp.1–3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显露区域与遮挡补全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直接重投影的典型伪影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1673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6E78"/>
                </a:solidFill>
                <a:latin typeface="Microsoft YaHei"/>
              </a:rPr>
              <a:t>直接重投影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9164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有深度就能把像素投到新位置。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但被挡住的区域没有像素可投，结果出现空洞。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1673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简单拉伸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9164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把周围像素拉过去填洞。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短距离看似有效，但会产生纹理拉伸、边缘撕裂和纸片感。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1673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深度感知补全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69164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只补背景侧，并同时预测颜色和深度。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让补出来的内容既像背景，也能参与正确的几何渲染。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3D Photography 的方法主线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模块化处理流程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53895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RGB-D 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325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453895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828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深度预处理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325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1" y="1453895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1" y="1828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构建 LDI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25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1453895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1828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检测深度边界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770632"/>
            <a:ext cx="27432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32D2F0"/>
                </a:solidFill>
                <a:latin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739896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114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断开前景/背景连接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39" y="3611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739896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114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补颜色 + 补深度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59" y="3611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1" y="3739896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1" y="4114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转成 textured mesh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611880"/>
            <a:ext cx="2331720" cy="14173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3739896"/>
            <a:ext cx="20025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4114800"/>
            <a:ext cx="2002536" cy="7955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Microsoft YaHei"/>
              </a:rPr>
              <a:t>快速渲染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5F8FC"/>
                </a:solidFill>
                <a:latin typeface="Microsoft YaHei"/>
              </a:rPr>
              <a:t>重要启发：生成阶段可以复杂，但交互阶段只需渲染已生成的显式表达。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LDI：分层深度图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Layered Depth Image 允许同一个图像位置保存多层颜色和深度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photo_method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30352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23560"/>
            <a:ext cx="530352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原论文中的 LDI / 分层示意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029200" cy="411480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7000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普通 RGB-D vs LDI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700016" cy="34930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普通 RGB-D：一个像素只有一个颜色和一个深度。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LDI：同一个位置可以存前景、背景等多个样本，并保留像素之间的连接关系。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这样能在遮挡边界附近保存“被挡住的背景线索”。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深度预处理与边界检测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浅 3D 最容易出错的位置不是平坦区域，而是前景—背景边界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1673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转换到视差空间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9164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视差约等于 1 / 深度。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近处物体的视差变化更敏感，更符合小幅相机移动时的视觉变化。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1673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锐化边界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9164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使用双边中值滤波，降低噪声，同时尽量保留深度突变。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避免前景与背景被平滑成斜坡。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429000" cy="4389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1673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检测不连续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691640"/>
            <a:ext cx="3099816" cy="3767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根据相邻像素视差差异检测边界，再用连通域分析连接成稳定的深度边。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颜色和深度必须一起补全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仅补全 RGB 无法保证几何一致性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photo_method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0292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69280"/>
            <a:ext cx="502920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原论文：上下文感知补全结果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188720"/>
            <a:ext cx="5257800" cy="41605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316736"/>
            <a:ext cx="49286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结构引导的补全顺序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691640"/>
            <a:ext cx="4928616" cy="35387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① 先补 depth edge：先画出可能的结构边界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② 再补 color：生成背景纹理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③ 再补 depth：生成背景几何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④ 迭代处理新的深度边界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共同的结构线索让 RGB 与 depth 更一致。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3D Photography 对本课题的直接启发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四个模块可以直接转成项目技术路线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5146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71016"/>
            <a:ext cx="21854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深度估计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45920"/>
            <a:ext cx="21854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普通 RGB → 相对深度/视差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候选：Depth Anything V2、Depth 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43000"/>
            <a:ext cx="25146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271016"/>
            <a:ext cx="21854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分层表示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645920"/>
            <a:ext cx="21854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LDI、简化 Mesh、TMPI、轻量 3DGS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按移动端成本取舍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25146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271016"/>
            <a:ext cx="21854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遮挡补全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645920"/>
            <a:ext cx="21854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围绕深度不连续边界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同时补颜色和深度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143000"/>
            <a:ext cx="251460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1271016"/>
            <a:ext cx="21854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417DFF"/>
                </a:solidFill>
                <a:latin typeface="Microsoft YaHei"/>
              </a:rPr>
              <a:t>实时渲染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1645920"/>
            <a:ext cx="218541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生成一次，交互时只改变相机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不重复运行大型网络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七、SLIDE：软分层与深度感知补全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细线、头发、树枝和半透明边缘不是简单的前景/背景二值切割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slid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2120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69280"/>
            <a:ext cx="521208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原论文：SLIDE 方法/软分层示意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4983480" cy="40690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465429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细结构建模问题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37360"/>
            <a:ext cx="4654296" cy="34472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一个头发像素可能同时包含头发颜色和背景颜色；桥索、栏杆、树枝也可能只有几个像素宽。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硬分层容易造成断裂、缺失、撕裂和纸片感。SLIDE 用连续的软可见性表达边界。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10528"/>
            <a:ext cx="3749039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来源：SLIDE，CVPR 2021，Fig.1，p.1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Soft Layering：用连续可见性替代硬切割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软可见性定义：连续权重控制前景与背景合成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slid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69280"/>
            <a:ext cx="530352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原论文中的 soft visibility / layering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4983480" cy="40690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65429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两个关键量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654296" cy="34472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前景软可见性 A：前景应该保留多少。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软显露区域 S：背景层哪些位置需要补全。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A 管前景如何显示，S 管背景哪里需要补，二者共同避免黑洞和拉伸三角形。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SLIDE 的轻量流程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RGB → disparity → soft layering → RGBD inpainting → layered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41605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输入与深度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099816" cy="35387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普通 RGB 图像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MiDaS v2 预测 normalized disparity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轻微平滑 + max-pool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保留细结构的近远关系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41605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两层表达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099816" cy="35387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前景层：RGB + disparity + soft visibility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背景层：补全 RGB + 补全 disparity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比复杂 LDI 更简单、更快。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41605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6245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分层渲染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099816" cy="353872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前景和背景分别反投影为 mesh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新视角时只做投影和 Alpha 合成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生成和交互彻底分离。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3D Photography 与 SLIDE：互补而不是互相替代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07492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71016"/>
            <a:ext cx="47457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3D Photography / LDI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45920"/>
            <a:ext cx="474573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更强调遮挡关系和局部结构补全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表达层次更细，可处理多层深度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流程较复杂，硬分层对细结构不够友好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43000"/>
            <a:ext cx="507492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271016"/>
            <a:ext cx="47457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SLIDE / Soft two-layer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645920"/>
            <a:ext cx="474573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更强调细结构边缘和软可见性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一次前向，速度更快，适合移动端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两层表示对复杂多层遮挡能力有限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八、从当前论文自然过渡到后续路线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后续论文回答的是：如何更快、更轻、更通用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3429000" cy="45262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25295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TMPI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00200"/>
            <a:ext cx="3099816" cy="39044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Tiled Multiplane Images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把规则 MPI 切成局部 tile，每块只保留少量自适应深度平面。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目标：减少 MPI 冗余，更适合实际 3D photography。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29000" cy="45262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25295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Depth Anything V2 / Depth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00200"/>
            <a:ext cx="3099816" cy="39044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单图深度是整个系统的几何入口。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Depth Anything V2：通用泛化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Depth Pro：高分辨率、锐利边界、度量深度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429000" cy="452628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225295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SHARP / 前馈 3DGS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600200"/>
            <a:ext cx="3099816" cy="390448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单次前馈预测 3D Gaussian 参数。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更接近“输入一张图，快速生成表达”的目标，但仍要面对不可见区域和复杂材质。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单图深度估计：几何先验与适用边界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深度图提供相对前后关系，无法单独恢复不可见区域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pic>
        <p:nvPicPr>
          <p:cNvPr id="7" name="Picture 6" descr="depth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30352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4999"/>
            <a:ext cx="5303520" cy="21945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AAB8CC"/>
                </a:solidFill>
                <a:latin typeface="Microsoft YaHei"/>
              </a:rPr>
              <a:t>原论文：Depth Anything 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4983480" cy="411480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65429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本课题中的使用方式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654296" cy="34930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先用单目深度模型得到近远层次。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再进行边界增强、分层和遮挡补全。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重点检查：桥索、栏杆、头发、透明/反光物体、无纹理墙面。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不能只看整体深度误差，要看新视角下是否撕裂和拉伸。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九、面向移动端的推荐方案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先做可解释的浅 3D 原型，再逐步替换表达形式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1828800" cy="960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179576"/>
            <a:ext cx="14996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阶段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1499616" cy="338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Microsoft YaHei"/>
              </a:rPr>
              <a:t>RGB → 深度 → 点云/简化 Mesh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143000"/>
            <a:ext cx="38404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5F8FC"/>
                </a:solidFill>
                <a:latin typeface="Microsoft YaHei"/>
              </a:rPr>
              <a:t>RGB → 深度 → 点云/简化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143000"/>
            <a:ext cx="4114800" cy="4114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AB8CC"/>
                </a:solidFill>
                <a:latin typeface="Microsoft YaHei"/>
              </a:rPr>
              <a:t>验证运动视差是否成立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828800" cy="960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14016"/>
            <a:ext cx="14996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阶段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788920"/>
            <a:ext cx="1499616" cy="338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Microsoft YaHei"/>
              </a:rPr>
              <a:t>边界处理 + 背景补全 + 两层 Mesh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77440"/>
            <a:ext cx="38404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5F8FC"/>
                </a:solidFill>
                <a:latin typeface="Microsoft YaHei"/>
              </a:rPr>
              <a:t>边界处理 + 背景补全 + 两层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377440"/>
            <a:ext cx="4114800" cy="4114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AB8CC"/>
                </a:solidFill>
                <a:latin typeface="Microsoft YaHei"/>
              </a:rPr>
              <a:t>解决空洞、拉伸和细结构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1828800" cy="960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48456"/>
            <a:ext cx="14996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23360"/>
            <a:ext cx="1499616" cy="338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Microsoft YaHei"/>
              </a:rPr>
              <a:t>LDI / TMPI / 轻量 3DGS 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611880"/>
            <a:ext cx="38404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5F8FC"/>
                </a:solidFill>
                <a:latin typeface="Microsoft YaHei"/>
              </a:rPr>
              <a:t>LDI / TMPI / 轻量 3DGS 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611880"/>
            <a:ext cx="4114800" cy="4114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AB8CC"/>
                </a:solidFill>
                <a:latin typeface="Microsoft YaHei"/>
              </a:rPr>
              <a:t>比较质量、内存和渲染速度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1828800" cy="96012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882896"/>
            <a:ext cx="14996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阶段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257800"/>
            <a:ext cx="1499616" cy="33832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Microsoft YaHei"/>
              </a:rPr>
              <a:t>Android / OpenGL ES / Vulkan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846320"/>
            <a:ext cx="38404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5F8FC"/>
                </a:solidFill>
                <a:latin typeface="Microsoft YaHei"/>
              </a:rPr>
              <a:t>Android / OpenGL ES / Vulkan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846320"/>
            <a:ext cx="4114800" cy="4114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AB8CC"/>
                </a:solidFill>
                <a:latin typeface="Microsoft YaHei"/>
              </a:rPr>
              <a:t>把生成与交互渲染拆开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浅 3D 的评价指标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评价应兼顾图像质量、边界稳定性与交互性能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29000" cy="44348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画面质量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45920"/>
            <a:ext cx="3099816" cy="381304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PSNR / SSIM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LPIPS 感知距离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纹理是否自然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是否过度平滑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29000" cy="44348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AE1AF"/>
                </a:solidFill>
                <a:latin typeface="Microsoft YaHei"/>
              </a:rPr>
              <a:t>几何稳定性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45920"/>
            <a:ext cx="3099816" cy="381304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前景背景边界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显露区域是否自然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是否产生重影/撕裂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细线是否断裂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429000" cy="443484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271016"/>
            <a:ext cx="309981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工程指标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645920"/>
            <a:ext cx="3099816" cy="381304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单图生成时间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移动端渲染 FPS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峰值内存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5F8FC"/>
                </a:solidFill>
                <a:latin typeface="Microsoft YaHei"/>
              </a:rPr>
              <a:t>模型是否需要 GPU 网络推理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十、本阶段的结论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从论文学习转向可验证的工程路线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07492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71016"/>
            <a:ext cx="47457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2D2F0"/>
                </a:solidFill>
                <a:latin typeface="Microsoft YaHei"/>
              </a:rPr>
              <a:t>已经建立的认识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45920"/>
            <a:ext cx="474573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NeRF 让我理解连续场和体积渲染。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3DGS 让我理解显式高斯和实时光栅化。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3D Photography 让我看到单图浅 3D 的核心是显露区域补全。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SLIDE 让我认识到细结构需要软可见性。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5074920" cy="4480560"/>
          </a:xfrm>
          <a:prstGeom prst="roundRect">
            <a:avLst/>
          </a:prstGeom>
          <a:solidFill>
            <a:srgbClr val="111C32"/>
          </a:solidFill>
          <a:ln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271016"/>
            <a:ext cx="4745736" cy="29260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AB4B"/>
                </a:solidFill>
                <a:latin typeface="Microsoft YaHei"/>
              </a:rPr>
              <a:t>下一步要验证的问题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645920"/>
            <a:ext cx="4745736" cy="3858768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单目深度在本课题图片上的边界质量如何？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LDI、两层 Mesh、TMPI、轻量 3DGS 哪个最适合移动端？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颜色补全和深度补全如何保持一致？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复杂材质和大视角变化的失败边界在哪里？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789920" cy="43891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8539B"/>
                </a:solidFill>
                <a:latin typeface="Microsoft YaHei"/>
              </a:rPr>
              <a:t>结束：单图浅 3D 表达的实现路径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607040" cy="2560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07396"/>
                </a:solidFill>
                <a:latin typeface="Microsoft YaHei"/>
              </a:rPr>
              <a:t>目标是构建稳定、可解释、可部署的浅 3D 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AAB8CC"/>
                </a:solidFill>
                <a:latin typeface="Microsoft YaHei"/>
              </a:rPr>
              <a:t>单张 2D 图像转浅 3D 表达 · 学习进度汇报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34440"/>
            <a:ext cx="4206240" cy="42976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普通照片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↓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可靠的深度层次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↓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合理的遮挡补全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↓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轻量显式表达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↓</a:t>
            </a:r>
          </a:p>
          <a:p>
            <a:pPr algn="ctr">
              <a:spcAft>
                <a:spcPts val="500"/>
              </a:spcAft>
            </a:pPr>
            <a:r>
              <a:rPr sz="2500" b="1">
                <a:solidFill>
                  <a:srgbClr val="08539B"/>
                </a:solidFill>
                <a:latin typeface="Microsoft YaHei"/>
              </a:rPr>
              <a:t>移动端运动视差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292608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>
                <a:solidFill>
                  <a:srgbClr val="32D2F0"/>
                </a:solidFill>
                <a:latin typeface="Microsoft YaHei"/>
              </a:rPr>
              <a:t>感谢聆听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200400"/>
            <a:ext cx="29260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0">
                <a:solidFill>
                  <a:srgbClr val="AAB8CC"/>
                </a:solidFill>
                <a:latin typeface="Microsoft YaHei"/>
              </a:rPr>
              <a:t>交流与讨论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6024</Words>
  <Application>Microsoft Office PowerPoint</Application>
  <PresentationFormat>宽屏</PresentationFormat>
  <Paragraphs>351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-apple-system</vt:lpstr>
      <vt:lpstr>等线</vt:lpstr>
      <vt:lpstr>微软雅黑</vt:lpstr>
      <vt:lpstr>微软雅黑 Light</vt:lpstr>
      <vt:lpstr>Arial</vt:lpstr>
      <vt:lpstr>Calibri</vt:lpstr>
      <vt:lpstr>Wingdings</vt:lpstr>
      <vt:lpstr>WPS</vt:lpstr>
      <vt:lpstr>Review of ICCV 2025 Papers on 3D Gaussian Splatting</vt:lpstr>
      <vt:lpstr>标题1&amp;作者&amp;动机</vt:lpstr>
      <vt:lpstr>Method</vt:lpstr>
      <vt:lpstr>Experimental Results</vt:lpstr>
      <vt:lpstr>Summary</vt:lpstr>
      <vt:lpstr>标题2&amp;作者&amp;动机</vt:lpstr>
      <vt:lpstr>Method</vt:lpstr>
      <vt:lpstr>Method</vt:lpstr>
      <vt:lpstr>Experimental Results</vt:lpstr>
      <vt:lpstr>Summary</vt:lpstr>
      <vt:lpstr>标题3&amp;作者&amp;动机</vt:lpstr>
      <vt:lpstr>Method</vt:lpstr>
      <vt:lpstr>Experimental Results</vt:lpstr>
      <vt:lpstr>Summary</vt:lpstr>
      <vt:lpstr>标题4&amp;作者&amp;动机</vt:lpstr>
      <vt:lpstr>Method</vt:lpstr>
      <vt:lpstr>Experimental Results</vt:lpstr>
      <vt:lpstr>Summary</vt:lpstr>
      <vt:lpstr>标题5&amp;作者&amp;动机</vt:lpstr>
      <vt:lpstr>Method</vt:lpstr>
      <vt:lpstr>Experimental Results</vt:lpstr>
      <vt:lpstr>Summary</vt:lpstr>
      <vt:lpstr>标题6&amp;作者&amp;动机</vt:lpstr>
      <vt:lpstr>Method</vt:lpstr>
      <vt:lpstr>Experimental Results</vt:lpstr>
      <vt:lpstr>Summary</vt:lpstr>
      <vt:lpstr>标题7&amp;作者&amp;动机</vt:lpstr>
      <vt:lpstr>Method</vt:lpstr>
      <vt:lpstr>Experimental Results</vt:lpstr>
      <vt:lpstr>Summary</vt:lpstr>
      <vt:lpstr>标题8&amp;作者&amp;动机</vt:lpstr>
      <vt:lpstr>Method</vt:lpstr>
      <vt:lpstr>Experimental Results</vt:lpstr>
      <vt:lpstr>Summary</vt:lpstr>
      <vt:lpstr>标题9&amp;作者&amp;动机</vt:lpstr>
      <vt:lpstr>Method</vt:lpstr>
      <vt:lpstr>Experimental Results</vt:lpstr>
      <vt:lpstr>Summary</vt:lpstr>
      <vt:lpstr>标题10&amp;作者&amp;动机</vt:lpstr>
      <vt:lpstr>Method</vt:lpstr>
      <vt:lpstr>Experimental Results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MCY</dc:creator>
  <cp:lastModifiedBy>辰洋 孟</cp:lastModifiedBy>
  <cp:revision>192</cp:revision>
  <dcterms:created xsi:type="dcterms:W3CDTF">2019-06-19T02:08:00Z</dcterms:created>
  <dcterms:modified xsi:type="dcterms:W3CDTF">2026-07-07T12:49:46Z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60DE83EF02A44C94BD9238CB09B28B06_11</vt:lpwstr>
  </property>
</Properties>
</file>